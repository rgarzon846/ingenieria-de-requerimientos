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Century Gothic"/>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Gothic-bold.fntdata"/><Relationship Id="rId10" Type="http://schemas.openxmlformats.org/officeDocument/2006/relationships/slide" Target="slides/slide5.xml"/><Relationship Id="rId32" Type="http://schemas.openxmlformats.org/officeDocument/2006/relationships/font" Target="fonts/CenturyGothic-regular.fntdata"/><Relationship Id="rId13" Type="http://schemas.openxmlformats.org/officeDocument/2006/relationships/slide" Target="slides/slide8.xml"/><Relationship Id="rId35" Type="http://schemas.openxmlformats.org/officeDocument/2006/relationships/font" Target="fonts/CenturyGothic-boldItalic.fntdata"/><Relationship Id="rId12" Type="http://schemas.openxmlformats.org/officeDocument/2006/relationships/slide" Target="slides/slide7.xml"/><Relationship Id="rId34" Type="http://schemas.openxmlformats.org/officeDocument/2006/relationships/font" Target="fonts/CenturyGothic-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t>Recomendaciones para armar el ppt. </a:t>
            </a:r>
            <a:endParaRPr sz="1500"/>
          </a:p>
          <a:p>
            <a:pPr indent="-323850" lvl="0" marL="457200" rtl="0" algn="l">
              <a:spcBef>
                <a:spcPts val="0"/>
              </a:spcBef>
              <a:spcAft>
                <a:spcPts val="0"/>
              </a:spcAft>
              <a:buSzPts val="1500"/>
              <a:buChar char="-"/>
            </a:pPr>
            <a:r>
              <a:rPr lang="es" sz="1500"/>
              <a:t>Fecha de revisión. En la hoja 1 colocar la fecha en que se realizó la última modificación del ppt.</a:t>
            </a:r>
            <a:endParaRPr sz="1500"/>
          </a:p>
          <a:p>
            <a:pPr indent="-323850" lvl="0" marL="457200" rtl="0" algn="l">
              <a:spcBef>
                <a:spcPts val="0"/>
              </a:spcBef>
              <a:spcAft>
                <a:spcPts val="0"/>
              </a:spcAft>
              <a:buSzPts val="1500"/>
              <a:buChar char="-"/>
            </a:pPr>
            <a:r>
              <a:rPr lang="es" sz="1500"/>
              <a:t>En la hoja 2. Listar los objetivos o las competencias que deseamos que desarrolle el estudiante. </a:t>
            </a:r>
            <a:endParaRPr sz="1500"/>
          </a:p>
          <a:p>
            <a:pPr indent="-323850" lvl="0" marL="457200" rtl="0" algn="l">
              <a:spcBef>
                <a:spcPts val="0"/>
              </a:spcBef>
              <a:spcAft>
                <a:spcPts val="0"/>
              </a:spcAft>
              <a:buSzPts val="1500"/>
              <a:buChar char="-"/>
            </a:pPr>
            <a:r>
              <a:rPr lang="es" sz="1500"/>
              <a:t>El tema a tratar debe ser autocontenido. Es por ello que se debe agregar lecturas recomendadas.</a:t>
            </a:r>
            <a:endParaRPr sz="1500"/>
          </a:p>
          <a:p>
            <a:pPr indent="-323850" lvl="0" marL="457200" rtl="0" algn="l">
              <a:spcBef>
                <a:spcPts val="0"/>
              </a:spcBef>
              <a:spcAft>
                <a:spcPts val="0"/>
              </a:spcAft>
              <a:buSzPts val="1500"/>
              <a:buChar char="-"/>
            </a:pPr>
            <a:r>
              <a:rPr lang="es" sz="1500"/>
              <a:t>Colocar entre 3 a 5 ejemplos.</a:t>
            </a:r>
            <a:endParaRPr sz="1500"/>
          </a:p>
          <a:p>
            <a:pPr indent="-323850" lvl="0" marL="457200" rtl="0" algn="l">
              <a:spcBef>
                <a:spcPts val="0"/>
              </a:spcBef>
              <a:spcAft>
                <a:spcPts val="0"/>
              </a:spcAft>
              <a:buSzPts val="1500"/>
              <a:buChar char="-"/>
            </a:pPr>
            <a:r>
              <a:rPr lang="es" sz="1500"/>
              <a:t>Colocar entre 1 a 3 actividades similares a los ejemplos para reforzar lo </a:t>
            </a:r>
            <a:r>
              <a:rPr lang="es" sz="1500"/>
              <a:t>recién</a:t>
            </a:r>
            <a:r>
              <a:rPr lang="es" sz="1500"/>
              <a:t> visto.</a:t>
            </a:r>
            <a:endParaRPr sz="1500"/>
          </a:p>
          <a:p>
            <a:pPr indent="-323850" lvl="0" marL="457200" rtl="0" algn="l">
              <a:spcBef>
                <a:spcPts val="0"/>
              </a:spcBef>
              <a:spcAft>
                <a:spcPts val="0"/>
              </a:spcAft>
              <a:buSzPts val="1500"/>
              <a:buChar char="-"/>
            </a:pPr>
            <a:r>
              <a:rPr lang="es" sz="1500"/>
              <a:t>Cuando se cierre el tema o un subtema, hacer una placa con los puntos </a:t>
            </a:r>
            <a:r>
              <a:rPr lang="es" sz="1500"/>
              <a:t>más</a:t>
            </a:r>
            <a:r>
              <a:rPr lang="es" sz="1500"/>
              <a:t> importantes de ese tema o subtema visto. (lista de contenidos)</a:t>
            </a:r>
            <a:endParaRPr sz="1500"/>
          </a:p>
          <a:p>
            <a:pPr indent="-323850" lvl="0" marL="457200" rtl="0" algn="l">
              <a:spcBef>
                <a:spcPts val="0"/>
              </a:spcBef>
              <a:spcAft>
                <a:spcPts val="0"/>
              </a:spcAft>
              <a:buSzPts val="1500"/>
              <a:buChar char="-"/>
            </a:pPr>
            <a:r>
              <a:rPr lang="es" sz="1500"/>
              <a:t>Bibliografía. La que se utilizó para hacer el ppt y la que se recomienda leer.</a:t>
            </a:r>
            <a:endParaRPr sz="1500"/>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ceeea625d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ceeea625d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1db24f7b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1db24f7b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1db24f7b3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1db24f7b3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1db24f7b3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1db24f7b3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1db24f7b3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1db24f7b3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1db24f7b3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1db24f7b3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db24f7b3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db24f7b3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1db24f7b3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1db24f7b3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1db24f7b3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1db24f7b3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db24f7b3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db24f7b3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db24f7b3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db24f7b3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db24f7b3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1db24f7b3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db24f7b3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db24f7b3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db24f7b3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db24f7b3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db24f7b3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db24f7b3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db24f7b3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1db24f7b3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1db24f7b3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1db24f7b3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db24f7b3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db24f7b3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db24f7b3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db24f7b3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db24f7b3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db24f7b3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db24f7b3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db24f7b3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db24f7b3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db24f7b3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db24f7b3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db24f7b3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db24f7b3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db24f7b3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17a7ef55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17a7ef55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8" name="Google Shape;2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 name="Google Shape;3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 name="Google Shape;4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F6FC6"/>
              </a:buClr>
              <a:buSzPts val="2800"/>
              <a:buFont typeface="Century Gothic"/>
              <a:buNone/>
              <a:defRPr sz="2800">
                <a:solidFill>
                  <a:srgbClr val="0F6FC6"/>
                </a:solidFill>
                <a:latin typeface="Century Gothic"/>
                <a:ea typeface="Century Gothic"/>
                <a:cs typeface="Century Gothic"/>
                <a:sym typeface="Century Gothic"/>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entury Gothic"/>
              <a:buChar char="●"/>
              <a:defRPr sz="1800">
                <a:solidFill>
                  <a:schemeClr val="dk2"/>
                </a:solidFill>
                <a:latin typeface="Century Gothic"/>
                <a:ea typeface="Century Gothic"/>
                <a:cs typeface="Century Gothic"/>
                <a:sym typeface="Century Gothic"/>
              </a:defRPr>
            </a:lvl1pPr>
            <a:lvl2pPr indent="-317500" lvl="1" marL="914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2pPr>
            <a:lvl3pPr indent="-317500" lvl="2" marL="1371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3pPr>
            <a:lvl4pPr indent="-317500" lvl="3" marL="1828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4pPr>
            <a:lvl5pPr indent="-317500" lvl="4" marL="22860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5pPr>
            <a:lvl6pPr indent="-317500" lvl="5" marL="27432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6pPr>
            <a:lvl7pPr indent="-317500" lvl="6" marL="3200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7pPr>
            <a:lvl8pPr indent="-317500" lvl="7" marL="3657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8pPr>
            <a:lvl9pPr indent="-317500" lvl="8" marL="4114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9pPr>
          </a:lstStyle>
          <a:p/>
        </p:txBody>
      </p:sp>
      <p:pic>
        <p:nvPicPr>
          <p:cNvPr id="8" name="Google Shape;8;p1"/>
          <p:cNvPicPr preferRelativeResize="0"/>
          <p:nvPr/>
        </p:nvPicPr>
        <p:blipFill>
          <a:blip r:embed="rId1">
            <a:alphaModFix/>
          </a:blip>
          <a:stretch>
            <a:fillRect/>
          </a:stretch>
        </p:blipFill>
        <p:spPr>
          <a:xfrm>
            <a:off x="8263925" y="81275"/>
            <a:ext cx="815074" cy="420200"/>
          </a:xfrm>
          <a:prstGeom prst="rect">
            <a:avLst/>
          </a:prstGeom>
          <a:noFill/>
          <a:ln>
            <a:noFill/>
          </a:ln>
        </p:spPr>
      </p:pic>
      <p:sp>
        <p:nvSpPr>
          <p:cNvPr id="9" name="Google Shape;9;p1"/>
          <p:cNvSpPr txBox="1"/>
          <p:nvPr/>
        </p:nvSpPr>
        <p:spPr>
          <a:xfrm>
            <a:off x="7021700" y="4911900"/>
            <a:ext cx="2171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solidFill>
                  <a:srgbClr val="666666"/>
                </a:solidFill>
                <a:latin typeface="Century Gothic"/>
                <a:ea typeface="Century Gothic"/>
                <a:cs typeface="Century Gothic"/>
                <a:sym typeface="Century Gothic"/>
              </a:rPr>
              <a:t>Ing. María Alejandra Boggio - Ing. Sofía Pérez </a:t>
            </a:r>
            <a:endParaRPr sz="700">
              <a:solidFill>
                <a:srgbClr val="666666"/>
              </a:solidFill>
              <a:latin typeface="Century Gothic"/>
              <a:ea typeface="Century Gothic"/>
              <a:cs typeface="Century Gothic"/>
              <a:sym typeface="Century Gothic"/>
            </a:endParaRPr>
          </a:p>
        </p:txBody>
      </p:sp>
      <p:sp>
        <p:nvSpPr>
          <p:cNvPr id="10" name="Google Shape;10;p1"/>
          <p:cNvSpPr txBox="1"/>
          <p:nvPr/>
        </p:nvSpPr>
        <p:spPr>
          <a:xfrm>
            <a:off x="270850" y="76200"/>
            <a:ext cx="78264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800">
                <a:solidFill>
                  <a:schemeClr val="dk2"/>
                </a:solidFill>
                <a:latin typeface="Century Gothic"/>
                <a:ea typeface="Century Gothic"/>
                <a:cs typeface="Century Gothic"/>
                <a:sym typeface="Century Gothic"/>
              </a:rPr>
              <a:t>Carrera:</a:t>
            </a:r>
            <a:r>
              <a:rPr b="1" lang="es" sz="800">
                <a:solidFill>
                  <a:schemeClr val="dk2"/>
                </a:solidFill>
                <a:latin typeface="Century Gothic"/>
                <a:ea typeface="Century Gothic"/>
                <a:cs typeface="Century Gothic"/>
                <a:sym typeface="Century Gothic"/>
              </a:rPr>
              <a:t> Ingeniería en Informática			</a:t>
            </a:r>
            <a:r>
              <a:rPr lang="es" sz="800">
                <a:solidFill>
                  <a:schemeClr val="dk2"/>
                </a:solidFill>
                <a:latin typeface="Century Gothic"/>
                <a:ea typeface="Century Gothic"/>
                <a:cs typeface="Century Gothic"/>
                <a:sym typeface="Century Gothic"/>
              </a:rPr>
              <a:t>Cátedra:</a:t>
            </a:r>
            <a:r>
              <a:rPr b="1" lang="es" sz="800">
                <a:solidFill>
                  <a:schemeClr val="dk2"/>
                </a:solidFill>
                <a:latin typeface="Century Gothic"/>
                <a:ea typeface="Century Gothic"/>
                <a:cs typeface="Century Gothic"/>
                <a:sym typeface="Century Gothic"/>
              </a:rPr>
              <a:t> Ingeniería de Software I</a:t>
            </a:r>
            <a:endParaRPr b="1" sz="800">
              <a:solidFill>
                <a:schemeClr val="dk2"/>
              </a:solidFill>
              <a:latin typeface="Century Gothic"/>
              <a:ea typeface="Century Gothic"/>
              <a:cs typeface="Century Gothic"/>
              <a:sym typeface="Century Gothic"/>
            </a:endParaRPr>
          </a:p>
        </p:txBody>
      </p:sp>
      <p:cxnSp>
        <p:nvCxnSpPr>
          <p:cNvPr id="11" name="Google Shape;11;p1"/>
          <p:cNvCxnSpPr/>
          <p:nvPr/>
        </p:nvCxnSpPr>
        <p:spPr>
          <a:xfrm flipH="1" rot="10800000">
            <a:off x="270850" y="369950"/>
            <a:ext cx="7826400" cy="2700"/>
          </a:xfrm>
          <a:prstGeom prst="straightConnector1">
            <a:avLst/>
          </a:prstGeom>
          <a:noFill/>
          <a:ln cap="flat" cmpd="sng" w="9525">
            <a:solidFill>
              <a:schemeClr val="dk2"/>
            </a:solidFill>
            <a:prstDash val="dot"/>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Técnicas de Relevamiento</a:t>
            </a:r>
            <a:endParaRPr/>
          </a:p>
        </p:txBody>
      </p:sp>
      <p:sp>
        <p:nvSpPr>
          <p:cNvPr id="47" name="Google Shape;47;p13"/>
          <p:cNvSpPr txBox="1"/>
          <p:nvPr/>
        </p:nvSpPr>
        <p:spPr>
          <a:xfrm>
            <a:off x="0" y="4804800"/>
            <a:ext cx="2272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Fecha de revisión: </a:t>
            </a:r>
            <a:endParaRPr sz="8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Aprender a escuchar...</a:t>
            </a:r>
            <a:endParaRPr/>
          </a:p>
        </p:txBody>
      </p:sp>
      <p:sp>
        <p:nvSpPr>
          <p:cNvPr id="53" name="Google Shape;53;p1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“Buena parte del éxito que usted obtenga como analista de sistemas depende de su capacidad para escuchar, para poner atención en lo que le dicen los usuarios, aun si ellos no expresan sus ideas con muchas palabras. Si no se obtienen requerimientos entonces es imposible satisfacerlos durante el diseño. Escuchar es una habilidad que debe desarrollarse ”</a:t>
            </a:r>
            <a:endParaRPr/>
          </a:p>
          <a:p>
            <a:pPr indent="0" lvl="0" marL="0" rtl="0" algn="just">
              <a:spcBef>
                <a:spcPts val="1200"/>
              </a:spcBef>
              <a:spcAft>
                <a:spcPts val="1200"/>
              </a:spcAft>
              <a:buNone/>
            </a:pPr>
            <a:r>
              <a:rPr b="1" lang="es"/>
              <a:t>James A. Senn</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Técnicas</a:t>
            </a:r>
            <a:endParaRPr/>
          </a:p>
        </p:txBody>
      </p:sp>
      <p:sp>
        <p:nvSpPr>
          <p:cNvPr id="59" name="Google Shape;59;p1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Entrevistas</a:t>
            </a:r>
            <a:endParaRPr/>
          </a:p>
          <a:p>
            <a:pPr indent="-342900" lvl="0" marL="457200" rtl="0" algn="l">
              <a:spcBef>
                <a:spcPts val="0"/>
              </a:spcBef>
              <a:spcAft>
                <a:spcPts val="0"/>
              </a:spcAft>
              <a:buSzPts val="1800"/>
              <a:buChar char="●"/>
            </a:pPr>
            <a:r>
              <a:rPr lang="es"/>
              <a:t>Cuestionarios</a:t>
            </a:r>
            <a:endParaRPr/>
          </a:p>
          <a:p>
            <a:pPr indent="-342900" lvl="0" marL="457200" rtl="0" algn="l">
              <a:spcBef>
                <a:spcPts val="0"/>
              </a:spcBef>
              <a:spcAft>
                <a:spcPts val="0"/>
              </a:spcAft>
              <a:buSzPts val="1800"/>
              <a:buChar char="●"/>
            </a:pPr>
            <a:r>
              <a:rPr lang="es"/>
              <a:t>Revisión de los registros</a:t>
            </a:r>
            <a:endParaRPr/>
          </a:p>
          <a:p>
            <a:pPr indent="-342900" lvl="0" marL="457200" rtl="0" algn="l">
              <a:spcBef>
                <a:spcPts val="0"/>
              </a:spcBef>
              <a:spcAft>
                <a:spcPts val="0"/>
              </a:spcAft>
              <a:buSzPts val="1800"/>
              <a:buChar char="●"/>
            </a:pPr>
            <a:r>
              <a:rPr lang="es"/>
              <a:t>Observación</a:t>
            </a:r>
            <a:endParaRPr/>
          </a:p>
          <a:p>
            <a:pPr indent="-342900" lvl="0" marL="457200" rtl="0" algn="l">
              <a:spcBef>
                <a:spcPts val="0"/>
              </a:spcBef>
              <a:spcAft>
                <a:spcPts val="0"/>
              </a:spcAft>
              <a:buSzPts val="1800"/>
              <a:buChar char="●"/>
            </a:pPr>
            <a:r>
              <a:rPr lang="es"/>
              <a:t>Prototipos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Entrevistas</a:t>
            </a:r>
            <a:endParaRPr/>
          </a:p>
        </p:txBody>
      </p:sp>
      <p:sp>
        <p:nvSpPr>
          <p:cNvPr id="65" name="Google Shape;65;p16"/>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just">
              <a:spcBef>
                <a:spcPts val="0"/>
              </a:spcBef>
              <a:spcAft>
                <a:spcPts val="0"/>
              </a:spcAft>
              <a:buSzPct val="100000"/>
              <a:buChar char="●"/>
            </a:pPr>
            <a:r>
              <a:rPr lang="es"/>
              <a:t>Es un instrumento muy utilizado para relevar información cualitativa (opiniones, descripción de problemas, visión personal de una situación) de las personas. </a:t>
            </a:r>
            <a:endParaRPr/>
          </a:p>
          <a:p>
            <a:pPr indent="-334327" lvl="0" marL="457200" rtl="0" algn="just">
              <a:spcBef>
                <a:spcPts val="0"/>
              </a:spcBef>
              <a:spcAft>
                <a:spcPts val="0"/>
              </a:spcAft>
              <a:buSzPct val="100000"/>
              <a:buChar char="●"/>
            </a:pPr>
            <a:r>
              <a:rPr lang="es"/>
              <a:t>Esta información se obtiene a través del diálogo, recordar que no es un interrogatorio.</a:t>
            </a:r>
            <a:endParaRPr/>
          </a:p>
          <a:p>
            <a:pPr indent="-334327" lvl="0" marL="457200" rtl="0" algn="just">
              <a:spcBef>
                <a:spcPts val="0"/>
              </a:spcBef>
              <a:spcAft>
                <a:spcPts val="0"/>
              </a:spcAft>
              <a:buSzPct val="100000"/>
              <a:buChar char="●"/>
            </a:pPr>
            <a:r>
              <a:rPr lang="es"/>
              <a:t>Una entrevista tiene un objetivo, y es por ello que usa las preguntas para guiar la conversación. </a:t>
            </a:r>
            <a:endParaRPr/>
          </a:p>
          <a:p>
            <a:pPr indent="0" lvl="0" marL="0" rtl="0" algn="just">
              <a:spcBef>
                <a:spcPts val="1200"/>
              </a:spcBef>
              <a:spcAft>
                <a:spcPts val="0"/>
              </a:spcAft>
              <a:buNone/>
            </a:pPr>
            <a:r>
              <a:rPr b="1" lang="es"/>
              <a:t>Ventajas</a:t>
            </a:r>
            <a:endParaRPr b="1"/>
          </a:p>
          <a:p>
            <a:pPr indent="-334327" lvl="0" marL="457200" rtl="0" algn="just">
              <a:spcBef>
                <a:spcPts val="1200"/>
              </a:spcBef>
              <a:spcAft>
                <a:spcPts val="0"/>
              </a:spcAft>
              <a:buSzPct val="100000"/>
              <a:buChar char="●"/>
            </a:pPr>
            <a:r>
              <a:rPr lang="es"/>
              <a:t>Utilizar este instrumento con personas que no disponen de tiempo para responder un cuestionario largo, o que tienen dificultades para expresarse en forma escrita.</a:t>
            </a:r>
            <a:endParaRPr/>
          </a:p>
          <a:p>
            <a:pPr indent="-334327" lvl="0" marL="457200" rtl="0" algn="just">
              <a:spcBef>
                <a:spcPts val="0"/>
              </a:spcBef>
              <a:spcAft>
                <a:spcPts val="0"/>
              </a:spcAft>
              <a:buSzPct val="100000"/>
              <a:buChar char="●"/>
            </a:pPr>
            <a:r>
              <a:rPr lang="es"/>
              <a:t>Es muy útil para relevar muchos detalles acerca de un tema.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Entrevistas</a:t>
            </a:r>
            <a:endParaRPr/>
          </a:p>
        </p:txBody>
      </p:sp>
      <p:sp>
        <p:nvSpPr>
          <p:cNvPr id="71" name="Google Shape;71;p1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
              <a:t>Actividades a realizar:</a:t>
            </a:r>
            <a:endParaRPr b="1"/>
          </a:p>
          <a:p>
            <a:pPr indent="-334327" lvl="0" marL="457200" rtl="0" algn="just">
              <a:spcBef>
                <a:spcPts val="1200"/>
              </a:spcBef>
              <a:spcAft>
                <a:spcPts val="0"/>
              </a:spcAft>
              <a:buSzPct val="100000"/>
              <a:buChar char="●"/>
            </a:pPr>
            <a:r>
              <a:rPr lang="es"/>
              <a:t>Investigar quien es y que lugar ocupa esa persona, estudiar vocabulario propio del dominio.</a:t>
            </a:r>
            <a:endParaRPr/>
          </a:p>
          <a:p>
            <a:pPr indent="-334327" lvl="0" marL="457200" rtl="0" algn="just">
              <a:spcBef>
                <a:spcPts val="0"/>
              </a:spcBef>
              <a:spcAft>
                <a:spcPts val="0"/>
              </a:spcAft>
              <a:buSzPct val="100000"/>
              <a:buChar char="●"/>
            </a:pPr>
            <a:r>
              <a:rPr lang="es"/>
              <a:t>Definir el objetivo de la entrevista. Se recomienda una entrevista de una hora.</a:t>
            </a:r>
            <a:endParaRPr/>
          </a:p>
          <a:p>
            <a:pPr indent="-334327" lvl="0" marL="457200" rtl="0" algn="just">
              <a:spcBef>
                <a:spcPts val="0"/>
              </a:spcBef>
              <a:spcAft>
                <a:spcPts val="0"/>
              </a:spcAft>
              <a:buSzPct val="100000"/>
              <a:buChar char="●"/>
            </a:pPr>
            <a:r>
              <a:rPr lang="es"/>
              <a:t>De acuerdo al objetivo, definir las preguntas que se incluirán y como van a estar ordenadas. Evitar las preguntas dobles, preguntas que induzcan la respuesta.</a:t>
            </a:r>
            <a:endParaRPr/>
          </a:p>
          <a:p>
            <a:pPr indent="-334327" lvl="0" marL="457200" rtl="0" algn="just">
              <a:spcBef>
                <a:spcPts val="0"/>
              </a:spcBef>
              <a:spcAft>
                <a:spcPts val="0"/>
              </a:spcAft>
              <a:buSzPct val="100000"/>
              <a:buChar char="●"/>
            </a:pPr>
            <a:r>
              <a:rPr lang="es"/>
              <a:t>Coordinar día y hora con el entrevistado, y acomodarse a su disponibilidad.</a:t>
            </a:r>
            <a:endParaRPr/>
          </a:p>
          <a:p>
            <a:pPr indent="-334327" lvl="0" marL="457200" rtl="0" algn="just">
              <a:spcBef>
                <a:spcPts val="0"/>
              </a:spcBef>
              <a:spcAft>
                <a:spcPts val="0"/>
              </a:spcAft>
              <a:buSzPct val="100000"/>
              <a:buChar char="●"/>
            </a:pPr>
            <a:r>
              <a:rPr lang="es"/>
              <a:t>Buscar un lugar tranquilo, iluminado, cómodo. </a:t>
            </a:r>
            <a:endParaRPr/>
          </a:p>
          <a:p>
            <a:pPr indent="-334327" lvl="0" marL="457200" rtl="0" algn="just">
              <a:spcBef>
                <a:spcPts val="0"/>
              </a:spcBef>
              <a:spcAft>
                <a:spcPts val="0"/>
              </a:spcAft>
              <a:buSzPct val="100000"/>
              <a:buChar char="●"/>
            </a:pPr>
            <a:r>
              <a:rPr lang="es"/>
              <a:t>Respetuoso, escuchar y evitar el uso del vocabulario de nuestra área de conocimiento.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Entrevistas</a:t>
            </a:r>
            <a:endParaRPr/>
          </a:p>
        </p:txBody>
      </p:sp>
      <p:sp>
        <p:nvSpPr>
          <p:cNvPr id="77" name="Google Shape;77;p1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a:t>Tipos de preguntas</a:t>
            </a:r>
            <a:endParaRPr b="1"/>
          </a:p>
          <a:p>
            <a:pPr indent="-342900" lvl="0" marL="457200" rtl="0" algn="just">
              <a:spcBef>
                <a:spcPts val="1200"/>
              </a:spcBef>
              <a:spcAft>
                <a:spcPts val="0"/>
              </a:spcAft>
              <a:buSzPts val="1800"/>
              <a:buChar char="●"/>
            </a:pPr>
            <a:r>
              <a:rPr b="1" lang="es">
                <a:solidFill>
                  <a:schemeClr val="accent5"/>
                </a:solidFill>
              </a:rPr>
              <a:t>Preguntas abiertas:</a:t>
            </a:r>
            <a:r>
              <a:rPr lang="es"/>
              <a:t> permiten al entrevistado ser mas espontaneo, utilizar su vocabulario propio para expresarse y dar más detalles en su respuesta, hace que se sienta más cómodo. Pero es importante no perder de vista el objetivo de la entrevista para no desviar la conversación. </a:t>
            </a:r>
            <a:endParaRPr/>
          </a:p>
          <a:p>
            <a:pPr indent="-342900" lvl="0" marL="457200" rtl="0" algn="just">
              <a:spcBef>
                <a:spcPts val="0"/>
              </a:spcBef>
              <a:spcAft>
                <a:spcPts val="0"/>
              </a:spcAft>
              <a:buSzPts val="1800"/>
              <a:buChar char="●"/>
            </a:pPr>
            <a:r>
              <a:rPr b="1" lang="es">
                <a:solidFill>
                  <a:schemeClr val="accent5"/>
                </a:solidFill>
              </a:rPr>
              <a:t>Preguntas cerradas:</a:t>
            </a:r>
            <a:r>
              <a:rPr lang="es"/>
              <a:t> permiten al entrevistado responder seleccionando entre valores posibles. Estas preguntas hacen que se ahorre tiempo, tanto en hacerlas como en  analizar sus respuestas. Por otro lado es fácil de que no se desvié del objetivo, pero se obtienen pocos detalles acerca del tema.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Entrevistas</a:t>
            </a:r>
            <a:endParaRPr/>
          </a:p>
        </p:txBody>
      </p:sp>
      <p:sp>
        <p:nvSpPr>
          <p:cNvPr id="83" name="Google Shape;83;p19"/>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Estructura de las preguntas (cómo ordenarlas)</a:t>
            </a:r>
            <a:endParaRPr b="1"/>
          </a:p>
          <a:p>
            <a:pPr indent="-342900" lvl="0" marL="457200" rtl="0" algn="just">
              <a:spcBef>
                <a:spcPts val="1200"/>
              </a:spcBef>
              <a:spcAft>
                <a:spcPts val="0"/>
              </a:spcAft>
              <a:buSzPts val="1800"/>
              <a:buChar char="●"/>
            </a:pPr>
            <a:r>
              <a:rPr b="1" lang="es">
                <a:solidFill>
                  <a:schemeClr val="accent5"/>
                </a:solidFill>
              </a:rPr>
              <a:t>Forma de pirámide: </a:t>
            </a:r>
            <a:r>
              <a:rPr lang="es"/>
              <a:t>se colocan primero las preguntas cerradas y luego las preguntas abiertas. Es una organización inductiva.</a:t>
            </a:r>
            <a:endParaRPr/>
          </a:p>
          <a:p>
            <a:pPr indent="-342900" lvl="0" marL="457200" rtl="0" algn="just">
              <a:spcBef>
                <a:spcPts val="0"/>
              </a:spcBef>
              <a:spcAft>
                <a:spcPts val="0"/>
              </a:spcAft>
              <a:buSzPts val="1800"/>
              <a:buChar char="●"/>
            </a:pPr>
            <a:r>
              <a:rPr b="1" lang="es">
                <a:solidFill>
                  <a:schemeClr val="accent5"/>
                </a:solidFill>
              </a:rPr>
              <a:t>Forma de embudo:</a:t>
            </a:r>
            <a:r>
              <a:rPr lang="es"/>
              <a:t> se colocan primero las preguntas abiertas y luego las preguntas cerradas. Es una organización deductiva.</a:t>
            </a:r>
            <a:endParaRPr/>
          </a:p>
          <a:p>
            <a:pPr indent="-342900" lvl="0" marL="457200" rtl="0" algn="just">
              <a:spcBef>
                <a:spcPts val="0"/>
              </a:spcBef>
              <a:spcAft>
                <a:spcPts val="0"/>
              </a:spcAft>
              <a:buSzPts val="1800"/>
              <a:buChar char="●"/>
            </a:pPr>
            <a:r>
              <a:rPr b="1" lang="es">
                <a:solidFill>
                  <a:schemeClr val="accent5"/>
                </a:solidFill>
              </a:rPr>
              <a:t>Forma de rombo:</a:t>
            </a:r>
            <a:r>
              <a:rPr lang="es"/>
              <a:t> es la más utilizada, pero lleva más tiempo, la misma combina las dos anteriores. Comienza con las preguntas cerradas y específicas, luego las generales y abiertas y finaliza con preguntas cerradas.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Cuestionarios</a:t>
            </a:r>
            <a:endParaRPr/>
          </a:p>
        </p:txBody>
      </p:sp>
      <p:sp>
        <p:nvSpPr>
          <p:cNvPr id="89" name="Google Shape;89;p2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a:t>Es un instrumento que permite relevar información cualitativa de un gran número de personas de manera escrita. Se utilizan preguntas abiertas y cerradas, pero en su mayoría son preguntas cerradas, ya que es más fácil realizarla a muchas personas y de analizar sus datos. </a:t>
            </a:r>
            <a:endParaRPr/>
          </a:p>
          <a:p>
            <a:pPr indent="0" lvl="0" marL="0" rtl="0" algn="just">
              <a:spcBef>
                <a:spcPts val="1200"/>
              </a:spcBef>
              <a:spcAft>
                <a:spcPts val="0"/>
              </a:spcAft>
              <a:buNone/>
            </a:pPr>
            <a:r>
              <a:rPr b="1" lang="es"/>
              <a:t>Ventajas</a:t>
            </a:r>
            <a:endParaRPr b="1"/>
          </a:p>
          <a:p>
            <a:pPr indent="-342900" lvl="0" marL="457200" rtl="0" algn="just">
              <a:spcBef>
                <a:spcPts val="1200"/>
              </a:spcBef>
              <a:spcAft>
                <a:spcPts val="0"/>
              </a:spcAft>
              <a:buSzPts val="1800"/>
              <a:buChar char="●"/>
            </a:pPr>
            <a:r>
              <a:rPr lang="es"/>
              <a:t>Pueden ser anónimas, esto permiten que las personas se sientan libres de responder.</a:t>
            </a:r>
            <a:endParaRPr/>
          </a:p>
          <a:p>
            <a:pPr indent="-342900" lvl="0" marL="457200" rtl="0" algn="just">
              <a:spcBef>
                <a:spcPts val="0"/>
              </a:spcBef>
              <a:spcAft>
                <a:spcPts val="0"/>
              </a:spcAft>
              <a:buSzPts val="1800"/>
              <a:buChar char="●"/>
            </a:pPr>
            <a:r>
              <a:rPr lang="es"/>
              <a:t>Permite obtener información de un gran número de personas en poco tiempo.</a:t>
            </a:r>
            <a:endParaRPr/>
          </a:p>
          <a:p>
            <a:pPr indent="-342900" lvl="0" marL="457200" rtl="0" algn="just">
              <a:spcBef>
                <a:spcPts val="0"/>
              </a:spcBef>
              <a:spcAft>
                <a:spcPts val="0"/>
              </a:spcAft>
              <a:buSzPts val="1800"/>
              <a:buChar char="●"/>
            </a:pPr>
            <a:r>
              <a:rPr lang="es"/>
              <a:t>Permite obtener información de personas que están muy dispersas físicamente. Hoy pueden ser enviadas por mail o red social.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Cuestionarios</a:t>
            </a:r>
            <a:endParaRPr/>
          </a:p>
        </p:txBody>
      </p:sp>
      <p:sp>
        <p:nvSpPr>
          <p:cNvPr id="95" name="Google Shape;95;p2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Actividades a realizar:</a:t>
            </a:r>
            <a:endParaRPr b="1"/>
          </a:p>
          <a:p>
            <a:pPr indent="-342900" lvl="0" marL="457200" rtl="0" algn="just">
              <a:spcBef>
                <a:spcPts val="1200"/>
              </a:spcBef>
              <a:spcAft>
                <a:spcPts val="0"/>
              </a:spcAft>
              <a:buSzPts val="1800"/>
              <a:buChar char="●"/>
            </a:pPr>
            <a:r>
              <a:rPr lang="es"/>
              <a:t>Investigar y caracterizar la muestra, es decir quienes </a:t>
            </a:r>
            <a:r>
              <a:rPr lang="es"/>
              <a:t>realizarán</a:t>
            </a:r>
            <a:r>
              <a:rPr lang="es"/>
              <a:t> la encuesta, estudiar vocabulario propio del dominio.</a:t>
            </a:r>
            <a:endParaRPr/>
          </a:p>
          <a:p>
            <a:pPr indent="-342900" lvl="0" marL="457200" rtl="0" algn="just">
              <a:spcBef>
                <a:spcPts val="0"/>
              </a:spcBef>
              <a:spcAft>
                <a:spcPts val="0"/>
              </a:spcAft>
              <a:buSzPts val="1800"/>
              <a:buChar char="●"/>
            </a:pPr>
            <a:r>
              <a:rPr lang="es"/>
              <a:t>Definir el objetivo del cuestionario. </a:t>
            </a:r>
            <a:endParaRPr/>
          </a:p>
          <a:p>
            <a:pPr indent="-342900" lvl="0" marL="457200" rtl="0" algn="just">
              <a:spcBef>
                <a:spcPts val="0"/>
              </a:spcBef>
              <a:spcAft>
                <a:spcPts val="0"/>
              </a:spcAft>
              <a:buSzPts val="1800"/>
              <a:buChar char="●"/>
            </a:pPr>
            <a:r>
              <a:rPr lang="es"/>
              <a:t>De acuerdo al objetivo, definir las preguntas que se incluirán y </a:t>
            </a:r>
            <a:r>
              <a:rPr lang="es"/>
              <a:t>cómo</a:t>
            </a:r>
            <a:r>
              <a:rPr lang="es"/>
              <a:t> van a estar ordenadas. Evitar las preguntas dobles, preguntas que induzcan la respuesta.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Cuestionarios</a:t>
            </a:r>
            <a:endParaRPr/>
          </a:p>
        </p:txBody>
      </p:sp>
      <p:sp>
        <p:nvSpPr>
          <p:cNvPr id="101" name="Google Shape;101;p22"/>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t>Actividades a realizar:</a:t>
            </a:r>
            <a:endParaRPr/>
          </a:p>
          <a:p>
            <a:pPr indent="-342900" lvl="0" marL="457200" rtl="0" algn="just">
              <a:spcBef>
                <a:spcPts val="1200"/>
              </a:spcBef>
              <a:spcAft>
                <a:spcPts val="0"/>
              </a:spcAft>
              <a:buSzPts val="1800"/>
              <a:buChar char="●"/>
            </a:pPr>
            <a:r>
              <a:rPr lang="es"/>
              <a:t>La mayoría de las preguntas son cerradas, la cual es importante construir una escala apropiada que puede ser escalas ordinales, de intervalo o de relación. Es importante considerar un </a:t>
            </a:r>
            <a:r>
              <a:rPr lang="es"/>
              <a:t>número</a:t>
            </a:r>
            <a:r>
              <a:rPr lang="es"/>
              <a:t> adecuado de valores posibles, ya que se puede caer en el error de que el encuestado sea demasiado “blando” y califique todo como bueno, o que tienda a las calificaciones medias. </a:t>
            </a:r>
            <a:endParaRPr/>
          </a:p>
          <a:p>
            <a:pPr indent="-342900" lvl="0" marL="457200" rtl="0" algn="just">
              <a:spcBef>
                <a:spcPts val="0"/>
              </a:spcBef>
              <a:spcAft>
                <a:spcPts val="0"/>
              </a:spcAft>
              <a:buSzPts val="1800"/>
              <a:buChar char="●"/>
            </a:pPr>
            <a:r>
              <a:rPr lang="es"/>
              <a:t>También se da la posibilidad de una pregunta abierta, para dar un espacio donde el encuestado puede explayarse, aclarar algo o agregar algo que considere importante.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Cuestionarios</a:t>
            </a:r>
            <a:endParaRPr/>
          </a:p>
        </p:txBody>
      </p:sp>
      <p:sp>
        <p:nvSpPr>
          <p:cNvPr id="107" name="Google Shape;107;p23"/>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Formato y estructura</a:t>
            </a:r>
            <a:endParaRPr b="1"/>
          </a:p>
          <a:p>
            <a:pPr indent="-342900" lvl="0" marL="457200" rtl="0" algn="just">
              <a:spcBef>
                <a:spcPts val="1200"/>
              </a:spcBef>
              <a:spcAft>
                <a:spcPts val="0"/>
              </a:spcAft>
              <a:buSzPts val="1800"/>
              <a:buChar char="●"/>
            </a:pPr>
            <a:r>
              <a:rPr lang="es"/>
              <a:t>Especificar cómo deben marcarse las respuestas. Por ejemplo, “marcar con una x las que corresponden”</a:t>
            </a:r>
            <a:endParaRPr/>
          </a:p>
          <a:p>
            <a:pPr indent="-342900" lvl="0" marL="457200" rtl="0" algn="just">
              <a:spcBef>
                <a:spcPts val="0"/>
              </a:spcBef>
              <a:spcAft>
                <a:spcPts val="0"/>
              </a:spcAft>
              <a:buSzPts val="1800"/>
              <a:buChar char="●"/>
            </a:pPr>
            <a:r>
              <a:rPr lang="es"/>
              <a:t>Redactar de forma clara las preguntas.</a:t>
            </a:r>
            <a:endParaRPr/>
          </a:p>
          <a:p>
            <a:pPr indent="-342900" lvl="0" marL="457200" rtl="0" algn="just">
              <a:spcBef>
                <a:spcPts val="0"/>
              </a:spcBef>
              <a:spcAft>
                <a:spcPts val="0"/>
              </a:spcAft>
              <a:buSzPts val="1800"/>
              <a:buChar char="●"/>
            </a:pPr>
            <a:r>
              <a:rPr lang="es"/>
              <a:t>En las preguntas abiertas, dar espacio suficiente para contestar.</a:t>
            </a:r>
            <a:endParaRPr/>
          </a:p>
          <a:p>
            <a:pPr indent="-342900" lvl="0" marL="457200" rtl="0" algn="just">
              <a:spcBef>
                <a:spcPts val="0"/>
              </a:spcBef>
              <a:spcAft>
                <a:spcPts val="0"/>
              </a:spcAft>
              <a:buSzPts val="1800"/>
              <a:buChar char="●"/>
            </a:pPr>
            <a:r>
              <a:rPr lang="es"/>
              <a:t>Agrupar las preguntas con contenidos similares.</a:t>
            </a:r>
            <a:endParaRPr/>
          </a:p>
          <a:p>
            <a:pPr indent="-342900" lvl="0" marL="457200" rtl="0" algn="just">
              <a:spcBef>
                <a:spcPts val="0"/>
              </a:spcBef>
              <a:spcAft>
                <a:spcPts val="0"/>
              </a:spcAft>
              <a:buSzPts val="1800"/>
              <a:buChar char="●"/>
            </a:pPr>
            <a:r>
              <a:rPr lang="es"/>
              <a:t>Colocar primero las preguntas importantes.</a:t>
            </a:r>
            <a:endParaRPr/>
          </a:p>
          <a:p>
            <a:pPr indent="-342900" lvl="0" marL="457200" rtl="0" algn="just">
              <a:spcBef>
                <a:spcPts val="0"/>
              </a:spcBef>
              <a:spcAft>
                <a:spcPts val="0"/>
              </a:spcAft>
              <a:buSzPts val="1800"/>
              <a:buChar char="●"/>
            </a:pPr>
            <a:r>
              <a:rPr lang="es"/>
              <a:t>Colocar al final las preguntas con temas controvertidos.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Revisión de documentos escritos</a:t>
            </a:r>
            <a:endParaRPr/>
          </a:p>
        </p:txBody>
      </p:sp>
      <p:sp>
        <p:nvSpPr>
          <p:cNvPr id="113" name="Google Shape;113;p2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Esta es no es una actividad rutinaria, ya que cada dominio cuenta con distintos documentos escritos (no estandarizados) que pueden tener una información muy valiosa si está completa, actualizada, etc. </a:t>
            </a:r>
            <a:endParaRPr/>
          </a:p>
          <a:p>
            <a:pPr indent="0" lvl="0" marL="0" rtl="0" algn="just">
              <a:spcBef>
                <a:spcPts val="1200"/>
              </a:spcBef>
              <a:spcAft>
                <a:spcPts val="0"/>
              </a:spcAft>
              <a:buNone/>
            </a:pPr>
            <a:r>
              <a:rPr lang="es"/>
              <a:t>Se incluyen como documentos escritos: manuales de políticas, reglamentos, procedimientos estándares de operación, manuales de usuarios, descripción de trabajos, formularios, etc.</a:t>
            </a:r>
            <a:endParaRPr/>
          </a:p>
          <a:p>
            <a:pPr indent="0" lvl="0" marL="0" rtl="0" algn="just">
              <a:spcBef>
                <a:spcPts val="1200"/>
              </a:spcBef>
              <a:spcAft>
                <a:spcPts val="1200"/>
              </a:spcAft>
              <a:buNone/>
            </a:pPr>
            <a:r>
              <a:rPr lang="es"/>
              <a:t>Cuando estos documentos están desactualizados o son ignorados, esta información puede encontrarse en memos, órdenes verbales, mails, etc.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Documentos escritos: Formularios </a:t>
            </a:r>
            <a:endParaRPr/>
          </a:p>
        </p:txBody>
      </p:sp>
      <p:sp>
        <p:nvSpPr>
          <p:cNvPr id="119" name="Google Shape;119;p2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Los formularios permiten “transportar” los datos de un lugar a otro, y se encuentran en una variedad de formatos y tamaños. </a:t>
            </a:r>
            <a:endParaRPr/>
          </a:p>
          <a:p>
            <a:pPr indent="0" lvl="0" marL="0" rtl="0" algn="just">
              <a:spcBef>
                <a:spcPts val="1200"/>
              </a:spcBef>
              <a:spcAft>
                <a:spcPts val="0"/>
              </a:spcAft>
              <a:buNone/>
            </a:pPr>
            <a:r>
              <a:rPr lang="es"/>
              <a:t>Es importante analizarlos, ya que permiten comprender mejor cómo funciona el negocio. Lo conveniente es obtener un formulario vacío y otro lleno, y hacerse las siguientes preguntas:</a:t>
            </a:r>
            <a:endParaRPr/>
          </a:p>
          <a:p>
            <a:pPr indent="-342900" lvl="0" marL="457200" rtl="0" algn="just">
              <a:spcBef>
                <a:spcPts val="1200"/>
              </a:spcBef>
              <a:spcAft>
                <a:spcPts val="0"/>
              </a:spcAft>
              <a:buSzPts val="1800"/>
              <a:buChar char="●"/>
            </a:pPr>
            <a:r>
              <a:rPr lang="es"/>
              <a:t>¿Cuál es el objetivo o propósito de este formulario?</a:t>
            </a:r>
            <a:endParaRPr/>
          </a:p>
          <a:p>
            <a:pPr indent="-342900" lvl="0" marL="457200" rtl="0" algn="just">
              <a:spcBef>
                <a:spcPts val="0"/>
              </a:spcBef>
              <a:spcAft>
                <a:spcPts val="0"/>
              </a:spcAft>
              <a:buSzPts val="1800"/>
              <a:buChar char="●"/>
            </a:pPr>
            <a:r>
              <a:rPr lang="es"/>
              <a:t>¿Quién lo completa? </a:t>
            </a:r>
            <a:endParaRPr/>
          </a:p>
          <a:p>
            <a:pPr indent="-342900" lvl="0" marL="457200" rtl="0" algn="just">
              <a:spcBef>
                <a:spcPts val="0"/>
              </a:spcBef>
              <a:spcAft>
                <a:spcPts val="0"/>
              </a:spcAft>
              <a:buSzPts val="1800"/>
              <a:buChar char="●"/>
            </a:pPr>
            <a:r>
              <a:rPr lang="es"/>
              <a:t>¿Dónde se origina? Y hacia ¿Dónde va? </a:t>
            </a:r>
            <a:endParaRPr/>
          </a:p>
          <a:p>
            <a:pPr indent="-342900" lvl="0" marL="457200" rtl="0" algn="just">
              <a:spcBef>
                <a:spcPts val="0"/>
              </a:spcBef>
              <a:spcAft>
                <a:spcPts val="0"/>
              </a:spcAft>
              <a:buSzPts val="1800"/>
              <a:buChar char="●"/>
            </a:pPr>
            <a:r>
              <a:rPr lang="es"/>
              <a:t>¿Quién usa la información que </a:t>
            </a:r>
            <a:r>
              <a:rPr lang="es"/>
              <a:t>está</a:t>
            </a:r>
            <a:r>
              <a:rPr lang="es"/>
              <a:t> en el formulario?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6"/>
          <p:cNvPicPr preferRelativeResize="0"/>
          <p:nvPr/>
        </p:nvPicPr>
        <p:blipFill rotWithShape="1">
          <a:blip r:embed="rId3">
            <a:alphaModFix/>
          </a:blip>
          <a:srcRect b="13910" l="27860" r="19375" t="16087"/>
          <a:stretch/>
        </p:blipFill>
        <p:spPr>
          <a:xfrm>
            <a:off x="360000" y="432000"/>
            <a:ext cx="6117000" cy="4564650"/>
          </a:xfrm>
          <a:prstGeom prst="rect">
            <a:avLst/>
          </a:prstGeom>
          <a:noFill/>
          <a:ln>
            <a:noFill/>
          </a:ln>
        </p:spPr>
      </p:pic>
      <p:sp>
        <p:nvSpPr>
          <p:cNvPr id="125" name="Google Shape;125;p26"/>
          <p:cNvSpPr/>
          <p:nvPr/>
        </p:nvSpPr>
        <p:spPr>
          <a:xfrm>
            <a:off x="122325" y="4462660"/>
            <a:ext cx="1655700" cy="534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s" sz="1050" u="none" cap="none" strike="noStrike">
                <a:latin typeface="Arial"/>
                <a:ea typeface="Arial"/>
                <a:cs typeface="Arial"/>
                <a:sym typeface="Arial"/>
              </a:rPr>
              <a:t>Análisis y Diseño de Sistemas de Kendall 8va ed</a:t>
            </a:r>
            <a:endParaRPr b="0" i="0" sz="105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Observación</a:t>
            </a:r>
            <a:endParaRPr/>
          </a:p>
        </p:txBody>
      </p:sp>
      <p:sp>
        <p:nvSpPr>
          <p:cNvPr id="131" name="Google Shape;131;p2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a:t>Esta técnica permite obtener información estando en el lugar y con las personas donde transcurren las operaciones del dominio a estudiar. </a:t>
            </a:r>
            <a:endParaRPr/>
          </a:p>
          <a:p>
            <a:pPr indent="0" lvl="0" marL="0" rtl="0" algn="just">
              <a:spcBef>
                <a:spcPts val="1200"/>
              </a:spcBef>
              <a:spcAft>
                <a:spcPts val="0"/>
              </a:spcAft>
              <a:buNone/>
            </a:pPr>
            <a:r>
              <a:rPr lang="es"/>
              <a:t>Se obtiene información que de otro modo, no se podría obtenerse. </a:t>
            </a:r>
            <a:endParaRPr/>
          </a:p>
          <a:p>
            <a:pPr indent="0" lvl="0" marL="0" rtl="0" algn="just">
              <a:spcBef>
                <a:spcPts val="1200"/>
              </a:spcBef>
              <a:spcAft>
                <a:spcPts val="0"/>
              </a:spcAft>
              <a:buNone/>
            </a:pPr>
            <a:r>
              <a:rPr lang="es"/>
              <a:t>Se pueden realizar observaciones en cuanto:</a:t>
            </a:r>
            <a:endParaRPr/>
          </a:p>
          <a:p>
            <a:pPr indent="-342900" lvl="0" marL="457200" rtl="0" algn="just">
              <a:spcBef>
                <a:spcPts val="1200"/>
              </a:spcBef>
              <a:spcAft>
                <a:spcPts val="0"/>
              </a:spcAft>
              <a:buSzPts val="1800"/>
              <a:buChar char="●"/>
            </a:pPr>
            <a:r>
              <a:rPr lang="es"/>
              <a:t>a los diferentes roles de las personas involucradas,</a:t>
            </a:r>
            <a:endParaRPr/>
          </a:p>
          <a:p>
            <a:pPr indent="-342900" lvl="0" marL="457200" rtl="0" algn="just">
              <a:spcBef>
                <a:spcPts val="0"/>
              </a:spcBef>
              <a:spcAft>
                <a:spcPts val="0"/>
              </a:spcAft>
              <a:buSzPts val="1800"/>
              <a:buChar char="●"/>
            </a:pPr>
            <a:r>
              <a:rPr lang="es"/>
              <a:t>al manejo de los documentos escritos</a:t>
            </a:r>
            <a:endParaRPr/>
          </a:p>
          <a:p>
            <a:pPr indent="-342900" lvl="0" marL="457200" rtl="0" algn="just">
              <a:spcBef>
                <a:spcPts val="0"/>
              </a:spcBef>
              <a:spcAft>
                <a:spcPts val="0"/>
              </a:spcAft>
              <a:buSzPts val="1800"/>
              <a:buChar char="●"/>
            </a:pPr>
            <a:r>
              <a:rPr lang="es"/>
              <a:t>al flujo de la comunicación verbal </a:t>
            </a:r>
            <a:endParaRPr/>
          </a:p>
          <a:p>
            <a:pPr indent="-342900" lvl="0" marL="457200" rtl="0" algn="just">
              <a:spcBef>
                <a:spcPts val="0"/>
              </a:spcBef>
              <a:spcAft>
                <a:spcPts val="0"/>
              </a:spcAft>
              <a:buSzPts val="1800"/>
              <a:buChar char="●"/>
            </a:pPr>
            <a:r>
              <a:rPr lang="es"/>
              <a:t>al entorno del espacio físico</a:t>
            </a:r>
            <a:endParaRPr/>
          </a:p>
          <a:p>
            <a:pPr indent="0" lvl="0" marL="0" rtl="0" algn="just">
              <a:spcBef>
                <a:spcPts val="1200"/>
              </a:spcBef>
              <a:spcAft>
                <a:spcPts val="1200"/>
              </a:spcAft>
              <a:buNone/>
            </a:pPr>
            <a:r>
              <a:rPr lang="es"/>
              <a:t>Toda esta información debe ser registrada de manera escrita o con grabadores (de audio o video)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8"/>
          <p:cNvPicPr preferRelativeResize="0"/>
          <p:nvPr/>
        </p:nvPicPr>
        <p:blipFill rotWithShape="1">
          <a:blip r:embed="rId3">
            <a:alphaModFix/>
          </a:blip>
          <a:srcRect b="0" l="28657" r="18579" t="11340"/>
          <a:stretch/>
        </p:blipFill>
        <p:spPr>
          <a:xfrm>
            <a:off x="1272775" y="704150"/>
            <a:ext cx="4476874" cy="4231524"/>
          </a:xfrm>
          <a:prstGeom prst="rect">
            <a:avLst/>
          </a:prstGeom>
          <a:noFill/>
          <a:ln>
            <a:noFill/>
          </a:ln>
        </p:spPr>
      </p:pic>
      <p:sp>
        <p:nvSpPr>
          <p:cNvPr id="137" name="Google Shape;137;p28"/>
          <p:cNvSpPr/>
          <p:nvPr/>
        </p:nvSpPr>
        <p:spPr>
          <a:xfrm>
            <a:off x="6911050" y="1810935"/>
            <a:ext cx="1655700" cy="534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s" sz="1050" u="none" cap="none" strike="noStrike">
                <a:latin typeface="Arial"/>
                <a:ea typeface="Arial"/>
                <a:cs typeface="Arial"/>
                <a:sym typeface="Arial"/>
              </a:rPr>
              <a:t>Análisis y Diseño de Sistemas de Kendall 8va ed</a:t>
            </a:r>
            <a:endParaRPr b="0" i="0" sz="1050" u="none" cap="none"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9"/>
          <p:cNvSpPr/>
          <p:nvPr/>
        </p:nvSpPr>
        <p:spPr>
          <a:xfrm>
            <a:off x="208150" y="4460610"/>
            <a:ext cx="1655700" cy="534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s" sz="1050" u="none" cap="none" strike="noStrike">
                <a:latin typeface="Arial"/>
                <a:ea typeface="Arial"/>
                <a:cs typeface="Arial"/>
                <a:sym typeface="Arial"/>
              </a:rPr>
              <a:t>Análisis y Diseño de Sistemas de Kendall 8va ed</a:t>
            </a:r>
            <a:endParaRPr b="0" i="0" sz="1050" u="none" cap="none" strike="noStrike">
              <a:latin typeface="Arial"/>
              <a:ea typeface="Arial"/>
              <a:cs typeface="Arial"/>
              <a:sym typeface="Arial"/>
            </a:endParaRPr>
          </a:p>
        </p:txBody>
      </p:sp>
      <p:pic>
        <p:nvPicPr>
          <p:cNvPr id="143" name="Google Shape;143;p29"/>
          <p:cNvPicPr preferRelativeResize="0"/>
          <p:nvPr/>
        </p:nvPicPr>
        <p:blipFill rotWithShape="1">
          <a:blip r:embed="rId3">
            <a:alphaModFix/>
          </a:blip>
          <a:srcRect b="28967" l="28649" r="28819" t="30424"/>
          <a:stretch/>
        </p:blipFill>
        <p:spPr>
          <a:xfrm>
            <a:off x="3352780" y="1970950"/>
            <a:ext cx="5630760" cy="3023641"/>
          </a:xfrm>
          <a:prstGeom prst="rect">
            <a:avLst/>
          </a:prstGeom>
          <a:noFill/>
          <a:ln>
            <a:noFill/>
          </a:ln>
        </p:spPr>
      </p:pic>
      <p:pic>
        <p:nvPicPr>
          <p:cNvPr id="144" name="Google Shape;144;p29"/>
          <p:cNvPicPr preferRelativeResize="0"/>
          <p:nvPr/>
        </p:nvPicPr>
        <p:blipFill rotWithShape="1">
          <a:blip r:embed="rId4">
            <a:alphaModFix/>
          </a:blip>
          <a:srcRect b="24766" l="27858" r="21739" t="24826"/>
          <a:stretch/>
        </p:blipFill>
        <p:spPr>
          <a:xfrm>
            <a:off x="208160" y="628925"/>
            <a:ext cx="5903280" cy="33202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50" name="Google Shape;150;p3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Esta técnica se utiliza cuando los clientes y los usuarios finales del software encuentran muy difícil expresar los requerimientos reales o imaginarse cómo afectará o modificará la actividad diaria, o que estos requerimientos sean muy complejos. Generalmente lo que ocurre es que el cliente define un conjunto de objetivos generales para el software.</a:t>
            </a:r>
            <a:endParaRPr/>
          </a:p>
          <a:p>
            <a:pPr indent="0" lvl="0" marL="0" rtl="0" algn="just">
              <a:spcBef>
                <a:spcPts val="1200"/>
              </a:spcBef>
              <a:spcAft>
                <a:spcPts val="1200"/>
              </a:spcAft>
              <a:buNone/>
            </a:pPr>
            <a:r>
              <a:rPr lang="es"/>
              <a:t>Un</a:t>
            </a:r>
            <a:r>
              <a:rPr b="1" lang="es">
                <a:solidFill>
                  <a:schemeClr val="accent5"/>
                </a:solidFill>
              </a:rPr>
              <a:t> prototipo</a:t>
            </a:r>
            <a:r>
              <a:rPr lang="es"/>
              <a:t> es una versión inicial de un sistema de software que se utiliza para demostrar los conceptos, probar las opciones de diseño y comprender mejor el problema y su solución.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56" name="Google Shape;156;p3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Un prototipo de software apoya dos actividades del proceso de ingeniería de requerimientos:</a:t>
            </a:r>
            <a:endParaRPr/>
          </a:p>
          <a:p>
            <a:pPr indent="-342900" lvl="0" marL="457200" rtl="0" algn="just">
              <a:spcBef>
                <a:spcPts val="1200"/>
              </a:spcBef>
              <a:spcAft>
                <a:spcPts val="0"/>
              </a:spcAft>
              <a:buSzPts val="1800"/>
              <a:buChar char="●"/>
            </a:pPr>
            <a:r>
              <a:rPr lang="es"/>
              <a:t>Obtención de requerimientos: los usuarios experimentan como el sistema ayudará su trabajo.</a:t>
            </a:r>
            <a:endParaRPr/>
          </a:p>
          <a:p>
            <a:pPr indent="-342900" lvl="0" marL="457200" rtl="0" algn="just">
              <a:spcBef>
                <a:spcPts val="0"/>
              </a:spcBef>
              <a:spcAft>
                <a:spcPts val="0"/>
              </a:spcAft>
              <a:buSzPts val="1800"/>
              <a:buChar char="●"/>
            </a:pPr>
            <a:r>
              <a:rPr lang="es"/>
              <a:t>Validación de requerimientos: el prototipo puede revelar errores u omisiones en los requerimientos propuestos.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62" name="Google Shape;162;p32"/>
          <p:cNvSpPr txBox="1"/>
          <p:nvPr>
            <p:ph idx="1" type="body"/>
          </p:nvPr>
        </p:nvSpPr>
        <p:spPr>
          <a:xfrm>
            <a:off x="311700" y="1304875"/>
            <a:ext cx="8520600" cy="49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Existen dos tipos de prototipos:</a:t>
            </a:r>
            <a:endParaRPr/>
          </a:p>
        </p:txBody>
      </p:sp>
      <p:sp>
        <p:nvSpPr>
          <p:cNvPr id="163" name="Google Shape;163;p32"/>
          <p:cNvSpPr txBox="1"/>
          <p:nvPr/>
        </p:nvSpPr>
        <p:spPr>
          <a:xfrm>
            <a:off x="619950" y="2724475"/>
            <a:ext cx="20535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Requerimientos Generales</a:t>
            </a:r>
            <a:endParaRPr sz="1600">
              <a:solidFill>
                <a:srgbClr val="000000"/>
              </a:solidFill>
              <a:latin typeface="Century Gothic"/>
              <a:ea typeface="Century Gothic"/>
              <a:cs typeface="Century Gothic"/>
              <a:sym typeface="Century Gothic"/>
            </a:endParaRPr>
          </a:p>
        </p:txBody>
      </p:sp>
      <p:sp>
        <p:nvSpPr>
          <p:cNvPr id="164" name="Google Shape;164;p32"/>
          <p:cNvSpPr txBox="1"/>
          <p:nvPr/>
        </p:nvSpPr>
        <p:spPr>
          <a:xfrm>
            <a:off x="3163075" y="2029675"/>
            <a:ext cx="2053500" cy="923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Construcción de </a:t>
            </a:r>
            <a:r>
              <a:rPr b="1" lang="es" sz="1600">
                <a:solidFill>
                  <a:srgbClr val="000000"/>
                </a:solidFill>
                <a:latin typeface="Century Gothic"/>
                <a:ea typeface="Century Gothic"/>
                <a:cs typeface="Century Gothic"/>
                <a:sym typeface="Century Gothic"/>
              </a:rPr>
              <a:t>prototipos evolutivos</a:t>
            </a:r>
            <a:endParaRPr b="1" sz="1600">
              <a:solidFill>
                <a:srgbClr val="000000"/>
              </a:solidFill>
              <a:latin typeface="Century Gothic"/>
              <a:ea typeface="Century Gothic"/>
              <a:cs typeface="Century Gothic"/>
              <a:sym typeface="Century Gothic"/>
            </a:endParaRPr>
          </a:p>
        </p:txBody>
      </p:sp>
      <p:sp>
        <p:nvSpPr>
          <p:cNvPr id="165" name="Google Shape;165;p32"/>
          <p:cNvSpPr txBox="1"/>
          <p:nvPr/>
        </p:nvSpPr>
        <p:spPr>
          <a:xfrm>
            <a:off x="3163075" y="3096775"/>
            <a:ext cx="2053500" cy="923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Construcción de </a:t>
            </a:r>
            <a:r>
              <a:rPr b="1" lang="es" sz="1600">
                <a:solidFill>
                  <a:srgbClr val="000000"/>
                </a:solidFill>
                <a:latin typeface="Century Gothic"/>
                <a:ea typeface="Century Gothic"/>
                <a:cs typeface="Century Gothic"/>
                <a:sym typeface="Century Gothic"/>
              </a:rPr>
              <a:t>prototipos desechables</a:t>
            </a:r>
            <a:endParaRPr b="1" sz="1600">
              <a:solidFill>
                <a:srgbClr val="000000"/>
              </a:solidFill>
              <a:latin typeface="Century Gothic"/>
              <a:ea typeface="Century Gothic"/>
              <a:cs typeface="Century Gothic"/>
              <a:sym typeface="Century Gothic"/>
            </a:endParaRPr>
          </a:p>
        </p:txBody>
      </p:sp>
      <p:sp>
        <p:nvSpPr>
          <p:cNvPr id="166" name="Google Shape;166;p32"/>
          <p:cNvSpPr txBox="1"/>
          <p:nvPr/>
        </p:nvSpPr>
        <p:spPr>
          <a:xfrm>
            <a:off x="5702375" y="2275825"/>
            <a:ext cx="2587200" cy="431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Sistema entregado</a:t>
            </a:r>
            <a:endParaRPr sz="1600">
              <a:solidFill>
                <a:srgbClr val="000000"/>
              </a:solidFill>
              <a:latin typeface="Century Gothic"/>
              <a:ea typeface="Century Gothic"/>
              <a:cs typeface="Century Gothic"/>
              <a:sym typeface="Century Gothic"/>
            </a:endParaRPr>
          </a:p>
        </p:txBody>
      </p:sp>
      <p:sp>
        <p:nvSpPr>
          <p:cNvPr id="167" name="Google Shape;167;p32"/>
          <p:cNvSpPr txBox="1"/>
          <p:nvPr/>
        </p:nvSpPr>
        <p:spPr>
          <a:xfrm>
            <a:off x="5702375" y="3096775"/>
            <a:ext cx="2644200" cy="923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Prototipo ejecutable + especificación del sistema</a:t>
            </a:r>
            <a:endParaRPr sz="1600">
              <a:solidFill>
                <a:srgbClr val="000000"/>
              </a:solidFill>
              <a:latin typeface="Century Gothic"/>
              <a:ea typeface="Century Gothic"/>
              <a:cs typeface="Century Gothic"/>
              <a:sym typeface="Century Gothic"/>
            </a:endParaRPr>
          </a:p>
        </p:txBody>
      </p:sp>
      <p:cxnSp>
        <p:nvCxnSpPr>
          <p:cNvPr id="168" name="Google Shape;168;p32"/>
          <p:cNvCxnSpPr>
            <a:stCxn id="163" idx="3"/>
            <a:endCxn id="164" idx="1"/>
          </p:cNvCxnSpPr>
          <p:nvPr/>
        </p:nvCxnSpPr>
        <p:spPr>
          <a:xfrm flipH="1" rot="10800000">
            <a:off x="2673450" y="2491525"/>
            <a:ext cx="489600" cy="571500"/>
          </a:xfrm>
          <a:prstGeom prst="straightConnector1">
            <a:avLst/>
          </a:prstGeom>
          <a:noFill/>
          <a:ln cap="flat" cmpd="sng" w="19050">
            <a:solidFill>
              <a:schemeClr val="accent5"/>
            </a:solidFill>
            <a:prstDash val="solid"/>
            <a:round/>
            <a:headEnd len="med" w="med" type="none"/>
            <a:tailEnd len="med" w="med" type="triangle"/>
          </a:ln>
        </p:spPr>
      </p:cxnSp>
      <p:cxnSp>
        <p:nvCxnSpPr>
          <p:cNvPr id="169" name="Google Shape;169;p32"/>
          <p:cNvCxnSpPr>
            <a:stCxn id="163" idx="3"/>
            <a:endCxn id="165" idx="1"/>
          </p:cNvCxnSpPr>
          <p:nvPr/>
        </p:nvCxnSpPr>
        <p:spPr>
          <a:xfrm>
            <a:off x="2673450" y="3063025"/>
            <a:ext cx="489600" cy="495600"/>
          </a:xfrm>
          <a:prstGeom prst="straightConnector1">
            <a:avLst/>
          </a:prstGeom>
          <a:noFill/>
          <a:ln cap="flat" cmpd="sng" w="19050">
            <a:solidFill>
              <a:schemeClr val="accent5"/>
            </a:solidFill>
            <a:prstDash val="solid"/>
            <a:round/>
            <a:headEnd len="med" w="med" type="none"/>
            <a:tailEnd len="med" w="med" type="triangle"/>
          </a:ln>
        </p:spPr>
      </p:cxnSp>
      <p:cxnSp>
        <p:nvCxnSpPr>
          <p:cNvPr id="170" name="Google Shape;170;p32"/>
          <p:cNvCxnSpPr>
            <a:stCxn id="164" idx="3"/>
            <a:endCxn id="166" idx="1"/>
          </p:cNvCxnSpPr>
          <p:nvPr/>
        </p:nvCxnSpPr>
        <p:spPr>
          <a:xfrm>
            <a:off x="5216575" y="2491375"/>
            <a:ext cx="485700" cy="0"/>
          </a:xfrm>
          <a:prstGeom prst="straightConnector1">
            <a:avLst/>
          </a:prstGeom>
          <a:noFill/>
          <a:ln cap="flat" cmpd="sng" w="19050">
            <a:solidFill>
              <a:schemeClr val="accent5"/>
            </a:solidFill>
            <a:prstDash val="solid"/>
            <a:round/>
            <a:headEnd len="med" w="med" type="none"/>
            <a:tailEnd len="med" w="med" type="triangle"/>
          </a:ln>
        </p:spPr>
      </p:cxnSp>
      <p:cxnSp>
        <p:nvCxnSpPr>
          <p:cNvPr id="171" name="Google Shape;171;p32"/>
          <p:cNvCxnSpPr>
            <a:stCxn id="165" idx="3"/>
            <a:endCxn id="167" idx="1"/>
          </p:cNvCxnSpPr>
          <p:nvPr/>
        </p:nvCxnSpPr>
        <p:spPr>
          <a:xfrm>
            <a:off x="5216575" y="3558475"/>
            <a:ext cx="485700" cy="0"/>
          </a:xfrm>
          <a:prstGeom prst="straightConnector1">
            <a:avLst/>
          </a:prstGeom>
          <a:noFill/>
          <a:ln cap="flat" cmpd="sng" w="19050">
            <a:solidFill>
              <a:schemeClr val="accent5"/>
            </a:solidFill>
            <a:prstDash val="solid"/>
            <a:round/>
            <a:headEnd len="med" w="med" type="none"/>
            <a:tailEnd len="med" w="med" type="triangle"/>
          </a:ln>
        </p:spPr>
      </p:cxnSp>
      <p:sp>
        <p:nvSpPr>
          <p:cNvPr id="172" name="Google Shape;172;p32"/>
          <p:cNvSpPr/>
          <p:nvPr/>
        </p:nvSpPr>
        <p:spPr>
          <a:xfrm>
            <a:off x="5346575" y="1389775"/>
            <a:ext cx="3298800" cy="496200"/>
          </a:xfrm>
          <a:prstGeom prst="wedgeEllipseCallout">
            <a:avLst>
              <a:gd fmla="val -574" name="adj1"/>
              <a:gd fmla="val 92722" name="adj2"/>
            </a:avLst>
          </a:prstGeom>
          <a:solidFill>
            <a:srgbClr val="DBF5F9"/>
          </a:solidFill>
          <a:ln cap="flat" cmpd="sng" w="9525">
            <a:solidFill>
              <a:srgbClr val="0461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200">
                <a:solidFill>
                  <a:srgbClr val="000000"/>
                </a:solidFill>
                <a:latin typeface="Century Gothic"/>
                <a:ea typeface="Century Gothic"/>
                <a:cs typeface="Century Gothic"/>
                <a:sym typeface="Century Gothic"/>
              </a:rPr>
              <a:t>Se usan los requerimientos que MEJOR se comprenden</a:t>
            </a:r>
            <a:endParaRPr sz="1200">
              <a:solidFill>
                <a:srgbClr val="000000"/>
              </a:solidFill>
              <a:latin typeface="Century Gothic"/>
              <a:ea typeface="Century Gothic"/>
              <a:cs typeface="Century Gothic"/>
              <a:sym typeface="Century Gothic"/>
            </a:endParaRPr>
          </a:p>
        </p:txBody>
      </p:sp>
      <p:sp>
        <p:nvSpPr>
          <p:cNvPr id="173" name="Google Shape;173;p32"/>
          <p:cNvSpPr/>
          <p:nvPr/>
        </p:nvSpPr>
        <p:spPr>
          <a:xfrm>
            <a:off x="3888200" y="4387550"/>
            <a:ext cx="3298800" cy="496200"/>
          </a:xfrm>
          <a:prstGeom prst="wedgeEllipseCallout">
            <a:avLst>
              <a:gd fmla="val 17452" name="adj1"/>
              <a:gd fmla="val -107059" name="adj2"/>
            </a:avLst>
          </a:prstGeom>
          <a:solidFill>
            <a:srgbClr val="DBF5F9"/>
          </a:solidFill>
          <a:ln cap="flat" cmpd="sng" w="9525">
            <a:solidFill>
              <a:srgbClr val="0461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200">
                <a:solidFill>
                  <a:srgbClr val="000000"/>
                </a:solidFill>
                <a:latin typeface="Century Gothic"/>
                <a:ea typeface="Century Gothic"/>
                <a:cs typeface="Century Gothic"/>
                <a:sym typeface="Century Gothic"/>
              </a:rPr>
              <a:t>Se usan los requerimientos que no se conocen bien.</a:t>
            </a:r>
            <a:endParaRPr sz="1200">
              <a:solidFill>
                <a:srgbClr val="000000"/>
              </a:solidFill>
              <a:latin typeface="Century Gothic"/>
              <a:ea typeface="Century Gothic"/>
              <a:cs typeface="Century Gothic"/>
              <a:sym typeface="Century Gothic"/>
            </a:endParaRPr>
          </a:p>
        </p:txBody>
      </p:sp>
      <p:sp>
        <p:nvSpPr>
          <p:cNvPr id="174" name="Google Shape;174;p32"/>
          <p:cNvSpPr/>
          <p:nvPr/>
        </p:nvSpPr>
        <p:spPr>
          <a:xfrm>
            <a:off x="619950" y="3830275"/>
            <a:ext cx="1920600" cy="677100"/>
          </a:xfrm>
          <a:prstGeom prst="wedgeEllipseCallout">
            <a:avLst>
              <a:gd fmla="val 80028" name="adj1"/>
              <a:gd fmla="val -52991" name="adj2"/>
            </a:avLst>
          </a:prstGeom>
          <a:solidFill>
            <a:srgbClr val="DBF5F9"/>
          </a:solidFill>
          <a:ln cap="flat" cmpd="sng" w="9525">
            <a:solidFill>
              <a:srgbClr val="0461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1200">
                <a:solidFill>
                  <a:srgbClr val="000000"/>
                </a:solidFill>
                <a:latin typeface="Century Gothic"/>
                <a:ea typeface="Century Gothic"/>
                <a:cs typeface="Century Gothic"/>
                <a:sym typeface="Century Gothic"/>
              </a:rPr>
              <a:t>Tiene un período corto de vida</a:t>
            </a:r>
            <a:endParaRPr sz="1200">
              <a:solidFill>
                <a:srgbClr val="000000"/>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80" name="Google Shape;180;p33"/>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Desarrollo de prototipo</a:t>
            </a:r>
            <a:endParaRPr/>
          </a:p>
          <a:p>
            <a:pPr indent="-342900" lvl="0" marL="457200" rtl="0" algn="just">
              <a:spcBef>
                <a:spcPts val="1200"/>
              </a:spcBef>
              <a:spcAft>
                <a:spcPts val="0"/>
              </a:spcAft>
              <a:buSzPts val="1800"/>
              <a:buAutoNum type="arabicPeriod"/>
            </a:pPr>
            <a:r>
              <a:rPr lang="es"/>
              <a:t>Establecer objetivos del prototipo</a:t>
            </a:r>
            <a:endParaRPr/>
          </a:p>
          <a:p>
            <a:pPr indent="-342900" lvl="0" marL="457200" rtl="0" algn="just">
              <a:spcBef>
                <a:spcPts val="0"/>
              </a:spcBef>
              <a:spcAft>
                <a:spcPts val="0"/>
              </a:spcAft>
              <a:buSzPts val="1800"/>
              <a:buAutoNum type="arabicPeriod"/>
            </a:pPr>
            <a:r>
              <a:rPr lang="es"/>
              <a:t>Definir funcionalidad del prototipo</a:t>
            </a:r>
            <a:endParaRPr/>
          </a:p>
          <a:p>
            <a:pPr indent="-342900" lvl="0" marL="457200" rtl="0" algn="just">
              <a:spcBef>
                <a:spcPts val="0"/>
              </a:spcBef>
              <a:spcAft>
                <a:spcPts val="0"/>
              </a:spcAft>
              <a:buSzPts val="1800"/>
              <a:buAutoNum type="arabicPeriod"/>
            </a:pPr>
            <a:r>
              <a:rPr lang="es"/>
              <a:t>Desarrollar prototipo</a:t>
            </a:r>
            <a:endParaRPr/>
          </a:p>
          <a:p>
            <a:pPr indent="-342900" lvl="0" marL="457200" rtl="0" algn="just">
              <a:spcBef>
                <a:spcPts val="0"/>
              </a:spcBef>
              <a:spcAft>
                <a:spcPts val="0"/>
              </a:spcAft>
              <a:buSzPts val="1800"/>
              <a:buAutoNum type="arabicPeriod"/>
            </a:pPr>
            <a:r>
              <a:rPr lang="es"/>
              <a:t>Evaluar prototipo</a:t>
            </a:r>
            <a:endParaRPr/>
          </a:p>
          <a:p>
            <a:pPr indent="0" lvl="0" marL="0" rtl="0" algn="just">
              <a:spcBef>
                <a:spcPts val="1200"/>
              </a:spcBef>
              <a:spcAft>
                <a:spcPts val="1200"/>
              </a:spcAft>
              <a:buNone/>
            </a:pPr>
            <a:r>
              <a:rPr lang="es"/>
              <a:t>Lo que buscamos es que el prototipo sirva para identificar los requisitos.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86" name="Google Shape;186;p34"/>
          <p:cNvSpPr txBox="1"/>
          <p:nvPr/>
        </p:nvSpPr>
        <p:spPr>
          <a:xfrm>
            <a:off x="1835613" y="1727475"/>
            <a:ext cx="19719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Escuchar al cliente</a:t>
            </a:r>
            <a:endParaRPr sz="1600">
              <a:solidFill>
                <a:srgbClr val="000000"/>
              </a:solidFill>
              <a:latin typeface="Century Gothic"/>
              <a:ea typeface="Century Gothic"/>
              <a:cs typeface="Century Gothic"/>
              <a:sym typeface="Century Gothic"/>
            </a:endParaRPr>
          </a:p>
        </p:txBody>
      </p:sp>
      <p:sp>
        <p:nvSpPr>
          <p:cNvPr id="187" name="Google Shape;187;p34"/>
          <p:cNvSpPr txBox="1"/>
          <p:nvPr/>
        </p:nvSpPr>
        <p:spPr>
          <a:xfrm>
            <a:off x="5254888" y="1727475"/>
            <a:ext cx="20535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Construir / Revisar el prototipo</a:t>
            </a:r>
            <a:endParaRPr sz="1600">
              <a:solidFill>
                <a:srgbClr val="000000"/>
              </a:solidFill>
              <a:latin typeface="Century Gothic"/>
              <a:ea typeface="Century Gothic"/>
              <a:cs typeface="Century Gothic"/>
              <a:sym typeface="Century Gothic"/>
            </a:endParaRPr>
          </a:p>
        </p:txBody>
      </p:sp>
      <p:sp>
        <p:nvSpPr>
          <p:cNvPr id="188" name="Google Shape;188;p34"/>
          <p:cNvSpPr txBox="1"/>
          <p:nvPr/>
        </p:nvSpPr>
        <p:spPr>
          <a:xfrm>
            <a:off x="3451338" y="3208150"/>
            <a:ext cx="20535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600">
                <a:solidFill>
                  <a:srgbClr val="000000"/>
                </a:solidFill>
                <a:latin typeface="Century Gothic"/>
                <a:ea typeface="Century Gothic"/>
                <a:cs typeface="Century Gothic"/>
                <a:sym typeface="Century Gothic"/>
              </a:rPr>
              <a:t>El cliente prueba el prototipo</a:t>
            </a:r>
            <a:endParaRPr sz="1600">
              <a:solidFill>
                <a:srgbClr val="000000"/>
              </a:solidFill>
              <a:latin typeface="Century Gothic"/>
              <a:ea typeface="Century Gothic"/>
              <a:cs typeface="Century Gothic"/>
              <a:sym typeface="Century Gothic"/>
            </a:endParaRPr>
          </a:p>
        </p:txBody>
      </p:sp>
      <p:cxnSp>
        <p:nvCxnSpPr>
          <p:cNvPr id="189" name="Google Shape;189;p34"/>
          <p:cNvCxnSpPr>
            <a:stCxn id="186" idx="3"/>
            <a:endCxn id="187" idx="1"/>
          </p:cNvCxnSpPr>
          <p:nvPr/>
        </p:nvCxnSpPr>
        <p:spPr>
          <a:xfrm>
            <a:off x="3807513" y="2066025"/>
            <a:ext cx="1447500" cy="0"/>
          </a:xfrm>
          <a:prstGeom prst="straightConnector1">
            <a:avLst/>
          </a:prstGeom>
          <a:noFill/>
          <a:ln cap="flat" cmpd="sng" w="19050">
            <a:solidFill>
              <a:schemeClr val="accent5"/>
            </a:solidFill>
            <a:prstDash val="solid"/>
            <a:round/>
            <a:headEnd len="med" w="med" type="none"/>
            <a:tailEnd len="med" w="med" type="triangle"/>
          </a:ln>
        </p:spPr>
      </p:cxnSp>
      <p:cxnSp>
        <p:nvCxnSpPr>
          <p:cNvPr id="190" name="Google Shape;190;p34"/>
          <p:cNvCxnSpPr>
            <a:endCxn id="188" idx="3"/>
          </p:cNvCxnSpPr>
          <p:nvPr/>
        </p:nvCxnSpPr>
        <p:spPr>
          <a:xfrm flipH="1">
            <a:off x="5504838" y="2404300"/>
            <a:ext cx="777000" cy="1142400"/>
          </a:xfrm>
          <a:prstGeom prst="straightConnector1">
            <a:avLst/>
          </a:prstGeom>
          <a:noFill/>
          <a:ln cap="flat" cmpd="sng" w="19050">
            <a:solidFill>
              <a:schemeClr val="accent5"/>
            </a:solidFill>
            <a:prstDash val="solid"/>
            <a:round/>
            <a:headEnd len="med" w="med" type="none"/>
            <a:tailEnd len="med" w="med" type="triangle"/>
          </a:ln>
        </p:spPr>
      </p:cxnSp>
      <p:cxnSp>
        <p:nvCxnSpPr>
          <p:cNvPr id="191" name="Google Shape;191;p34"/>
          <p:cNvCxnSpPr>
            <a:stCxn id="188" idx="1"/>
            <a:endCxn id="186" idx="2"/>
          </p:cNvCxnSpPr>
          <p:nvPr/>
        </p:nvCxnSpPr>
        <p:spPr>
          <a:xfrm rot="10800000">
            <a:off x="2821638" y="2404600"/>
            <a:ext cx="629700" cy="1142100"/>
          </a:xfrm>
          <a:prstGeom prst="straightConnector1">
            <a:avLst/>
          </a:prstGeom>
          <a:noFill/>
          <a:ln cap="flat" cmpd="sng" w="19050">
            <a:solidFill>
              <a:schemeClr val="accent5"/>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197" name="Google Shape;197;p3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Ventajas:</a:t>
            </a:r>
            <a:endParaRPr b="1"/>
          </a:p>
          <a:p>
            <a:pPr indent="-342900" lvl="0" marL="457200" rtl="0" algn="just">
              <a:spcBef>
                <a:spcPts val="1200"/>
              </a:spcBef>
              <a:spcAft>
                <a:spcPts val="0"/>
              </a:spcAft>
              <a:buSzPts val="1800"/>
              <a:buChar char="●"/>
            </a:pPr>
            <a:r>
              <a:rPr lang="es"/>
              <a:t>Tanto el cliente como el desarrollador dan cuenta de los avances, ya que se crea con rapidez y es una aplicación que funciona.</a:t>
            </a:r>
            <a:endParaRPr/>
          </a:p>
          <a:p>
            <a:pPr indent="-342900" lvl="0" marL="457200" rtl="0" algn="just">
              <a:spcBef>
                <a:spcPts val="0"/>
              </a:spcBef>
              <a:spcAft>
                <a:spcPts val="0"/>
              </a:spcAft>
              <a:buSzPts val="1800"/>
              <a:buChar char="●"/>
            </a:pPr>
            <a:r>
              <a:rPr lang="es"/>
              <a:t>Permite modificaciones en etapas tempranas del desarrollo. El éxito dependerá de que tan pronto se le entregue el prototipo al usuario y este haga la validación del prototipo.</a:t>
            </a:r>
            <a:endParaRPr/>
          </a:p>
          <a:p>
            <a:pPr indent="-342900" lvl="0" marL="457200" rtl="0" algn="just">
              <a:spcBef>
                <a:spcPts val="0"/>
              </a:spcBef>
              <a:spcAft>
                <a:spcPts val="0"/>
              </a:spcAft>
              <a:buSzPts val="1800"/>
              <a:buChar char="●"/>
            </a:pPr>
            <a:r>
              <a:rPr lang="es"/>
              <a:t>Permite flexibilidad y adaptabilidad de los requerimientos.</a:t>
            </a:r>
            <a:endParaRPr/>
          </a:p>
          <a:p>
            <a:pPr indent="-342900" lvl="0" marL="457200" rtl="0" algn="just">
              <a:spcBef>
                <a:spcPts val="0"/>
              </a:spcBef>
              <a:spcAft>
                <a:spcPts val="0"/>
              </a:spcAft>
              <a:buSzPts val="1800"/>
              <a:buChar char="●"/>
            </a:pPr>
            <a:r>
              <a:rPr lang="es"/>
              <a:t>Las modificaciones en etapas tempranas del desarrollo son menos costosas que en etapas tardías.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Prototipos</a:t>
            </a:r>
            <a:endParaRPr/>
          </a:p>
        </p:txBody>
      </p:sp>
      <p:sp>
        <p:nvSpPr>
          <p:cNvPr id="203" name="Google Shape;203;p36"/>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Desventajas:</a:t>
            </a:r>
            <a:endParaRPr b="1"/>
          </a:p>
          <a:p>
            <a:pPr indent="-342900" lvl="0" marL="457200" rtl="0" algn="just">
              <a:spcBef>
                <a:spcPts val="1200"/>
              </a:spcBef>
              <a:spcAft>
                <a:spcPts val="0"/>
              </a:spcAft>
              <a:buSzPts val="1800"/>
              <a:buChar char="●"/>
            </a:pPr>
            <a:r>
              <a:rPr lang="es"/>
              <a:t>Administración difícil del prototipo, es decir no perder de vista el propósito, ya que el mismo no es un proyecto dentro del ciclo de desarrollo de sistema.</a:t>
            </a:r>
            <a:endParaRPr/>
          </a:p>
          <a:p>
            <a:pPr indent="-342900" lvl="0" marL="457200" rtl="0" algn="just">
              <a:spcBef>
                <a:spcPts val="0"/>
              </a:spcBef>
              <a:spcAft>
                <a:spcPts val="0"/>
              </a:spcAft>
              <a:buSzPts val="1800"/>
              <a:buChar char="●"/>
            </a:pPr>
            <a:r>
              <a:rPr lang="es"/>
              <a:t>Adoptarlo como el sistema final.</a:t>
            </a:r>
            <a:endParaRPr/>
          </a:p>
          <a:p>
            <a:pPr indent="-342900" lvl="0" marL="457200" rtl="0" algn="just">
              <a:spcBef>
                <a:spcPts val="0"/>
              </a:spcBef>
              <a:spcAft>
                <a:spcPts val="0"/>
              </a:spcAft>
              <a:buSzPts val="1800"/>
              <a:buChar char="●"/>
            </a:pPr>
            <a:r>
              <a:rPr lang="es"/>
              <a:t>Al inicio el cliente y el desarrollador tienen poca comunicación.</a:t>
            </a:r>
            <a:endParaRPr/>
          </a:p>
          <a:p>
            <a:pPr indent="-342900" lvl="0" marL="457200" rtl="0" algn="just">
              <a:spcBef>
                <a:spcPts val="0"/>
              </a:spcBef>
              <a:spcAft>
                <a:spcPts val="0"/>
              </a:spcAft>
              <a:buSzPts val="1800"/>
              <a:buChar char="●"/>
            </a:pPr>
            <a:r>
              <a:rPr lang="es"/>
              <a:t>Surgen cambios imprevistos que retrasan el progreso del prototipo.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Aprender a escuchar...</a:t>
            </a:r>
            <a:endParaRPr/>
          </a:p>
        </p:txBody>
      </p:sp>
      <p:sp>
        <p:nvSpPr>
          <p:cNvPr id="209" name="Google Shape;209;p3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 ...dar la consideración apropiada para desarrollar entrevistas, formular cuestionarios y conducir el estudio es un trabajo, un trabajo desafiante. No hay duda</a:t>
            </a:r>
            <a:endParaRPr/>
          </a:p>
          <a:p>
            <a:pPr indent="0" lvl="0" marL="0" rtl="0" algn="just">
              <a:spcBef>
                <a:spcPts val="1200"/>
              </a:spcBef>
              <a:spcAft>
                <a:spcPts val="0"/>
              </a:spcAft>
              <a:buNone/>
            </a:pPr>
            <a:r>
              <a:rPr lang="es"/>
              <a:t>Por otro lado, obtener información ofrece al analista la oportunidad de ir mas allá del escenario de una organización ‘aprender la historia interna’, es descubrir como trabajan las cosas en la realidad en una nueva área de la información.”</a:t>
            </a:r>
            <a:endParaRPr/>
          </a:p>
          <a:p>
            <a:pPr indent="0" lvl="0" marL="0" rtl="0" algn="just">
              <a:spcBef>
                <a:spcPts val="1200"/>
              </a:spcBef>
              <a:spcAft>
                <a:spcPts val="1200"/>
              </a:spcAft>
              <a:buNone/>
            </a:pPr>
            <a:r>
              <a:rPr b="1" lang="es"/>
              <a:t>James A. Senn</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Lectura</a:t>
            </a:r>
            <a:endParaRPr/>
          </a:p>
        </p:txBody>
      </p:sp>
      <p:sp>
        <p:nvSpPr>
          <p:cNvPr id="215" name="Google Shape;215;p3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Kendall, K. E. &amp; Kendall, J. E. (2011). Análisis y diseño de sistemas. Pearson educación. Ed. 8</a:t>
            </a:r>
            <a:endParaRPr/>
          </a:p>
          <a:p>
            <a:pPr indent="-317500" lvl="1" marL="914400" rtl="0" algn="l">
              <a:spcBef>
                <a:spcPts val="0"/>
              </a:spcBef>
              <a:spcAft>
                <a:spcPts val="0"/>
              </a:spcAft>
              <a:buSzPts val="1400"/>
              <a:buChar char="○"/>
            </a:pPr>
            <a:r>
              <a:rPr lang="es"/>
              <a:t>Cap 4: Recopilación de información: métodos interactivos</a:t>
            </a:r>
            <a:endParaRPr/>
          </a:p>
          <a:p>
            <a:pPr indent="-317500" lvl="1" marL="914400" rtl="0" algn="l">
              <a:spcBef>
                <a:spcPts val="0"/>
              </a:spcBef>
              <a:spcAft>
                <a:spcPts val="0"/>
              </a:spcAft>
              <a:buSzPts val="1400"/>
              <a:buChar char="○"/>
            </a:pPr>
            <a:r>
              <a:rPr lang="es"/>
              <a:t>Cap 5: Recopilación de información: métodos discretos</a:t>
            </a:r>
            <a:endParaRPr/>
          </a:p>
          <a:p>
            <a:pPr indent="-317500" lvl="1" marL="914400" rtl="0" algn="l">
              <a:spcBef>
                <a:spcPts val="0"/>
              </a:spcBef>
              <a:spcAft>
                <a:spcPts val="0"/>
              </a:spcAft>
              <a:buSzPts val="1400"/>
              <a:buChar char="○"/>
            </a:pPr>
            <a:r>
              <a:rPr lang="es"/>
              <a:t>Cap 6: Modelado ágil y prototipos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DBF5F9"/>
      </a:lt2>
      <a:accent1>
        <a:srgbClr val="0F6FC6"/>
      </a:accent1>
      <a:accent2>
        <a:srgbClr val="212121"/>
      </a:accent2>
      <a:accent3>
        <a:srgbClr val="78909C"/>
      </a:accent3>
      <a:accent4>
        <a:srgbClr val="FF0066"/>
      </a:accent4>
      <a:accent5>
        <a:srgbClr val="7030A0"/>
      </a:accent5>
      <a:accent6>
        <a:srgbClr val="DBF5F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