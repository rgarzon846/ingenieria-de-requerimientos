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59" r:id="rId4"/>
    <p:sldId id="260" r:id="rId5"/>
    <p:sldId id="261" r:id="rId6"/>
    <p:sldId id="262" r:id="rId7"/>
    <p:sldId id="263" r:id="rId8"/>
    <p:sldId id="265" r:id="rId9"/>
    <p:sldId id="266" r:id="rId10"/>
    <p:sldId id="267" r:id="rId11"/>
    <p:sldId id="268" r:id="rId12"/>
    <p:sldId id="280" r:id="rId13"/>
    <p:sldId id="281" r:id="rId14"/>
    <p:sldId id="282" r:id="rId15"/>
    <p:sldId id="283" r:id="rId16"/>
    <p:sldId id="278" r:id="rId17"/>
    <p:sldId id="277" r:id="rId18"/>
    <p:sldId id="279" r:id="rId19"/>
    <p:sldId id="271" r:id="rId20"/>
    <p:sldId id="272" r:id="rId21"/>
    <p:sldId id="273" r:id="rId22"/>
    <p:sldId id="275" r:id="rId23"/>
    <p:sldId id="276" r:id="rId24"/>
    <p:sldId id="284" r:id="rId2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A6BEC7-68DA-433C-AFCE-F2A7C305E766}" v="77" dt="2026-04-06T00:56:41.811"/>
    <p1510:client id="{8DC19942-4A6C-4449-BB5E-8F8A59F925FE}" v="745" dt="2026-04-05T21:53:56.863"/>
    <p1510:client id="{AFA10ABF-3C9C-946D-C2D9-A13DC6938530}" v="121" dt="2026-04-06T10:56:01.115"/>
    <p1510:client id="{C39D020E-DFCF-200F-13E1-D71F44296106}" v="138" dt="2026-04-06T01:22:32.737"/>
    <p1510:client id="{C8536ED9-6BE1-93FB-2699-7CFA1EE6272C}" v="344" dt="2026-04-05T21:05:51.689"/>
    <p1510:client id="{DCE7D443-66F2-3D81-8F18-7F0B81DFD049}" v="1661" dt="2026-04-06T00:19:30.654"/>
    <p1510:client id="{DD3A5E56-A553-2B12-B376-27AE40AD19A8}" v="1" dt="2026-04-06T01:38:49.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83284890-85D2-4D7B-8EF5-15A9C1DB8F42}" type="datetimeFigureOut">
              <a:rPr lang="en-US" dirty="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a:p>
        </p:txBody>
      </p:sp>
    </p:spTree>
    <p:extLst>
      <p:ext uri="{BB962C8B-B14F-4D97-AF65-F5344CB8AC3E}">
        <p14:creationId xmlns:p14="http://schemas.microsoft.com/office/powerpoint/2010/main" val="2333995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F5661D-6934-4B32-B92C-470368BF1EC6}" type="datetimeFigureOut">
              <a:rPr lang="en-US" dirty="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801627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4/6/2026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a:p>
        </p:txBody>
      </p:sp>
    </p:spTree>
    <p:extLst>
      <p:ext uri="{BB962C8B-B14F-4D97-AF65-F5344CB8AC3E}">
        <p14:creationId xmlns:p14="http://schemas.microsoft.com/office/powerpoint/2010/main" val="2005984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548D31E-DCDA-41A7-9C67-C4B11B94D21D}" type="datetimeFigureOut">
              <a:rPr lang="en-US" dirty="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402140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3762C0-B258-48F1-ADE6-176B4174CCDD}" type="datetimeFigureOut">
              <a:rPr lang="en-US" dirty="0"/>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284579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7919A6-33EB-49BD-A62F-1FA56B9F9712}" type="datetimeFigureOut">
              <a:rPr lang="en-US" dirty="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263468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819628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4/6/2026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932205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4/6/2026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282668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dirty="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149758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764DA5-CD3D-4590-A511-FCD3BC7A793E}" type="datetimeFigureOut">
              <a:rPr lang="en-US" dirty="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963687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4/6/2026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34088577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47930" y="338495"/>
            <a:ext cx="11102235" cy="1567591"/>
          </a:xfrm>
        </p:spPr>
        <p:txBody>
          <a:bodyPr>
            <a:normAutofit fontScale="90000"/>
          </a:bodyPr>
          <a:lstStyle/>
          <a:p>
            <a:pPr algn="ctr"/>
            <a:r>
              <a:rPr lang="es-ES"/>
              <a:t>El caos de los métodos y el nacimiento (1990-1996)</a:t>
            </a:r>
          </a:p>
        </p:txBody>
      </p:sp>
      <p:sp>
        <p:nvSpPr>
          <p:cNvPr id="3" name="Subtítulo 2"/>
          <p:cNvSpPr>
            <a:spLocks noGrp="1"/>
          </p:cNvSpPr>
          <p:nvPr>
            <p:ph type="body" idx="1"/>
          </p:nvPr>
        </p:nvSpPr>
        <p:spPr>
          <a:xfrm>
            <a:off x="1066800" y="1912557"/>
            <a:ext cx="4754880" cy="640080"/>
          </a:xfrm>
        </p:spPr>
        <p:txBody>
          <a:bodyPr/>
          <a:lstStyle/>
          <a:p>
            <a:pPr algn="ctr"/>
            <a:r>
              <a:rPr lang="es-ES"/>
              <a:t>Contexto inicial</a:t>
            </a:r>
          </a:p>
        </p:txBody>
      </p:sp>
      <p:sp>
        <p:nvSpPr>
          <p:cNvPr id="4" name="Marcador de posición de imagen 3">
            <a:extLst>
              <a:ext uri="{FF2B5EF4-FFF2-40B4-BE49-F238E27FC236}">
                <a16:creationId xmlns:a16="http://schemas.microsoft.com/office/drawing/2014/main" id="{C1BC9186-1316-3833-58AF-EECBBFCAFFFE}"/>
              </a:ext>
            </a:extLst>
          </p:cNvPr>
          <p:cNvSpPr>
            <a:spLocks noGrp="1"/>
          </p:cNvSpPr>
          <p:nvPr>
            <p:ph sz="half" idx="2"/>
          </p:nvPr>
        </p:nvSpPr>
        <p:spPr>
          <a:xfrm>
            <a:off x="1069848" y="2701447"/>
            <a:ext cx="4754880" cy="3291840"/>
          </a:xfrm>
        </p:spPr>
        <p:txBody>
          <a:bodyPr vert="horz" lIns="91440" tIns="45720" rIns="91440" bIns="45720" rtlCol="0" anchor="t">
            <a:noAutofit/>
          </a:bodyPr>
          <a:lstStyle/>
          <a:p>
            <a:r>
              <a:rPr lang="es-ES">
                <a:ea typeface="+mn-lt"/>
                <a:cs typeface="+mn-lt"/>
              </a:rPr>
              <a:t>A comienzos de los años 90, la Programación Orientada a Objetos (POO) estaba en expansión, pero no existía un estándar de modelado.</a:t>
            </a:r>
            <a:endParaRPr lang="es-ES">
              <a:latin typeface="Rockwell"/>
              <a:ea typeface="+mn-lt"/>
              <a:cs typeface="Arial"/>
            </a:endParaRPr>
          </a:p>
          <a:p>
            <a:pPr>
              <a:buClr>
                <a:srgbClr val="D34817">
                  <a:lumMod val="75000"/>
                </a:srgbClr>
              </a:buClr>
            </a:pPr>
            <a:endParaRPr lang="es-ES">
              <a:ea typeface="+mn-lt"/>
              <a:cs typeface="+mn-lt"/>
            </a:endParaRPr>
          </a:p>
        </p:txBody>
      </p:sp>
      <p:sp>
        <p:nvSpPr>
          <p:cNvPr id="6" name="Marcador de contenido 5">
            <a:extLst>
              <a:ext uri="{FF2B5EF4-FFF2-40B4-BE49-F238E27FC236}">
                <a16:creationId xmlns:a16="http://schemas.microsoft.com/office/drawing/2014/main" id="{54C4BC39-22EE-1ABA-A095-83F4C8D36955}"/>
              </a:ext>
            </a:extLst>
          </p:cNvPr>
          <p:cNvSpPr>
            <a:spLocks noGrp="1"/>
          </p:cNvSpPr>
          <p:nvPr>
            <p:ph sz="quarter" idx="4"/>
          </p:nvPr>
        </p:nvSpPr>
        <p:spPr>
          <a:xfrm>
            <a:off x="6354455" y="2231145"/>
            <a:ext cx="4941785" cy="3895688"/>
          </a:xfrm>
        </p:spPr>
        <p:txBody>
          <a:bodyPr vert="horz" lIns="91440" tIns="45720" rIns="91440" bIns="45720" rtlCol="0" anchor="t">
            <a:normAutofit/>
          </a:bodyPr>
          <a:lstStyle/>
          <a:p>
            <a:pPr>
              <a:buClr>
                <a:srgbClr val="9E3611"/>
              </a:buClr>
            </a:pPr>
            <a:r>
              <a:rPr lang="es-ES">
                <a:ea typeface="+mn-lt"/>
                <a:cs typeface="+mn-lt"/>
              </a:rPr>
              <a:t>    Había más de 50 métodos distintos, lo que generaba: </a:t>
            </a:r>
            <a:endParaRPr lang="en-US"/>
          </a:p>
          <a:p>
            <a:pPr>
              <a:spcAft>
                <a:spcPts val="0"/>
              </a:spcAft>
              <a:buClr>
                <a:srgbClr val="9E3611"/>
              </a:buClr>
            </a:pPr>
            <a:r>
              <a:rPr lang="es-ES" sz="2000">
                <a:ea typeface="+mn-lt"/>
                <a:cs typeface="+mn-lt"/>
              </a:rPr>
              <a:t>Inconsistencias en la </a:t>
            </a:r>
            <a:r>
              <a:rPr lang="es-ES">
                <a:ea typeface="+mn-lt"/>
                <a:cs typeface="+mn-lt"/>
              </a:rPr>
              <a:t>notación</a:t>
            </a:r>
            <a:r>
              <a:rPr lang="es-ES" sz="2000">
                <a:ea typeface="+mn-lt"/>
                <a:cs typeface="+mn-lt"/>
              </a:rPr>
              <a:t>.</a:t>
            </a:r>
            <a:r>
              <a:rPr lang="es-ES">
                <a:ea typeface="+mn-lt"/>
                <a:cs typeface="+mn-lt"/>
              </a:rPr>
              <a:t> </a:t>
            </a:r>
            <a:endParaRPr lang="es-ES"/>
          </a:p>
          <a:p>
            <a:pPr>
              <a:spcAft>
                <a:spcPts val="0"/>
              </a:spcAft>
              <a:buClr>
                <a:srgbClr val="9E3611"/>
              </a:buClr>
            </a:pPr>
            <a:r>
              <a:rPr lang="es-ES">
                <a:ea typeface="+mn-lt"/>
                <a:cs typeface="+mn-lt"/>
              </a:rPr>
              <a:t>Problemas de </a:t>
            </a:r>
            <a:r>
              <a:rPr lang="es-ES" sz="2000">
                <a:ea typeface="+mn-lt"/>
                <a:cs typeface="+mn-lt"/>
              </a:rPr>
              <a:t>comunicación entre equipos.</a:t>
            </a:r>
            <a:r>
              <a:rPr lang="es-ES">
                <a:ea typeface="+mn-lt"/>
                <a:cs typeface="+mn-lt"/>
              </a:rPr>
              <a:t> </a:t>
            </a:r>
            <a:endParaRPr lang="es-ES"/>
          </a:p>
          <a:p>
            <a:pPr>
              <a:spcAft>
                <a:spcPts val="0"/>
              </a:spcAft>
              <a:buClr>
                <a:srgbClr val="9E3611"/>
              </a:buClr>
            </a:pPr>
            <a:r>
              <a:rPr lang="es-ES" sz="2000">
                <a:ea typeface="+mn-lt"/>
                <a:cs typeface="+mn-lt"/>
              </a:rPr>
              <a:t>Dificultad para </a:t>
            </a:r>
            <a:r>
              <a:rPr lang="es-ES">
                <a:ea typeface="+mn-lt"/>
                <a:cs typeface="+mn-lt"/>
              </a:rPr>
              <a:t>unificar </a:t>
            </a:r>
            <a:r>
              <a:rPr lang="es-ES" sz="2000">
                <a:ea typeface="+mn-lt"/>
                <a:cs typeface="+mn-lt"/>
              </a:rPr>
              <a:t>criterios de diseño.</a:t>
            </a:r>
            <a:endParaRPr lang="es-ES"/>
          </a:p>
          <a:p>
            <a:pPr>
              <a:spcAft>
                <a:spcPts val="0"/>
              </a:spcAft>
              <a:buClr>
                <a:srgbClr val="9E3611"/>
              </a:buClr>
            </a:pPr>
            <a:endParaRPr lang="es-ES"/>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A32672-0486-BACB-0BB3-A6277E91D4B2}"/>
              </a:ext>
            </a:extLst>
          </p:cNvPr>
          <p:cNvSpPr>
            <a:spLocks noGrp="1"/>
          </p:cNvSpPr>
          <p:nvPr>
            <p:ph type="title"/>
          </p:nvPr>
        </p:nvSpPr>
        <p:spPr>
          <a:xfrm>
            <a:off x="1069848" y="181920"/>
            <a:ext cx="11133550" cy="1567591"/>
          </a:xfrm>
        </p:spPr>
        <p:txBody>
          <a:bodyPr/>
          <a:lstStyle/>
          <a:p>
            <a:r>
              <a:rPr lang="es-ES"/>
              <a:t>MÉTODOS DE MODELADO MÁS INFLUYENTES </a:t>
            </a:r>
          </a:p>
        </p:txBody>
      </p:sp>
      <p:sp>
        <p:nvSpPr>
          <p:cNvPr id="3" name="Marcador de texto 2">
            <a:extLst>
              <a:ext uri="{FF2B5EF4-FFF2-40B4-BE49-F238E27FC236}">
                <a16:creationId xmlns:a16="http://schemas.microsoft.com/office/drawing/2014/main" id="{50ECD856-1047-F128-6BC7-FCBEBE399A09}"/>
              </a:ext>
            </a:extLst>
          </p:cNvPr>
          <p:cNvSpPr>
            <a:spLocks noGrp="1"/>
          </p:cNvSpPr>
          <p:nvPr>
            <p:ph type="body" idx="1"/>
          </p:nvPr>
        </p:nvSpPr>
        <p:spPr>
          <a:xfrm>
            <a:off x="3105031" y="1749511"/>
            <a:ext cx="5976167" cy="671395"/>
          </a:xfrm>
        </p:spPr>
        <p:txBody>
          <a:bodyPr vert="horz" lIns="91440" tIns="45720" rIns="91440" bIns="45720" rtlCol="0" anchor="ctr">
            <a:noAutofit/>
          </a:bodyPr>
          <a:lstStyle/>
          <a:p>
            <a:pPr algn="ctr"/>
            <a:r>
              <a:rPr lang="es-AR" sz="2400" dirty="0"/>
              <a:t>Tres metodologías destacaban:</a:t>
            </a:r>
            <a:endParaRPr lang="es-ES" sz="2400" dirty="0"/>
          </a:p>
        </p:txBody>
      </p:sp>
      <p:sp>
        <p:nvSpPr>
          <p:cNvPr id="4" name="Marcador de contenido 3">
            <a:extLst>
              <a:ext uri="{FF2B5EF4-FFF2-40B4-BE49-F238E27FC236}">
                <a16:creationId xmlns:a16="http://schemas.microsoft.com/office/drawing/2014/main" id="{C3098AF5-7657-7082-B4B4-260426F3C531}"/>
              </a:ext>
            </a:extLst>
          </p:cNvPr>
          <p:cNvSpPr>
            <a:spLocks noGrp="1"/>
          </p:cNvSpPr>
          <p:nvPr>
            <p:ph sz="half" idx="2"/>
          </p:nvPr>
        </p:nvSpPr>
        <p:spPr>
          <a:xfrm>
            <a:off x="2568631" y="2419570"/>
            <a:ext cx="7045449" cy="3705548"/>
          </a:xfrm>
        </p:spPr>
        <p:txBody>
          <a:bodyPr vert="horz" lIns="91440" tIns="45720" rIns="91440" bIns="45720" rtlCol="0" anchor="t">
            <a:normAutofit lnSpcReduction="10000"/>
          </a:bodyPr>
          <a:lstStyle/>
          <a:p>
            <a:pPr>
              <a:buNone/>
            </a:pPr>
            <a:r>
              <a:rPr lang="es-AR" sz="2400" u="sng" dirty="0" err="1">
                <a:ea typeface="+mn-lt"/>
                <a:cs typeface="+mn-lt"/>
              </a:rPr>
              <a:t>Booch</a:t>
            </a:r>
            <a:r>
              <a:rPr lang="es-ES" sz="2400" u="sng" dirty="0">
                <a:ea typeface="+mn-lt"/>
                <a:cs typeface="+mn-lt"/>
              </a:rPr>
              <a:t> (Grady </a:t>
            </a:r>
            <a:r>
              <a:rPr lang="es-ES" sz="2400" u="sng" dirty="0" err="1">
                <a:ea typeface="+mn-lt"/>
                <a:cs typeface="+mn-lt"/>
              </a:rPr>
              <a:t>Booch</a:t>
            </a:r>
            <a:r>
              <a:rPr lang="es-ES" sz="2400" u="sng" dirty="0">
                <a:ea typeface="+mn-lt"/>
                <a:cs typeface="+mn-lt"/>
              </a:rPr>
              <a:t>)</a:t>
            </a:r>
            <a:endParaRPr lang="es-ES" u="sng" dirty="0"/>
          </a:p>
          <a:p>
            <a:pPr>
              <a:buNone/>
            </a:pPr>
            <a:r>
              <a:rPr lang="es-ES" sz="2400" dirty="0">
                <a:ea typeface="+mn-lt"/>
                <a:cs typeface="+mn-lt"/>
              </a:rPr>
              <a:t>Enfocado en diseño e implementación, con notación detallada.</a:t>
            </a:r>
            <a:endParaRPr lang="es-ES" dirty="0"/>
          </a:p>
          <a:p>
            <a:pPr>
              <a:buNone/>
            </a:pPr>
            <a:r>
              <a:rPr lang="es-ES" sz="2400" u="sng" dirty="0">
                <a:ea typeface="+mn-lt"/>
                <a:cs typeface="+mn-lt"/>
              </a:rPr>
              <a:t>OMT (James </a:t>
            </a:r>
            <a:r>
              <a:rPr lang="es-ES" sz="2400" u="sng" dirty="0" err="1">
                <a:ea typeface="+mn-lt"/>
                <a:cs typeface="+mn-lt"/>
              </a:rPr>
              <a:t>Rumbaugh</a:t>
            </a:r>
            <a:r>
              <a:rPr lang="es-ES" sz="2400" u="sng" dirty="0">
                <a:ea typeface="+mn-lt"/>
                <a:cs typeface="+mn-lt"/>
              </a:rPr>
              <a:t>)</a:t>
            </a:r>
            <a:endParaRPr lang="es-ES" u="sng" dirty="0"/>
          </a:p>
          <a:p>
            <a:pPr>
              <a:buNone/>
            </a:pPr>
            <a:r>
              <a:rPr lang="es-ES" sz="2400" dirty="0">
                <a:ea typeface="+mn-lt"/>
                <a:cs typeface="+mn-lt"/>
              </a:rPr>
              <a:t>Orientado al análisis de sistemas, con modelos estructurados (objetos, dinámico, funcional).</a:t>
            </a:r>
            <a:endParaRPr lang="es-ES" dirty="0"/>
          </a:p>
          <a:p>
            <a:pPr>
              <a:buNone/>
            </a:pPr>
            <a:r>
              <a:rPr lang="es-ES" sz="2400" u="sng" dirty="0">
                <a:ea typeface="+mn-lt"/>
                <a:cs typeface="+mn-lt"/>
              </a:rPr>
              <a:t>OOSE (</a:t>
            </a:r>
            <a:r>
              <a:rPr lang="es-ES" sz="2400" u="sng" dirty="0" err="1">
                <a:ea typeface="+mn-lt"/>
                <a:cs typeface="+mn-lt"/>
              </a:rPr>
              <a:t>Ivar</a:t>
            </a:r>
            <a:r>
              <a:rPr lang="es-ES" sz="2400" u="sng" dirty="0">
                <a:ea typeface="+mn-lt"/>
                <a:cs typeface="+mn-lt"/>
              </a:rPr>
              <a:t> Jacobson)</a:t>
            </a:r>
            <a:endParaRPr lang="es-ES" u="sng" dirty="0"/>
          </a:p>
          <a:p>
            <a:pPr>
              <a:buNone/>
            </a:pPr>
            <a:r>
              <a:rPr lang="es-ES" sz="2400" dirty="0">
                <a:ea typeface="+mn-lt"/>
                <a:cs typeface="+mn-lt"/>
              </a:rPr>
              <a:t>Introdujo los Casos de U</a:t>
            </a:r>
            <a:r>
              <a:rPr lang="es-AR" sz="2400" dirty="0" err="1">
                <a:ea typeface="+mn-lt"/>
                <a:cs typeface="+mn-lt"/>
              </a:rPr>
              <a:t>só</a:t>
            </a:r>
            <a:r>
              <a:rPr lang="es-ES" sz="2400" dirty="0">
                <a:ea typeface="+mn-lt"/>
                <a:cs typeface="+mn-lt"/>
              </a:rPr>
              <a:t>, centrado en requisitos e interacción usuario-sistema.</a:t>
            </a:r>
            <a:endParaRPr lang="es-ES" dirty="0">
              <a:ea typeface="+mn-lt"/>
              <a:cs typeface="+mn-lt"/>
            </a:endParaRPr>
          </a:p>
          <a:p>
            <a:pPr marL="0" indent="0">
              <a:buNone/>
            </a:pPr>
            <a:endParaRPr lang="es-ES" sz="2400" dirty="0"/>
          </a:p>
        </p:txBody>
      </p:sp>
    </p:spTree>
    <p:extLst>
      <p:ext uri="{BB962C8B-B14F-4D97-AF65-F5344CB8AC3E}">
        <p14:creationId xmlns:p14="http://schemas.microsoft.com/office/powerpoint/2010/main" val="2387719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E16334-004C-D935-B359-BF8A8E17481C}"/>
              </a:ext>
            </a:extLst>
          </p:cNvPr>
          <p:cNvSpPr>
            <a:spLocks noGrp="1"/>
          </p:cNvSpPr>
          <p:nvPr>
            <p:ph type="title"/>
          </p:nvPr>
        </p:nvSpPr>
        <p:spPr>
          <a:xfrm>
            <a:off x="1069848" y="-4198"/>
            <a:ext cx="10058400" cy="1609344"/>
          </a:xfrm>
        </p:spPr>
        <p:txBody>
          <a:bodyPr/>
          <a:lstStyle/>
          <a:p>
            <a:pPr algn="ctr"/>
            <a:r>
              <a:rPr lang="es-ES"/>
              <a:t>ORIGEN DEL MÉTODO UNIFICADO</a:t>
            </a:r>
          </a:p>
        </p:txBody>
      </p:sp>
      <p:sp>
        <p:nvSpPr>
          <p:cNvPr id="8" name="Marcador de contenido 7">
            <a:extLst>
              <a:ext uri="{FF2B5EF4-FFF2-40B4-BE49-F238E27FC236}">
                <a16:creationId xmlns:a16="http://schemas.microsoft.com/office/drawing/2014/main" id="{D58E5925-2175-E104-146F-375C99A66125}"/>
              </a:ext>
            </a:extLst>
          </p:cNvPr>
          <p:cNvSpPr>
            <a:spLocks noGrp="1"/>
          </p:cNvSpPr>
          <p:nvPr>
            <p:ph sz="half" idx="2"/>
          </p:nvPr>
        </p:nvSpPr>
        <p:spPr>
          <a:xfrm>
            <a:off x="1012338" y="1348596"/>
            <a:ext cx="10175145" cy="3737538"/>
          </a:xfrm>
        </p:spPr>
        <p:txBody>
          <a:bodyPr vert="horz" lIns="91440" tIns="45720" rIns="91440" bIns="45720" rtlCol="0" anchor="t">
            <a:noAutofit/>
          </a:bodyPr>
          <a:lstStyle/>
          <a:p>
            <a:pPr>
              <a:buNone/>
            </a:pPr>
            <a:r>
              <a:rPr lang="es-ES" sz="2400">
                <a:ea typeface="+mn-lt"/>
                <a:cs typeface="+mn-lt"/>
              </a:rPr>
              <a:t>En 1994, Rumbaugh se une a Booch en </a:t>
            </a:r>
            <a:r>
              <a:rPr lang="es-ES" sz="2400" err="1">
                <a:ea typeface="+mn-lt"/>
                <a:cs typeface="+mn-lt"/>
              </a:rPr>
              <a:t>Rational</a:t>
            </a:r>
            <a:r>
              <a:rPr lang="es-ES" sz="2400">
                <a:ea typeface="+mn-lt"/>
                <a:cs typeface="+mn-lt"/>
              </a:rPr>
              <a:t> Software para unificar sus métodos.</a:t>
            </a:r>
            <a:endParaRPr lang="en-US">
              <a:ea typeface="+mn-lt"/>
              <a:cs typeface="+mn-lt"/>
            </a:endParaRPr>
          </a:p>
          <a:p>
            <a:pPr>
              <a:buNone/>
            </a:pPr>
            <a:r>
              <a:rPr lang="es-ES" sz="2400">
                <a:ea typeface="+mn-lt"/>
                <a:cs typeface="+mn-lt"/>
              </a:rPr>
              <a:t>En 1995 se publica:</a:t>
            </a:r>
            <a:endParaRPr lang="es-ES"/>
          </a:p>
          <a:p>
            <a:pPr>
              <a:buNone/>
            </a:pPr>
            <a:r>
              <a:rPr lang="es-ES" sz="2400" err="1">
                <a:ea typeface="+mn-lt"/>
                <a:cs typeface="+mn-lt"/>
              </a:rPr>
              <a:t>Unified</a:t>
            </a:r>
            <a:r>
              <a:rPr lang="es-ES" sz="2400">
                <a:ea typeface="+mn-lt"/>
                <a:cs typeface="+mn-lt"/>
              </a:rPr>
              <a:t> </a:t>
            </a:r>
            <a:r>
              <a:rPr lang="es-ES" sz="2400" err="1">
                <a:ea typeface="+mn-lt"/>
                <a:cs typeface="+mn-lt"/>
              </a:rPr>
              <a:t>Method</a:t>
            </a:r>
            <a:r>
              <a:rPr lang="es-ES" sz="2400">
                <a:ea typeface="+mn-lt"/>
                <a:cs typeface="+mn-lt"/>
              </a:rPr>
              <a:t> versión 0.8</a:t>
            </a:r>
            <a:endParaRPr lang="es-ES">
              <a:ea typeface="+mn-lt"/>
              <a:cs typeface="+mn-lt"/>
            </a:endParaRPr>
          </a:p>
          <a:p>
            <a:pPr>
              <a:buNone/>
            </a:pPr>
            <a:r>
              <a:rPr lang="es-ES" sz="2400">
                <a:ea typeface="+mn-lt"/>
                <a:cs typeface="+mn-lt"/>
              </a:rPr>
              <a:t>Primera integración de Booch y OMT.</a:t>
            </a:r>
            <a:endParaRPr lang="es-ES">
              <a:ea typeface="+mn-lt"/>
              <a:cs typeface="+mn-lt"/>
            </a:endParaRPr>
          </a:p>
          <a:p>
            <a:pPr>
              <a:buNone/>
            </a:pPr>
            <a:r>
              <a:rPr lang="es-ES" sz="2400">
                <a:ea typeface="+mn-lt"/>
                <a:cs typeface="+mn-lt"/>
              </a:rPr>
              <a:t>Base inicial para un lenguaje común.</a:t>
            </a:r>
            <a:endParaRPr lang="es-ES">
              <a:ea typeface="+mn-lt"/>
              <a:cs typeface="+mn-lt"/>
            </a:endParaRPr>
          </a:p>
          <a:p>
            <a:pPr>
              <a:buNone/>
            </a:pPr>
            <a:r>
              <a:rPr lang="es-ES" sz="2400">
                <a:ea typeface="+mn-lt"/>
                <a:cs typeface="+mn-lt"/>
              </a:rPr>
              <a:t>Luego se suma Jacobson, formando “Los Tres Amigos” e incorporando los Casos de Uso.</a:t>
            </a:r>
            <a:endParaRPr lang="es-ES">
              <a:ea typeface="+mn-lt"/>
              <a:cs typeface="+mn-lt"/>
            </a:endParaRPr>
          </a:p>
          <a:p>
            <a:pPr marL="0" indent="0">
              <a:buNone/>
            </a:pPr>
            <a:endParaRPr lang="es-ES" sz="2400"/>
          </a:p>
        </p:txBody>
      </p:sp>
    </p:spTree>
    <p:extLst>
      <p:ext uri="{BB962C8B-B14F-4D97-AF65-F5344CB8AC3E}">
        <p14:creationId xmlns:p14="http://schemas.microsoft.com/office/powerpoint/2010/main" val="2771081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36B232-8F4F-BB0C-09A5-69D5AADC65C7}"/>
              </a:ext>
            </a:extLst>
          </p:cNvPr>
          <p:cNvSpPr>
            <a:spLocks noGrp="1"/>
          </p:cNvSpPr>
          <p:nvPr>
            <p:ph type="title"/>
          </p:nvPr>
        </p:nvSpPr>
        <p:spPr/>
        <p:txBody>
          <a:bodyPr/>
          <a:lstStyle/>
          <a:p>
            <a:pPr algn="ctr"/>
            <a:r>
              <a:rPr lang="es-ES"/>
              <a:t>ORIGEN DEL MÉTODO UNIFICADO</a:t>
            </a:r>
            <a:endParaRPr lang="es-ES">
              <a:latin typeface="Rockwell Condensed"/>
            </a:endParaRPr>
          </a:p>
        </p:txBody>
      </p:sp>
      <p:sp>
        <p:nvSpPr>
          <p:cNvPr id="4" name="Marcador de contenido 3">
            <a:extLst>
              <a:ext uri="{FF2B5EF4-FFF2-40B4-BE49-F238E27FC236}">
                <a16:creationId xmlns:a16="http://schemas.microsoft.com/office/drawing/2014/main" id="{0ECCB05A-391B-1114-A2F3-6C2A2E72CDA5}"/>
              </a:ext>
            </a:extLst>
          </p:cNvPr>
          <p:cNvSpPr>
            <a:spLocks noGrp="1"/>
          </p:cNvSpPr>
          <p:nvPr>
            <p:ph sz="half" idx="2"/>
          </p:nvPr>
        </p:nvSpPr>
        <p:spPr>
          <a:xfrm>
            <a:off x="1069848" y="2096219"/>
            <a:ext cx="9470653" cy="2026632"/>
          </a:xfrm>
        </p:spPr>
        <p:txBody>
          <a:bodyPr vert="horz" lIns="91440" tIns="45720" rIns="91440" bIns="45720" rtlCol="0" anchor="t">
            <a:normAutofit/>
          </a:bodyPr>
          <a:lstStyle/>
          <a:p>
            <a:pPr marL="0" indent="0">
              <a:buNone/>
            </a:pPr>
            <a:r>
              <a:rPr lang="es-ES" sz="2400">
                <a:ea typeface="+mn-lt"/>
                <a:cs typeface="+mn-lt"/>
              </a:rPr>
              <a:t>Posteriormente, se incorpora </a:t>
            </a:r>
            <a:r>
              <a:rPr lang="es-ES" sz="2400" b="1">
                <a:ea typeface="+mn-lt"/>
                <a:cs typeface="+mn-lt"/>
              </a:rPr>
              <a:t>Ivar Jacobson</a:t>
            </a:r>
            <a:r>
              <a:rPr lang="es-ES" sz="2400">
                <a:ea typeface="+mn-lt"/>
                <a:cs typeface="+mn-lt"/>
              </a:rPr>
              <a:t>, completando el grupo conocido como </a:t>
            </a:r>
            <a:r>
              <a:rPr lang="es-ES" sz="2400" b="1">
                <a:ea typeface="+mn-lt"/>
                <a:cs typeface="+mn-lt"/>
              </a:rPr>
              <a:t>“Los Tres Amigos”</a:t>
            </a:r>
            <a:r>
              <a:rPr lang="es-ES" sz="2400">
                <a:ea typeface="+mn-lt"/>
                <a:cs typeface="+mn-lt"/>
              </a:rPr>
              <a:t>. </a:t>
            </a:r>
            <a:endParaRPr lang="en-US">
              <a:ea typeface="+mn-lt"/>
              <a:cs typeface="+mn-lt"/>
            </a:endParaRPr>
          </a:p>
          <a:p>
            <a:pPr marL="0" indent="0">
              <a:buNone/>
            </a:pPr>
            <a:r>
              <a:rPr lang="es-ES" sz="2400">
                <a:ea typeface="+mn-lt"/>
                <a:cs typeface="+mn-lt"/>
              </a:rPr>
              <a:t>Su contribución principal fue la integración de los </a:t>
            </a:r>
            <a:r>
              <a:rPr lang="es-ES" sz="2400" b="1">
                <a:ea typeface="+mn-lt"/>
                <a:cs typeface="+mn-lt"/>
              </a:rPr>
              <a:t>Casos de Uso</a:t>
            </a:r>
            <a:r>
              <a:rPr lang="es-ES" sz="2400">
                <a:ea typeface="+mn-lt"/>
                <a:cs typeface="+mn-lt"/>
              </a:rPr>
              <a:t> dentro del enfoque unificado, ampliando su alcance hacia la captura de requisitos y la interacción con el usuario.</a:t>
            </a:r>
            <a:endParaRPr lang="en-US"/>
          </a:p>
        </p:txBody>
      </p:sp>
    </p:spTree>
    <p:extLst>
      <p:ext uri="{BB962C8B-B14F-4D97-AF65-F5344CB8AC3E}">
        <p14:creationId xmlns:p14="http://schemas.microsoft.com/office/powerpoint/2010/main" val="4136103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9351D3-9F25-3E3C-21D4-C320634F8C0F}"/>
              </a:ext>
            </a:extLst>
          </p:cNvPr>
          <p:cNvSpPr>
            <a:spLocks noGrp="1"/>
          </p:cNvSpPr>
          <p:nvPr>
            <p:ph type="title"/>
          </p:nvPr>
        </p:nvSpPr>
        <p:spPr/>
        <p:txBody>
          <a:bodyPr/>
          <a:lstStyle/>
          <a:p>
            <a:r>
              <a:rPr lang="es-ES"/>
              <a:t>NACIMIENTO DE UML</a:t>
            </a:r>
          </a:p>
        </p:txBody>
      </p:sp>
      <p:sp>
        <p:nvSpPr>
          <p:cNvPr id="4" name="Marcador de contenido 3">
            <a:extLst>
              <a:ext uri="{FF2B5EF4-FFF2-40B4-BE49-F238E27FC236}">
                <a16:creationId xmlns:a16="http://schemas.microsoft.com/office/drawing/2014/main" id="{3250F779-3903-1C3B-CF99-68F59772C29C}"/>
              </a:ext>
            </a:extLst>
          </p:cNvPr>
          <p:cNvSpPr>
            <a:spLocks noGrp="1"/>
          </p:cNvSpPr>
          <p:nvPr>
            <p:ph sz="half" idx="2"/>
          </p:nvPr>
        </p:nvSpPr>
        <p:spPr>
          <a:xfrm>
            <a:off x="1069848" y="1872343"/>
            <a:ext cx="9862094" cy="4162697"/>
          </a:xfrm>
        </p:spPr>
        <p:txBody>
          <a:bodyPr vert="horz" lIns="91440" tIns="45720" rIns="91440" bIns="45720" rtlCol="0" anchor="t">
            <a:normAutofit/>
          </a:bodyPr>
          <a:lstStyle/>
          <a:p>
            <a:pPr marL="0" indent="0">
              <a:buNone/>
            </a:pPr>
            <a:r>
              <a:rPr lang="es-ES" sz="2400"/>
              <a:t>En 1996, el método evoluciona y cambia su denominación </a:t>
            </a:r>
            <a:endParaRPr lang="en-US"/>
          </a:p>
          <a:p>
            <a:pPr marL="0" indent="0">
              <a:buNone/>
            </a:pPr>
            <a:r>
              <a:rPr lang="es-ES" sz="2400" b="1"/>
              <a:t>UML</a:t>
            </a:r>
            <a:r>
              <a:rPr lang="es-ES" sz="2400" b="1">
                <a:ea typeface="+mn-lt"/>
                <a:cs typeface="+mn-lt"/>
              </a:rPr>
              <a:t> (</a:t>
            </a:r>
            <a:r>
              <a:rPr lang="es-ES" sz="2400" b="1" err="1">
                <a:ea typeface="+mn-lt"/>
                <a:cs typeface="+mn-lt"/>
              </a:rPr>
              <a:t>Unified</a:t>
            </a:r>
            <a:r>
              <a:rPr lang="es-ES" sz="2400" b="1">
                <a:ea typeface="+mn-lt"/>
                <a:cs typeface="+mn-lt"/>
              </a:rPr>
              <a:t> </a:t>
            </a:r>
            <a:r>
              <a:rPr lang="es-ES" sz="2400" b="1" err="1">
                <a:ea typeface="+mn-lt"/>
                <a:cs typeface="+mn-lt"/>
              </a:rPr>
              <a:t>Modeling</a:t>
            </a:r>
            <a:r>
              <a:rPr lang="es-ES" sz="2400" b="1">
                <a:ea typeface="+mn-lt"/>
                <a:cs typeface="+mn-lt"/>
              </a:rPr>
              <a:t> </a:t>
            </a:r>
            <a:r>
              <a:rPr lang="es-ES" sz="2400" b="1" err="1">
                <a:ea typeface="+mn-lt"/>
                <a:cs typeface="+mn-lt"/>
              </a:rPr>
              <a:t>Language</a:t>
            </a:r>
            <a:r>
              <a:rPr lang="es-ES" sz="2400" b="1">
                <a:ea typeface="+mn-lt"/>
                <a:cs typeface="+mn-lt"/>
              </a:rPr>
              <a:t>)</a:t>
            </a:r>
            <a:r>
              <a:rPr lang="es-ES" sz="2400">
                <a:ea typeface="+mn-lt"/>
                <a:cs typeface="+mn-lt"/>
              </a:rPr>
              <a:t>, reflejando su transición desde una metodología hacia un lenguaje de modelado independiente.</a:t>
            </a:r>
            <a:endParaRPr lang="es-ES"/>
          </a:p>
          <a:p>
            <a:pPr marL="0" indent="0">
              <a:buNone/>
            </a:pPr>
            <a:r>
              <a:rPr lang="es-ES" sz="2400">
                <a:ea typeface="+mn-lt"/>
                <a:cs typeface="+mn-lt"/>
              </a:rPr>
              <a:t>En esta etapa se desarrollan las versiones preliminares:</a:t>
            </a:r>
          </a:p>
          <a:p>
            <a:pPr>
              <a:buClr>
                <a:srgbClr val="9E3611"/>
              </a:buClr>
            </a:pPr>
            <a:r>
              <a:rPr lang="es-ES" sz="2400" b="1">
                <a:ea typeface="+mn-lt"/>
                <a:cs typeface="+mn-lt"/>
              </a:rPr>
              <a:t>UML 0.9</a:t>
            </a:r>
          </a:p>
          <a:p>
            <a:pPr>
              <a:buClr>
                <a:srgbClr val="9E3611"/>
              </a:buClr>
            </a:pPr>
            <a:r>
              <a:rPr lang="es-ES" sz="2400" b="1">
                <a:ea typeface="+mn-lt"/>
                <a:cs typeface="+mn-lt"/>
              </a:rPr>
              <a:t>UML 0.91</a:t>
            </a:r>
          </a:p>
          <a:p>
            <a:pPr marL="0" indent="0">
              <a:buNone/>
            </a:pPr>
            <a:r>
              <a:rPr lang="es-ES" sz="2400">
                <a:ea typeface="+mn-lt"/>
                <a:cs typeface="+mn-lt"/>
              </a:rPr>
              <a:t>Estas versiones representan borradores que buscan consolidar una base común antes de su estandarización formal.</a:t>
            </a:r>
            <a:br>
              <a:rPr lang="en-US"/>
            </a:br>
            <a:endParaRPr lang="en-US"/>
          </a:p>
        </p:txBody>
      </p:sp>
    </p:spTree>
    <p:extLst>
      <p:ext uri="{BB962C8B-B14F-4D97-AF65-F5344CB8AC3E}">
        <p14:creationId xmlns:p14="http://schemas.microsoft.com/office/powerpoint/2010/main" val="3386523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87070F-B3D2-5140-8485-2FB241B2D4F0}"/>
              </a:ext>
            </a:extLst>
          </p:cNvPr>
          <p:cNvSpPr>
            <a:spLocks noGrp="1"/>
          </p:cNvSpPr>
          <p:nvPr>
            <p:ph type="title"/>
          </p:nvPr>
        </p:nvSpPr>
        <p:spPr>
          <a:xfrm>
            <a:off x="1069848" y="3846"/>
            <a:ext cx="10058400" cy="1527702"/>
          </a:xfrm>
        </p:spPr>
        <p:txBody>
          <a:bodyPr>
            <a:normAutofit/>
          </a:bodyPr>
          <a:lstStyle/>
          <a:p>
            <a:r>
              <a:rPr lang="es-ES" sz="4400"/>
              <a:t>CARACTERÍSTICAS DE LAS VERSIONES 0.9 Y 0.91</a:t>
            </a:r>
          </a:p>
        </p:txBody>
      </p:sp>
      <p:sp>
        <p:nvSpPr>
          <p:cNvPr id="4" name="Marcador de contenido 3">
            <a:extLst>
              <a:ext uri="{FF2B5EF4-FFF2-40B4-BE49-F238E27FC236}">
                <a16:creationId xmlns:a16="http://schemas.microsoft.com/office/drawing/2014/main" id="{50A3C739-3B4A-2F50-188B-41F17CD4492B}"/>
              </a:ext>
            </a:extLst>
          </p:cNvPr>
          <p:cNvSpPr>
            <a:spLocks noGrp="1"/>
          </p:cNvSpPr>
          <p:nvPr>
            <p:ph sz="half" idx="2"/>
          </p:nvPr>
        </p:nvSpPr>
        <p:spPr>
          <a:xfrm>
            <a:off x="42381" y="1318986"/>
            <a:ext cx="11424775" cy="4083792"/>
          </a:xfrm>
        </p:spPr>
        <p:txBody>
          <a:bodyPr vert="horz" lIns="91440" tIns="45720" rIns="91440" bIns="45720" rtlCol="0" anchor="t">
            <a:noAutofit/>
          </a:bodyPr>
          <a:lstStyle/>
          <a:p>
            <a:pPr marL="0" indent="0">
              <a:buNone/>
            </a:pPr>
            <a:r>
              <a:rPr lang="es-ES" sz="2400">
                <a:latin typeface="Arial"/>
                <a:ea typeface="+mn-lt"/>
                <a:cs typeface="Arial"/>
              </a:rPr>
              <a:t>Características principales:</a:t>
            </a:r>
            <a:endParaRPr lang="en-US" sz="2400">
              <a:latin typeface="Arial"/>
              <a:cs typeface="Arial"/>
            </a:endParaRPr>
          </a:p>
          <a:p>
            <a:pPr>
              <a:buClr>
                <a:srgbClr val="9E3611"/>
              </a:buClr>
            </a:pPr>
            <a:r>
              <a:rPr lang="es-ES" sz="2400">
                <a:latin typeface="Arial"/>
                <a:ea typeface="+mn-lt"/>
                <a:cs typeface="Arial"/>
              </a:rPr>
              <a:t>Son versiones </a:t>
            </a:r>
            <a:r>
              <a:rPr lang="es-ES" sz="2400" b="1">
                <a:latin typeface="Arial"/>
                <a:ea typeface="+mn-lt"/>
                <a:cs typeface="Arial"/>
              </a:rPr>
              <a:t>borrador (</a:t>
            </a:r>
            <a:r>
              <a:rPr lang="es-ES" sz="2400" b="1" err="1">
                <a:latin typeface="Arial"/>
                <a:ea typeface="+mn-lt"/>
                <a:cs typeface="Arial"/>
              </a:rPr>
              <a:t>pre-estándar</a:t>
            </a:r>
            <a:r>
              <a:rPr lang="es-ES" sz="2400" b="1">
                <a:latin typeface="Arial"/>
                <a:ea typeface="+mn-lt"/>
                <a:cs typeface="Arial"/>
              </a:rPr>
              <a:t>)</a:t>
            </a:r>
            <a:r>
              <a:rPr lang="es-ES" sz="2400">
                <a:latin typeface="Arial"/>
                <a:ea typeface="+mn-lt"/>
                <a:cs typeface="Arial"/>
              </a:rPr>
              <a:t>.</a:t>
            </a:r>
            <a:endParaRPr lang="es-ES" sz="2400">
              <a:latin typeface="Arial"/>
              <a:cs typeface="Arial"/>
            </a:endParaRPr>
          </a:p>
          <a:p>
            <a:pPr>
              <a:buClr>
                <a:srgbClr val="9E3611"/>
              </a:buClr>
            </a:pPr>
            <a:r>
              <a:rPr lang="es-ES" sz="2400">
                <a:latin typeface="Arial"/>
                <a:ea typeface="+mn-lt"/>
                <a:cs typeface="Arial"/>
              </a:rPr>
              <a:t>Buscan unificar la </a:t>
            </a:r>
            <a:r>
              <a:rPr lang="es-ES" sz="2400" b="1">
                <a:latin typeface="Arial"/>
                <a:ea typeface="+mn-lt"/>
                <a:cs typeface="Arial"/>
              </a:rPr>
              <a:t>notación gráfica</a:t>
            </a:r>
            <a:r>
              <a:rPr lang="es-ES" sz="2400">
                <a:latin typeface="Arial"/>
                <a:ea typeface="+mn-lt"/>
                <a:cs typeface="Arial"/>
              </a:rPr>
              <a:t>.</a:t>
            </a:r>
            <a:endParaRPr lang="es-ES" sz="2400">
              <a:latin typeface="Arial"/>
              <a:cs typeface="Arial"/>
            </a:endParaRPr>
          </a:p>
          <a:p>
            <a:pPr>
              <a:buClr>
                <a:srgbClr val="9E3611"/>
              </a:buClr>
            </a:pPr>
            <a:r>
              <a:rPr lang="es-ES" sz="2400">
                <a:latin typeface="Arial"/>
                <a:ea typeface="+mn-lt"/>
                <a:cs typeface="Arial"/>
              </a:rPr>
              <a:t>Definen una base común para representar:</a:t>
            </a:r>
            <a:endParaRPr lang="es-ES" sz="2400">
              <a:latin typeface="Arial"/>
              <a:cs typeface="Arial"/>
            </a:endParaRPr>
          </a:p>
          <a:p>
            <a:pPr lvl="1" indent="0">
              <a:buClr>
                <a:srgbClr val="9E3611"/>
              </a:buClr>
              <a:buNone/>
            </a:pPr>
            <a:r>
              <a:rPr lang="es-ES" sz="2400">
                <a:latin typeface="Arial"/>
                <a:ea typeface="+mn-lt"/>
                <a:cs typeface="Arial"/>
              </a:rPr>
              <a:t> Diagramas estructurales (</a:t>
            </a:r>
            <a:r>
              <a:rPr lang="es-ES" sz="2400" err="1">
                <a:latin typeface="Arial"/>
                <a:ea typeface="+mn-lt"/>
                <a:cs typeface="Arial"/>
              </a:rPr>
              <a:t>ej</a:t>
            </a:r>
            <a:r>
              <a:rPr lang="es-ES" sz="2400">
                <a:latin typeface="Arial"/>
                <a:ea typeface="+mn-lt"/>
                <a:cs typeface="Arial"/>
              </a:rPr>
              <a:t>: clases).</a:t>
            </a:r>
            <a:endParaRPr lang="es-ES" sz="2400">
              <a:latin typeface="Arial"/>
              <a:cs typeface="Arial"/>
            </a:endParaRPr>
          </a:p>
          <a:p>
            <a:pPr lvl="1" indent="0">
              <a:buClr>
                <a:srgbClr val="9E3611"/>
              </a:buClr>
              <a:buNone/>
            </a:pPr>
            <a:r>
              <a:rPr lang="es-ES" sz="2400">
                <a:latin typeface="Arial"/>
                <a:ea typeface="+mn-lt"/>
                <a:cs typeface="Arial"/>
              </a:rPr>
              <a:t> Diagramas de comportamiento.</a:t>
            </a:r>
            <a:endParaRPr lang="es-ES" sz="2400">
              <a:latin typeface="Arial"/>
              <a:cs typeface="Arial"/>
            </a:endParaRPr>
          </a:p>
          <a:p>
            <a:pPr>
              <a:buClr>
                <a:srgbClr val="9E3611"/>
              </a:buClr>
            </a:pPr>
            <a:r>
              <a:rPr lang="es-ES" sz="2400">
                <a:latin typeface="Arial"/>
                <a:ea typeface="+mn-lt"/>
                <a:cs typeface="Arial"/>
              </a:rPr>
              <a:t>Introducen un </a:t>
            </a:r>
            <a:r>
              <a:rPr lang="es-ES" sz="2400" b="1">
                <a:latin typeface="Arial"/>
                <a:ea typeface="+mn-lt"/>
                <a:cs typeface="Arial"/>
              </a:rPr>
              <a:t>metamodelo inicial</a:t>
            </a:r>
            <a:r>
              <a:rPr lang="es-ES" sz="2400">
                <a:latin typeface="Arial"/>
                <a:ea typeface="+mn-lt"/>
                <a:cs typeface="Arial"/>
              </a:rPr>
              <a:t>.</a:t>
            </a:r>
            <a:endParaRPr lang="es-ES" sz="2400">
              <a:latin typeface="Arial"/>
              <a:cs typeface="Arial"/>
            </a:endParaRPr>
          </a:p>
          <a:p>
            <a:pPr>
              <a:buClr>
                <a:srgbClr val="9E3611"/>
              </a:buClr>
            </a:pPr>
            <a:r>
              <a:rPr lang="es-ES" sz="2400">
                <a:latin typeface="Arial"/>
                <a:ea typeface="+mn-lt"/>
                <a:cs typeface="Arial"/>
              </a:rPr>
              <a:t>Establecen reglas sintácticas y semánticas básicas.</a:t>
            </a:r>
            <a:endParaRPr lang="es-ES" sz="2400">
              <a:latin typeface="Arial"/>
              <a:cs typeface="Arial"/>
            </a:endParaRPr>
          </a:p>
          <a:p>
            <a:pPr indent="0">
              <a:buNone/>
            </a:pPr>
            <a:r>
              <a:rPr lang="es-ES" sz="2400">
                <a:latin typeface="Arial"/>
                <a:ea typeface="+mn-lt"/>
                <a:cs typeface="Arial"/>
              </a:rPr>
              <a:t>Objetivo central:</a:t>
            </a:r>
            <a:endParaRPr lang="es-ES" sz="2400">
              <a:latin typeface="Arial"/>
              <a:cs typeface="Arial"/>
            </a:endParaRPr>
          </a:p>
          <a:p>
            <a:pPr>
              <a:buClr>
                <a:srgbClr val="9E3611"/>
              </a:buClr>
            </a:pPr>
            <a:r>
              <a:rPr lang="es-ES" sz="2400">
                <a:latin typeface="Arial"/>
                <a:ea typeface="+mn-lt"/>
                <a:cs typeface="Arial"/>
              </a:rPr>
              <a:t>Que los modelos sean </a:t>
            </a:r>
            <a:r>
              <a:rPr lang="es-ES" sz="2400" b="1">
                <a:latin typeface="Arial"/>
                <a:ea typeface="+mn-lt"/>
                <a:cs typeface="Arial"/>
              </a:rPr>
              <a:t>consistentes y entendibles independientemente del método previo</a:t>
            </a:r>
            <a:r>
              <a:rPr lang="es-ES" sz="2400">
                <a:latin typeface="Arial"/>
                <a:ea typeface="+mn-lt"/>
                <a:cs typeface="Arial"/>
              </a:rPr>
              <a:t>.</a:t>
            </a:r>
            <a:endParaRPr lang="es-ES" sz="2400">
              <a:latin typeface="Arial"/>
              <a:cs typeface="Arial"/>
            </a:endParaRPr>
          </a:p>
          <a:p>
            <a:pPr>
              <a:buNone/>
            </a:pPr>
            <a:endParaRPr lang="es-ES" sz="4400"/>
          </a:p>
          <a:p>
            <a:pPr marL="0" indent="0">
              <a:buNone/>
            </a:pPr>
            <a:endParaRPr lang="es-ES" sz="4400"/>
          </a:p>
        </p:txBody>
      </p:sp>
    </p:spTree>
    <p:extLst>
      <p:ext uri="{BB962C8B-B14F-4D97-AF65-F5344CB8AC3E}">
        <p14:creationId xmlns:p14="http://schemas.microsoft.com/office/powerpoint/2010/main" val="206637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001DFCAA-AFEB-A4C4-559E-92ACA5235945}"/>
              </a:ext>
            </a:extLst>
          </p:cNvPr>
          <p:cNvSpPr>
            <a:spLocks noGrp="1"/>
          </p:cNvSpPr>
          <p:nvPr>
            <p:ph sz="quarter" idx="4"/>
          </p:nvPr>
        </p:nvSpPr>
        <p:spPr>
          <a:xfrm>
            <a:off x="353356" y="1711151"/>
            <a:ext cx="10061665" cy="2983411"/>
          </a:xfrm>
        </p:spPr>
        <p:txBody>
          <a:bodyPr vert="horz" lIns="91440" tIns="45720" rIns="91440" bIns="45720" rtlCol="0" anchor="t">
            <a:normAutofit lnSpcReduction="10000"/>
          </a:bodyPr>
          <a:lstStyle/>
          <a:p>
            <a:pPr marL="0" indent="0">
              <a:buNone/>
            </a:pPr>
            <a:r>
              <a:rPr lang="es-ES">
                <a:ea typeface="+mn-lt"/>
                <a:cs typeface="+mn-lt"/>
              </a:rPr>
              <a:t>Las versiones 0.9 y 0.91 fueron presentadas a la industria del software con el objetivo de obtener validación práctica.</a:t>
            </a:r>
            <a:endParaRPr lang="es-ES"/>
          </a:p>
          <a:p>
            <a:pPr marL="0" indent="0">
              <a:buClr>
                <a:srgbClr val="9E3611"/>
              </a:buClr>
              <a:buNone/>
            </a:pPr>
            <a:r>
              <a:rPr lang="es-ES">
                <a:ea typeface="+mn-lt"/>
                <a:cs typeface="+mn-lt"/>
              </a:rPr>
              <a:t>Empresas líderes como:</a:t>
            </a:r>
            <a:endParaRPr lang="es-ES"/>
          </a:p>
          <a:p>
            <a:pPr>
              <a:buClr>
                <a:srgbClr val="9E3611"/>
              </a:buClr>
            </a:pPr>
            <a:r>
              <a:rPr lang="es-ES">
                <a:ea typeface="+mn-lt"/>
                <a:cs typeface="+mn-lt"/>
              </a:rPr>
              <a:t>Microsoft</a:t>
            </a:r>
            <a:endParaRPr lang="es-ES"/>
          </a:p>
          <a:p>
            <a:pPr>
              <a:buClr>
                <a:srgbClr val="9E3611"/>
              </a:buClr>
            </a:pPr>
            <a:r>
              <a:rPr lang="es-ES">
                <a:ea typeface="+mn-lt"/>
                <a:cs typeface="+mn-lt"/>
              </a:rPr>
              <a:t>Oracle</a:t>
            </a:r>
            <a:endParaRPr lang="es-ES"/>
          </a:p>
          <a:p>
            <a:pPr>
              <a:buClr>
                <a:srgbClr val="9E3611"/>
              </a:buClr>
            </a:pPr>
            <a:r>
              <a:rPr lang="es-ES">
                <a:ea typeface="+mn-lt"/>
                <a:cs typeface="+mn-lt"/>
              </a:rPr>
              <a:t>IBM</a:t>
            </a:r>
            <a:endParaRPr lang="es-ES"/>
          </a:p>
          <a:p>
            <a:pPr marL="0" indent="0">
              <a:buClr>
                <a:srgbClr val="9E3611"/>
              </a:buClr>
              <a:buNone/>
            </a:pPr>
            <a:r>
              <a:rPr lang="es-ES">
                <a:ea typeface="+mn-lt"/>
                <a:cs typeface="+mn-lt"/>
              </a:rPr>
              <a:t>participaron en el proceso de evaluación, aportando </a:t>
            </a:r>
            <a:r>
              <a:rPr lang="es-ES" b="1" err="1">
                <a:ea typeface="+mn-lt"/>
                <a:cs typeface="+mn-lt"/>
              </a:rPr>
              <a:t>feedback</a:t>
            </a:r>
            <a:r>
              <a:rPr lang="es-ES" b="1">
                <a:ea typeface="+mn-lt"/>
                <a:cs typeface="+mn-lt"/>
              </a:rPr>
              <a:t> técnico basado en experiencias reales</a:t>
            </a:r>
            <a:r>
              <a:rPr lang="es-ES">
                <a:ea typeface="+mn-lt"/>
                <a:cs typeface="+mn-lt"/>
              </a:rPr>
              <a:t>.</a:t>
            </a:r>
            <a:endParaRPr lang="es-ES"/>
          </a:p>
        </p:txBody>
      </p:sp>
      <p:sp>
        <p:nvSpPr>
          <p:cNvPr id="8" name="Título 1">
            <a:extLst>
              <a:ext uri="{FF2B5EF4-FFF2-40B4-BE49-F238E27FC236}">
                <a16:creationId xmlns:a16="http://schemas.microsoft.com/office/drawing/2014/main" id="{E622E4A4-8F30-32DE-A81D-FC2B8C2B06E6}"/>
              </a:ext>
            </a:extLst>
          </p:cNvPr>
          <p:cNvSpPr>
            <a:spLocks noGrp="1"/>
          </p:cNvSpPr>
          <p:nvPr>
            <p:ph type="title"/>
          </p:nvPr>
        </p:nvSpPr>
        <p:spPr>
          <a:xfrm>
            <a:off x="619765" y="169226"/>
            <a:ext cx="10058400" cy="1527702"/>
          </a:xfrm>
        </p:spPr>
        <p:txBody>
          <a:bodyPr>
            <a:normAutofit/>
          </a:bodyPr>
          <a:lstStyle/>
          <a:p>
            <a:r>
              <a:rPr lang="es-ES" sz="4400"/>
              <a:t>VALIZACIÓN INICIAL Y RETROALIMENTACIÓN INDUSTRIAL</a:t>
            </a:r>
          </a:p>
        </p:txBody>
      </p:sp>
    </p:spTree>
    <p:extLst>
      <p:ext uri="{BB962C8B-B14F-4D97-AF65-F5344CB8AC3E}">
        <p14:creationId xmlns:p14="http://schemas.microsoft.com/office/powerpoint/2010/main" val="2291455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687110-C374-ABDB-FCEF-293CC696515D}"/>
              </a:ext>
            </a:extLst>
          </p:cNvPr>
          <p:cNvSpPr>
            <a:spLocks noGrp="1"/>
          </p:cNvSpPr>
          <p:nvPr>
            <p:ph type="title"/>
          </p:nvPr>
        </p:nvSpPr>
        <p:spPr/>
        <p:txBody>
          <a:bodyPr/>
          <a:lstStyle/>
          <a:p>
            <a:r>
              <a:rPr lang="es-ES"/>
              <a:t>La estandarización y la Serie 1.x (1997-2003)</a:t>
            </a:r>
            <a:endParaRPr lang="es-ES">
              <a:latin typeface="Rockwell Condensed"/>
            </a:endParaRPr>
          </a:p>
        </p:txBody>
      </p:sp>
      <p:sp>
        <p:nvSpPr>
          <p:cNvPr id="3" name="Marcador de texto 2">
            <a:extLst>
              <a:ext uri="{FF2B5EF4-FFF2-40B4-BE49-F238E27FC236}">
                <a16:creationId xmlns:a16="http://schemas.microsoft.com/office/drawing/2014/main" id="{6A32B24C-8340-94C3-6485-D3CE49654AD2}"/>
              </a:ext>
            </a:extLst>
          </p:cNvPr>
          <p:cNvSpPr>
            <a:spLocks noGrp="1"/>
          </p:cNvSpPr>
          <p:nvPr>
            <p:ph type="body" idx="1"/>
          </p:nvPr>
        </p:nvSpPr>
        <p:spPr/>
        <p:txBody>
          <a:bodyPr/>
          <a:lstStyle/>
          <a:p>
            <a:r>
              <a:rPr lang="es-ES"/>
              <a:t>La Formalización (UML 1.0 y 1.1)</a:t>
            </a:r>
          </a:p>
        </p:txBody>
      </p:sp>
      <p:sp>
        <p:nvSpPr>
          <p:cNvPr id="4" name="Marcador de contenido 3">
            <a:extLst>
              <a:ext uri="{FF2B5EF4-FFF2-40B4-BE49-F238E27FC236}">
                <a16:creationId xmlns:a16="http://schemas.microsoft.com/office/drawing/2014/main" id="{FE19C82C-8CE1-A1AB-CA1C-3F4EE3B8BBEB}"/>
              </a:ext>
            </a:extLst>
          </p:cNvPr>
          <p:cNvSpPr>
            <a:spLocks noGrp="1"/>
          </p:cNvSpPr>
          <p:nvPr>
            <p:ph sz="half" idx="2"/>
          </p:nvPr>
        </p:nvSpPr>
        <p:spPr>
          <a:xfrm>
            <a:off x="1069848" y="2688773"/>
            <a:ext cx="10297522" cy="3917767"/>
          </a:xfrm>
        </p:spPr>
        <p:txBody>
          <a:bodyPr vert="horz" lIns="91440" tIns="45720" rIns="91440" bIns="45720" rtlCol="0" anchor="t">
            <a:normAutofit/>
          </a:bodyPr>
          <a:lstStyle/>
          <a:p>
            <a:r>
              <a:rPr lang="es-ES"/>
              <a:t>Crisis de comunicación genera un pedido para un </a:t>
            </a:r>
            <a:r>
              <a:rPr lang="es-ES" err="1"/>
              <a:t>estandar</a:t>
            </a:r>
            <a:r>
              <a:rPr lang="es-ES"/>
              <a:t> de modelado. </a:t>
            </a:r>
          </a:p>
          <a:p>
            <a:pPr>
              <a:buClr>
                <a:srgbClr val="9E3611"/>
              </a:buClr>
            </a:pPr>
            <a:r>
              <a:rPr lang="es-ES"/>
              <a:t>Cada autor priorizaba un aspecto diferente:</a:t>
            </a:r>
          </a:p>
          <a:p>
            <a:pPr lvl="1">
              <a:spcAft>
                <a:spcPts val="0"/>
              </a:spcAft>
              <a:buClr>
                <a:srgbClr val="9E3611"/>
              </a:buClr>
              <a:buFont typeface="Courier New" pitchFamily="2" charset="2"/>
              <a:buChar char="o"/>
            </a:pPr>
            <a:r>
              <a:rPr lang="es-ES"/>
              <a:t>Datos</a:t>
            </a:r>
          </a:p>
          <a:p>
            <a:pPr lvl="1">
              <a:spcAft>
                <a:spcPts val="0"/>
              </a:spcAft>
              <a:buClr>
                <a:srgbClr val="9E3611"/>
              </a:buClr>
              <a:buFont typeface="Courier New" pitchFamily="2" charset="2"/>
              <a:buChar char="o"/>
            </a:pPr>
            <a:r>
              <a:rPr lang="es-ES"/>
              <a:t>Código</a:t>
            </a:r>
          </a:p>
          <a:p>
            <a:pPr lvl="1">
              <a:spcAft>
                <a:spcPts val="0"/>
              </a:spcAft>
              <a:buClr>
                <a:srgbClr val="9E3611"/>
              </a:buClr>
              <a:buFont typeface="Courier New" pitchFamily="2" charset="2"/>
              <a:buChar char="o"/>
            </a:pPr>
            <a:r>
              <a:rPr lang="es-ES"/>
              <a:t>Usuario</a:t>
            </a:r>
          </a:p>
          <a:p>
            <a:pPr>
              <a:buClr>
                <a:srgbClr val="9E3611"/>
              </a:buClr>
            </a:pPr>
            <a:r>
              <a:rPr lang="es-ES"/>
              <a:t> </a:t>
            </a:r>
            <a:r>
              <a:rPr lang="es-ES">
                <a:ea typeface="+mn-lt"/>
                <a:cs typeface="+mn-lt"/>
              </a:rPr>
              <a:t>El salto a la </a:t>
            </a:r>
            <a:r>
              <a:rPr lang="es-ES" b="1">
                <a:ea typeface="+mn-lt"/>
                <a:cs typeface="+mn-lt"/>
              </a:rPr>
              <a:t>OMG</a:t>
            </a:r>
            <a:r>
              <a:rPr lang="es-ES">
                <a:ea typeface="+mn-lt"/>
                <a:cs typeface="+mn-lt"/>
              </a:rPr>
              <a:t> permitió por primera vez en la historia, un plano de software que fuera universal.</a:t>
            </a:r>
            <a:endParaRPr lang="es-ES"/>
          </a:p>
          <a:p>
            <a:pPr>
              <a:buClr>
                <a:srgbClr val="9E3611"/>
              </a:buClr>
            </a:pPr>
            <a:endParaRPr lang="es-ES"/>
          </a:p>
        </p:txBody>
      </p:sp>
    </p:spTree>
    <p:extLst>
      <p:ext uri="{BB962C8B-B14F-4D97-AF65-F5344CB8AC3E}">
        <p14:creationId xmlns:p14="http://schemas.microsoft.com/office/powerpoint/2010/main" val="3556498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7E8401-2DD2-F72F-3924-117B2F68BB97}"/>
              </a:ext>
            </a:extLst>
          </p:cNvPr>
          <p:cNvSpPr>
            <a:spLocks noGrp="1"/>
          </p:cNvSpPr>
          <p:nvPr>
            <p:ph type="title"/>
          </p:nvPr>
        </p:nvSpPr>
        <p:spPr/>
        <p:txBody>
          <a:bodyPr/>
          <a:lstStyle/>
          <a:p>
            <a:r>
              <a:rPr lang="es-ES"/>
              <a:t>LA ESTANDARIZACIÓN Y LA SERIE 1.X (1997-2003)</a:t>
            </a:r>
          </a:p>
        </p:txBody>
      </p:sp>
      <p:sp>
        <p:nvSpPr>
          <p:cNvPr id="3" name="Marcador de texto 2">
            <a:extLst>
              <a:ext uri="{FF2B5EF4-FFF2-40B4-BE49-F238E27FC236}">
                <a16:creationId xmlns:a16="http://schemas.microsoft.com/office/drawing/2014/main" id="{13DD9C1E-B275-282D-311D-FA52EEC4BDC8}"/>
              </a:ext>
            </a:extLst>
          </p:cNvPr>
          <p:cNvSpPr>
            <a:spLocks noGrp="1"/>
          </p:cNvSpPr>
          <p:nvPr>
            <p:ph type="body" idx="1"/>
          </p:nvPr>
        </p:nvSpPr>
        <p:spPr/>
        <p:txBody>
          <a:bodyPr/>
          <a:lstStyle/>
          <a:p>
            <a:r>
              <a:rPr lang="es-ES"/>
              <a:t>La Formalización (UML 1.0 Y 1.1)</a:t>
            </a:r>
          </a:p>
        </p:txBody>
      </p:sp>
      <p:sp>
        <p:nvSpPr>
          <p:cNvPr id="4" name="Marcador de contenido 3">
            <a:extLst>
              <a:ext uri="{FF2B5EF4-FFF2-40B4-BE49-F238E27FC236}">
                <a16:creationId xmlns:a16="http://schemas.microsoft.com/office/drawing/2014/main" id="{2B1759E8-510A-EA11-364A-3A49FF67B2F6}"/>
              </a:ext>
            </a:extLst>
          </p:cNvPr>
          <p:cNvSpPr>
            <a:spLocks noGrp="1"/>
          </p:cNvSpPr>
          <p:nvPr>
            <p:ph sz="half" idx="2"/>
          </p:nvPr>
        </p:nvSpPr>
        <p:spPr>
          <a:xfrm>
            <a:off x="1069848" y="2543630"/>
            <a:ext cx="10061666" cy="3700052"/>
          </a:xfrm>
        </p:spPr>
        <p:txBody>
          <a:bodyPr vert="horz" lIns="91440" tIns="45720" rIns="91440" bIns="45720" rtlCol="0" anchor="t">
            <a:noAutofit/>
          </a:bodyPr>
          <a:lstStyle/>
          <a:p>
            <a:r>
              <a:rPr lang="es-ES" sz="2400"/>
              <a:t>En noviembre de 1997, la OMG adopta UML 1.1.</a:t>
            </a:r>
          </a:p>
          <a:p>
            <a:pPr>
              <a:buClr>
                <a:srgbClr val="9E3611"/>
              </a:buClr>
            </a:pPr>
            <a:r>
              <a:rPr lang="es-ES" sz="2400"/>
              <a:t> UML deja de ser propiedad de una empresa (</a:t>
            </a:r>
            <a:r>
              <a:rPr lang="es-ES" sz="2400" err="1"/>
              <a:t>Rational</a:t>
            </a:r>
            <a:r>
              <a:rPr lang="es-ES" sz="2400"/>
              <a:t> Software) y pasa a ser un estándar abierto de la industria:</a:t>
            </a:r>
          </a:p>
          <a:p>
            <a:pPr lvl="1">
              <a:spcAft>
                <a:spcPts val="0"/>
              </a:spcAft>
              <a:buClr>
                <a:srgbClr val="9E3611"/>
              </a:buClr>
              <a:buFont typeface="Courier New" pitchFamily="2" charset="2"/>
              <a:buChar char="o"/>
            </a:pPr>
            <a:r>
              <a:rPr lang="es-ES" sz="2200"/>
              <a:t>Se definen símbolos</a:t>
            </a:r>
            <a:r>
              <a:rPr lang="es-ES" sz="2200">
                <a:ea typeface="+mn-lt"/>
                <a:cs typeface="+mn-lt"/>
              </a:rPr>
              <a:t> universales de construcción de software</a:t>
            </a:r>
          </a:p>
          <a:p>
            <a:pPr lvl="1">
              <a:spcAft>
                <a:spcPts val="0"/>
              </a:spcAft>
              <a:buClr>
                <a:srgbClr val="9E3611"/>
              </a:buClr>
              <a:buFont typeface="Courier New" pitchFamily="2" charset="2"/>
              <a:buChar char="o"/>
            </a:pPr>
            <a:r>
              <a:rPr lang="es-ES" sz="2200">
                <a:ea typeface="+mn-lt"/>
                <a:cs typeface="+mn-lt"/>
              </a:rPr>
              <a:t>Estudiantes y empresas pequeñas ahora podían acceder a tecnologías de modelado sin pagar licencias</a:t>
            </a:r>
            <a:endParaRPr lang="es-ES" sz="2200"/>
          </a:p>
          <a:p>
            <a:pPr>
              <a:buClr>
                <a:srgbClr val="9E3611"/>
              </a:buClr>
            </a:pPr>
            <a:endParaRPr lang="es-ES"/>
          </a:p>
        </p:txBody>
      </p:sp>
    </p:spTree>
    <p:extLst>
      <p:ext uri="{BB962C8B-B14F-4D97-AF65-F5344CB8AC3E}">
        <p14:creationId xmlns:p14="http://schemas.microsoft.com/office/powerpoint/2010/main" val="3918858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E25832-9A46-C1B4-B862-82BA5EEA0A55}"/>
              </a:ext>
            </a:extLst>
          </p:cNvPr>
          <p:cNvSpPr>
            <a:spLocks noGrp="1"/>
          </p:cNvSpPr>
          <p:nvPr>
            <p:ph type="title"/>
          </p:nvPr>
        </p:nvSpPr>
        <p:spPr/>
        <p:txBody>
          <a:bodyPr/>
          <a:lstStyle/>
          <a:p>
            <a:pPr algn="ctr"/>
            <a:r>
              <a:rPr lang="es-ES"/>
              <a:t>EVOLUCIÓN TÉCNICA DE LA SERIE 1.X</a:t>
            </a:r>
          </a:p>
        </p:txBody>
      </p:sp>
      <p:sp>
        <p:nvSpPr>
          <p:cNvPr id="3" name="Marcador de texto 2">
            <a:extLst>
              <a:ext uri="{FF2B5EF4-FFF2-40B4-BE49-F238E27FC236}">
                <a16:creationId xmlns:a16="http://schemas.microsoft.com/office/drawing/2014/main" id="{C129E1EC-5C03-8E32-27D6-C08033D83321}"/>
              </a:ext>
            </a:extLst>
          </p:cNvPr>
          <p:cNvSpPr>
            <a:spLocks noGrp="1"/>
          </p:cNvSpPr>
          <p:nvPr>
            <p:ph type="body" idx="1"/>
          </p:nvPr>
        </p:nvSpPr>
        <p:spPr>
          <a:xfrm>
            <a:off x="367430" y="1912557"/>
            <a:ext cx="4754880" cy="640080"/>
          </a:xfrm>
        </p:spPr>
        <p:txBody>
          <a:bodyPr>
            <a:normAutofit/>
          </a:bodyPr>
          <a:lstStyle/>
          <a:p>
            <a:pPr algn="ctr"/>
            <a:r>
              <a:rPr lang="es-ES" sz="2400"/>
              <a:t>UML 1.3 (2000)</a:t>
            </a:r>
          </a:p>
        </p:txBody>
      </p:sp>
      <p:sp>
        <p:nvSpPr>
          <p:cNvPr id="4" name="Marcador de contenido 3">
            <a:extLst>
              <a:ext uri="{FF2B5EF4-FFF2-40B4-BE49-F238E27FC236}">
                <a16:creationId xmlns:a16="http://schemas.microsoft.com/office/drawing/2014/main" id="{1ABFE76A-C261-04AC-FD08-9EC1D6B5D369}"/>
              </a:ext>
            </a:extLst>
          </p:cNvPr>
          <p:cNvSpPr>
            <a:spLocks noGrp="1"/>
          </p:cNvSpPr>
          <p:nvPr>
            <p:ph sz="half" idx="2"/>
          </p:nvPr>
        </p:nvSpPr>
        <p:spPr>
          <a:xfrm>
            <a:off x="371348" y="2688771"/>
            <a:ext cx="4754880" cy="3291840"/>
          </a:xfrm>
        </p:spPr>
        <p:txBody>
          <a:bodyPr vert="horz" lIns="91440" tIns="45720" rIns="91440" bIns="45720" rtlCol="0" anchor="t">
            <a:noAutofit/>
          </a:bodyPr>
          <a:lstStyle/>
          <a:p>
            <a:r>
              <a:rPr lang="es-ES" b="1">
                <a:ea typeface="+mn-lt"/>
                <a:cs typeface="+mn-lt"/>
              </a:rPr>
              <a:t>Limpieza de la semántica</a:t>
            </a:r>
            <a:r>
              <a:rPr lang="es-ES">
                <a:ea typeface="+mn-lt"/>
                <a:cs typeface="+mn-lt"/>
              </a:rPr>
              <a:t>. Se definió con precisión el "Metamodelo": </a:t>
            </a:r>
          </a:p>
          <a:p>
            <a:pPr lvl="1">
              <a:spcAft>
                <a:spcPts val="0"/>
              </a:spcAft>
              <a:buClr>
                <a:srgbClr val="9E3611"/>
              </a:buClr>
              <a:buFont typeface="Courier New" pitchFamily="2" charset="2"/>
              <a:buChar char="o"/>
            </a:pPr>
            <a:r>
              <a:rPr lang="es-ES" sz="2000">
                <a:ea typeface="+mn-lt"/>
                <a:cs typeface="+mn-lt"/>
              </a:rPr>
              <a:t>clase</a:t>
            </a:r>
          </a:p>
          <a:p>
            <a:pPr lvl="1">
              <a:spcAft>
                <a:spcPts val="0"/>
              </a:spcAft>
              <a:buClr>
                <a:srgbClr val="9E3611"/>
              </a:buClr>
              <a:buFont typeface="Courier New" pitchFamily="2" charset="2"/>
              <a:buChar char="o"/>
            </a:pPr>
            <a:r>
              <a:rPr lang="es-ES" sz="2000">
                <a:ea typeface="+mn-lt"/>
                <a:cs typeface="+mn-lt"/>
              </a:rPr>
              <a:t>asociaciones </a:t>
            </a:r>
          </a:p>
          <a:p>
            <a:pPr lvl="1">
              <a:spcAft>
                <a:spcPts val="0"/>
              </a:spcAft>
              <a:buClr>
                <a:srgbClr val="9E3611"/>
              </a:buClr>
              <a:buFont typeface="Courier New" pitchFamily="2" charset="2"/>
              <a:buChar char="o"/>
            </a:pPr>
            <a:r>
              <a:rPr lang="es-ES" sz="2000">
                <a:ea typeface="+mn-lt"/>
                <a:cs typeface="+mn-lt"/>
              </a:rPr>
              <a:t>relaciones</a:t>
            </a:r>
          </a:p>
          <a:p>
            <a:pPr>
              <a:buClr>
                <a:srgbClr val="9E3611"/>
              </a:buClr>
            </a:pPr>
            <a:r>
              <a:rPr lang="es-ES" b="1">
                <a:ea typeface="+mn-lt"/>
                <a:cs typeface="+mn-lt"/>
              </a:rPr>
              <a:t>Diagramas de Objetos: se </a:t>
            </a:r>
            <a:r>
              <a:rPr lang="es-ES">
                <a:ea typeface="+mn-lt"/>
                <a:cs typeface="+mn-lt"/>
              </a:rPr>
              <a:t>separa la estructura de la instancia. </a:t>
            </a:r>
          </a:p>
          <a:p>
            <a:pPr>
              <a:buClr>
                <a:srgbClr val="9E3611"/>
              </a:buClr>
            </a:pPr>
            <a:r>
              <a:rPr lang="es-ES">
                <a:ea typeface="+mn-lt"/>
                <a:cs typeface="+mn-lt"/>
              </a:rPr>
              <a:t>Previamente las reglas de UML sobre la semántica eran ambiguas.</a:t>
            </a:r>
            <a:endParaRPr lang="es-ES"/>
          </a:p>
          <a:p>
            <a:pPr>
              <a:buClr>
                <a:srgbClr val="9E3611"/>
              </a:buClr>
            </a:pPr>
            <a:endParaRPr lang="es-ES"/>
          </a:p>
        </p:txBody>
      </p:sp>
      <p:sp>
        <p:nvSpPr>
          <p:cNvPr id="5" name="Marcador de texto 4">
            <a:extLst>
              <a:ext uri="{FF2B5EF4-FFF2-40B4-BE49-F238E27FC236}">
                <a16:creationId xmlns:a16="http://schemas.microsoft.com/office/drawing/2014/main" id="{B58A3BAF-2BD1-9259-A5C2-204E0DDD8A81}"/>
              </a:ext>
            </a:extLst>
          </p:cNvPr>
          <p:cNvSpPr>
            <a:spLocks noGrp="1"/>
          </p:cNvSpPr>
          <p:nvPr>
            <p:ph type="body" sz="quarter" idx="3"/>
          </p:nvPr>
        </p:nvSpPr>
        <p:spPr>
          <a:xfrm>
            <a:off x="6385101" y="1912557"/>
            <a:ext cx="4754880" cy="640080"/>
          </a:xfrm>
        </p:spPr>
        <p:txBody>
          <a:bodyPr>
            <a:normAutofit/>
          </a:bodyPr>
          <a:lstStyle/>
          <a:p>
            <a:pPr algn="ctr"/>
            <a:r>
              <a:rPr lang="es-ES" sz="2400"/>
              <a:t>UML 1.4 (2001)</a:t>
            </a:r>
          </a:p>
        </p:txBody>
      </p:sp>
      <p:sp>
        <p:nvSpPr>
          <p:cNvPr id="6" name="Marcador de contenido 5">
            <a:extLst>
              <a:ext uri="{FF2B5EF4-FFF2-40B4-BE49-F238E27FC236}">
                <a16:creationId xmlns:a16="http://schemas.microsoft.com/office/drawing/2014/main" id="{B1382DC5-3843-43FA-AA46-E9CB464BD2CF}"/>
              </a:ext>
            </a:extLst>
          </p:cNvPr>
          <p:cNvSpPr>
            <a:spLocks noGrp="1"/>
          </p:cNvSpPr>
          <p:nvPr>
            <p:ph sz="quarter" idx="4"/>
          </p:nvPr>
        </p:nvSpPr>
        <p:spPr>
          <a:xfrm>
            <a:off x="5935879" y="2688773"/>
            <a:ext cx="5680165" cy="3836124"/>
          </a:xfrm>
        </p:spPr>
        <p:txBody>
          <a:bodyPr vert="horz" lIns="91440" tIns="45720" rIns="91440" bIns="45720" rtlCol="0" anchor="t">
            <a:noAutofit/>
          </a:bodyPr>
          <a:lstStyle/>
          <a:p>
            <a:r>
              <a:rPr lang="es-ES"/>
              <a:t>Introdujo los Perfiles (</a:t>
            </a:r>
            <a:r>
              <a:rPr lang="es-ES" b="1" err="1"/>
              <a:t>Profiles</a:t>
            </a:r>
            <a:r>
              <a:rPr lang="es-ES"/>
              <a:t>)</a:t>
            </a:r>
          </a:p>
          <a:p>
            <a:pPr lvl="1">
              <a:spcAft>
                <a:spcPts val="0"/>
              </a:spcAft>
              <a:buClr>
                <a:srgbClr val="9E3611"/>
              </a:buClr>
              <a:buFont typeface="Courier New" pitchFamily="2" charset="2"/>
              <a:buChar char="o"/>
            </a:pPr>
            <a:r>
              <a:rPr lang="es-ES" sz="2000"/>
              <a:t>Paquetes que agrupan estereotipos: </a:t>
            </a:r>
          </a:p>
          <a:p>
            <a:pPr lvl="2">
              <a:spcAft>
                <a:spcPts val="0"/>
              </a:spcAft>
              <a:buClr>
                <a:srgbClr val="9E3611"/>
              </a:buClr>
            </a:pPr>
            <a:r>
              <a:rPr lang="es-ES" sz="2000"/>
              <a:t>&lt;&lt;interface&gt;&gt;</a:t>
            </a:r>
          </a:p>
          <a:p>
            <a:pPr lvl="2">
              <a:spcAft>
                <a:spcPts val="0"/>
              </a:spcAft>
              <a:buClr>
                <a:srgbClr val="9E3611"/>
              </a:buClr>
            </a:pPr>
            <a:r>
              <a:rPr lang="es-ES" sz="2000"/>
              <a:t>&lt;&lt;</a:t>
            </a:r>
            <a:r>
              <a:rPr lang="es-ES" sz="2000" err="1"/>
              <a:t>entity</a:t>
            </a:r>
            <a:r>
              <a:rPr lang="es-ES" sz="2000"/>
              <a:t>&gt;&gt;</a:t>
            </a:r>
          </a:p>
          <a:p>
            <a:pPr>
              <a:buClr>
                <a:srgbClr val="9E3611"/>
              </a:buClr>
            </a:pPr>
            <a:r>
              <a:rPr lang="es-ES"/>
              <a:t>UML se vuelve </a:t>
            </a:r>
            <a:r>
              <a:rPr lang="es-ES" b="1"/>
              <a:t>extensible</a:t>
            </a:r>
            <a:r>
              <a:rPr lang="es-ES"/>
              <a:t>:</a:t>
            </a:r>
          </a:p>
          <a:p>
            <a:pPr lvl="1">
              <a:spcAft>
                <a:spcPts val="0"/>
              </a:spcAft>
              <a:buClr>
                <a:srgbClr val="9E3611"/>
              </a:buClr>
              <a:buFont typeface="Courier New" pitchFamily="2" charset="2"/>
              <a:buChar char="o"/>
            </a:pPr>
            <a:r>
              <a:rPr lang="es-ES" sz="2000"/>
              <a:t>Desarrolladores</a:t>
            </a:r>
            <a:r>
              <a:rPr lang="es-ES" sz="2000">
                <a:ea typeface="+mn-lt"/>
                <a:cs typeface="+mn-lt"/>
              </a:rPr>
              <a:t> podían adaptar UML a tecnologías específicas sin romper las reglas básicas.</a:t>
            </a:r>
            <a:endParaRPr lang="es-ES" sz="2000"/>
          </a:p>
        </p:txBody>
      </p:sp>
    </p:spTree>
    <p:extLst>
      <p:ext uri="{BB962C8B-B14F-4D97-AF65-F5344CB8AC3E}">
        <p14:creationId xmlns:p14="http://schemas.microsoft.com/office/powerpoint/2010/main" val="2409548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AE0D8D-5D8B-F2B9-406C-7D15CCFD5BD1}"/>
              </a:ext>
            </a:extLst>
          </p:cNvPr>
          <p:cNvSpPr>
            <a:spLocks noGrp="1"/>
          </p:cNvSpPr>
          <p:nvPr>
            <p:ph type="title"/>
          </p:nvPr>
        </p:nvSpPr>
        <p:spPr/>
        <p:txBody>
          <a:bodyPr/>
          <a:lstStyle/>
          <a:p>
            <a:pPr algn="ctr"/>
            <a:r>
              <a:rPr lang="es-ES"/>
              <a:t>EVOLUCIÓN TÉCNICA DE LA SERIE 1.X</a:t>
            </a:r>
          </a:p>
        </p:txBody>
      </p:sp>
      <p:sp>
        <p:nvSpPr>
          <p:cNvPr id="3" name="Marcador de texto 2">
            <a:extLst>
              <a:ext uri="{FF2B5EF4-FFF2-40B4-BE49-F238E27FC236}">
                <a16:creationId xmlns:a16="http://schemas.microsoft.com/office/drawing/2014/main" id="{10E783A0-EE93-026F-C66D-86753D3A4D12}"/>
              </a:ext>
            </a:extLst>
          </p:cNvPr>
          <p:cNvSpPr>
            <a:spLocks noGrp="1"/>
          </p:cNvSpPr>
          <p:nvPr>
            <p:ph type="body" idx="1"/>
          </p:nvPr>
        </p:nvSpPr>
        <p:spPr>
          <a:xfrm>
            <a:off x="3718142" y="1891681"/>
            <a:ext cx="4754880" cy="640080"/>
          </a:xfrm>
        </p:spPr>
        <p:txBody>
          <a:bodyPr>
            <a:normAutofit/>
          </a:bodyPr>
          <a:lstStyle/>
          <a:p>
            <a:pPr algn="ctr"/>
            <a:r>
              <a:rPr lang="es-ES" sz="2400"/>
              <a:t>UML 1.5 (2003)</a:t>
            </a:r>
          </a:p>
        </p:txBody>
      </p:sp>
      <p:sp>
        <p:nvSpPr>
          <p:cNvPr id="4" name="Marcador de contenido 3">
            <a:extLst>
              <a:ext uri="{FF2B5EF4-FFF2-40B4-BE49-F238E27FC236}">
                <a16:creationId xmlns:a16="http://schemas.microsoft.com/office/drawing/2014/main" id="{6CBB4884-9696-F0F2-021E-4CD532F598F8}"/>
              </a:ext>
            </a:extLst>
          </p:cNvPr>
          <p:cNvSpPr>
            <a:spLocks noGrp="1"/>
          </p:cNvSpPr>
          <p:nvPr>
            <p:ph sz="half" idx="2"/>
          </p:nvPr>
        </p:nvSpPr>
        <p:spPr>
          <a:xfrm>
            <a:off x="1988423" y="2761841"/>
            <a:ext cx="8220165" cy="3346267"/>
          </a:xfrm>
        </p:spPr>
        <p:txBody>
          <a:bodyPr vert="horz" lIns="91440" tIns="45720" rIns="91440" bIns="45720" rtlCol="0" anchor="t">
            <a:normAutofit/>
          </a:bodyPr>
          <a:lstStyle/>
          <a:p>
            <a:r>
              <a:rPr lang="es-ES" sz="2400" b="1">
                <a:ea typeface="+mn-lt"/>
                <a:cs typeface="+mn-lt"/>
              </a:rPr>
              <a:t>Semántica de Acciones:</a:t>
            </a:r>
            <a:endParaRPr lang="es-ES" sz="2400">
              <a:ea typeface="+mn-lt"/>
              <a:cs typeface="+mn-lt"/>
            </a:endParaRPr>
          </a:p>
          <a:p>
            <a:pPr>
              <a:buClr>
                <a:srgbClr val="9E3611"/>
              </a:buClr>
            </a:pPr>
            <a:r>
              <a:rPr lang="es-ES" sz="2400">
                <a:ea typeface="+mn-lt"/>
                <a:cs typeface="+mn-lt"/>
              </a:rPr>
              <a:t>Modelar flujos lógicos complejos que antes solo se podían escribir en código</a:t>
            </a:r>
          </a:p>
          <a:p>
            <a:pPr>
              <a:buClr>
                <a:srgbClr val="9E3611"/>
              </a:buClr>
            </a:pPr>
            <a:r>
              <a:rPr lang="es-ES" sz="2400">
                <a:ea typeface="+mn-lt"/>
                <a:cs typeface="+mn-lt"/>
              </a:rPr>
              <a:t>Se introdujeron reglas para poder describir estas operaciones lógicas de mayor complejidad</a:t>
            </a:r>
          </a:p>
          <a:p>
            <a:pPr lvl="1">
              <a:spcAft>
                <a:spcPts val="0"/>
              </a:spcAft>
              <a:buClr>
                <a:srgbClr val="9E3611"/>
              </a:buClr>
              <a:buFont typeface="Courier New" pitchFamily="2" charset="2"/>
              <a:buChar char="o"/>
            </a:pPr>
            <a:r>
              <a:rPr lang="es-ES" sz="2400">
                <a:ea typeface="+mn-lt"/>
                <a:cs typeface="+mn-lt"/>
              </a:rPr>
              <a:t>lectura de atributos</a:t>
            </a:r>
          </a:p>
          <a:p>
            <a:pPr lvl="1">
              <a:spcAft>
                <a:spcPts val="0"/>
              </a:spcAft>
              <a:buClr>
                <a:srgbClr val="9E3611"/>
              </a:buClr>
              <a:buFont typeface="Courier New" pitchFamily="2" charset="2"/>
              <a:buChar char="o"/>
            </a:pPr>
            <a:r>
              <a:rPr lang="es-ES" sz="2400">
                <a:ea typeface="+mn-lt"/>
                <a:cs typeface="+mn-lt"/>
              </a:rPr>
              <a:t>creación de enlaces</a:t>
            </a:r>
          </a:p>
          <a:p>
            <a:pPr lvl="1">
              <a:spcAft>
                <a:spcPts val="0"/>
              </a:spcAft>
              <a:buClr>
                <a:srgbClr val="9E3611"/>
              </a:buClr>
              <a:buFont typeface="Courier New" pitchFamily="2" charset="2"/>
              <a:buChar char="o"/>
            </a:pPr>
            <a:r>
              <a:rPr lang="es-ES" sz="2400">
                <a:ea typeface="+mn-lt"/>
                <a:cs typeface="+mn-lt"/>
              </a:rPr>
              <a:t>invocación de comportamientos.</a:t>
            </a:r>
            <a:endParaRPr lang="es-ES" sz="2400"/>
          </a:p>
          <a:p>
            <a:pPr>
              <a:buClr>
                <a:srgbClr val="9E3611"/>
              </a:buClr>
            </a:pPr>
            <a:endParaRPr lang="es-ES"/>
          </a:p>
        </p:txBody>
      </p:sp>
    </p:spTree>
    <p:extLst>
      <p:ext uri="{BB962C8B-B14F-4D97-AF65-F5344CB8AC3E}">
        <p14:creationId xmlns:p14="http://schemas.microsoft.com/office/powerpoint/2010/main" val="72670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55EA1E-0106-AD20-2174-7C229DD7C746}"/>
              </a:ext>
            </a:extLst>
          </p:cNvPr>
          <p:cNvSpPr>
            <a:spLocks noGrp="1"/>
          </p:cNvSpPr>
          <p:nvPr>
            <p:ph type="title"/>
          </p:nvPr>
        </p:nvSpPr>
        <p:spPr/>
        <p:txBody>
          <a:bodyPr/>
          <a:lstStyle/>
          <a:p>
            <a:r>
              <a:rPr lang="es-ES"/>
              <a:t>El gran salto – </a:t>
            </a:r>
            <a:r>
              <a:rPr lang="es-ES" err="1"/>
              <a:t>uml</a:t>
            </a:r>
            <a:r>
              <a:rPr lang="es-ES"/>
              <a:t> 2.0 (2005)</a:t>
            </a:r>
          </a:p>
        </p:txBody>
      </p:sp>
      <p:sp>
        <p:nvSpPr>
          <p:cNvPr id="3" name="Marcador de texto 2">
            <a:extLst>
              <a:ext uri="{FF2B5EF4-FFF2-40B4-BE49-F238E27FC236}">
                <a16:creationId xmlns:a16="http://schemas.microsoft.com/office/drawing/2014/main" id="{8E3FFE2D-D4B5-6D75-79EF-11832673BCBD}"/>
              </a:ext>
            </a:extLst>
          </p:cNvPr>
          <p:cNvSpPr>
            <a:spLocks noGrp="1"/>
          </p:cNvSpPr>
          <p:nvPr>
            <p:ph type="body" idx="1"/>
          </p:nvPr>
        </p:nvSpPr>
        <p:spPr/>
        <p:txBody>
          <a:bodyPr/>
          <a:lstStyle/>
          <a:p>
            <a:r>
              <a:rPr lang="es-ES" sz="2800"/>
              <a:t>Reestructuración total</a:t>
            </a:r>
            <a:r>
              <a:rPr lang="es-ES"/>
              <a:t>:</a:t>
            </a:r>
            <a:endParaRPr lang="es-ES" err="1"/>
          </a:p>
        </p:txBody>
      </p:sp>
      <p:sp>
        <p:nvSpPr>
          <p:cNvPr id="4" name="Marcador de contenido 3">
            <a:extLst>
              <a:ext uri="{FF2B5EF4-FFF2-40B4-BE49-F238E27FC236}">
                <a16:creationId xmlns:a16="http://schemas.microsoft.com/office/drawing/2014/main" id="{7506C54B-B434-50C0-8A28-58361C3D8248}"/>
              </a:ext>
            </a:extLst>
          </p:cNvPr>
          <p:cNvSpPr>
            <a:spLocks noGrp="1"/>
          </p:cNvSpPr>
          <p:nvPr>
            <p:ph sz="half" idx="2"/>
          </p:nvPr>
        </p:nvSpPr>
        <p:spPr>
          <a:xfrm>
            <a:off x="1069848" y="2728823"/>
            <a:ext cx="10577708" cy="3665648"/>
          </a:xfrm>
        </p:spPr>
        <p:txBody>
          <a:bodyPr vert="horz" lIns="91440" tIns="45720" rIns="91440" bIns="45720" rtlCol="0" anchor="t">
            <a:noAutofit/>
          </a:bodyPr>
          <a:lstStyle/>
          <a:p>
            <a:pPr marL="0" indent="0">
              <a:buNone/>
            </a:pPr>
            <a:r>
              <a:rPr lang="es-ES" sz="2800"/>
              <a:t>UML 1.x se quedaba corto para sistemas distribuidos y estructuras </a:t>
            </a:r>
            <a:r>
              <a:rPr lang="es-ES" sz="2800" b="1"/>
              <a:t>masivas.</a:t>
            </a:r>
            <a:r>
              <a:rPr lang="es-ES" sz="2800"/>
              <a:t> La versión 2.0 represento el cambio más agresivo en toda la historia de UML.</a:t>
            </a:r>
          </a:p>
          <a:p>
            <a:pPr marL="0" indent="0">
              <a:buNone/>
            </a:pPr>
            <a:r>
              <a:rPr lang="es-ES" sz="2800"/>
              <a:t>Se rediseño para alinearse con la Arquitectura Dirigida por Modelos (MDA), que es un estándar  tan preciso que sirve para que tanto humanos como computadora puedan interpretar los diseños, es decir, ahora con estos nuevos diseños alineados con la MDA la computadora puede escribir código por </a:t>
            </a:r>
            <a:r>
              <a:rPr lang="es-ES" sz="2800" err="1"/>
              <a:t>si</a:t>
            </a:r>
            <a:r>
              <a:rPr lang="es-ES" sz="2800"/>
              <a:t> misma utilizando los diseños de UML 2.0</a:t>
            </a:r>
          </a:p>
        </p:txBody>
      </p:sp>
    </p:spTree>
    <p:extLst>
      <p:ext uri="{BB962C8B-B14F-4D97-AF65-F5344CB8AC3E}">
        <p14:creationId xmlns:p14="http://schemas.microsoft.com/office/powerpoint/2010/main" val="896834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E9578-B2E6-EBCF-1CC0-BFBDF94AA3CA}"/>
              </a:ext>
            </a:extLst>
          </p:cNvPr>
          <p:cNvSpPr>
            <a:spLocks noGrp="1"/>
          </p:cNvSpPr>
          <p:nvPr>
            <p:ph type="title"/>
          </p:nvPr>
        </p:nvSpPr>
        <p:spPr/>
        <p:txBody>
          <a:bodyPr/>
          <a:lstStyle/>
          <a:p>
            <a:r>
              <a:rPr lang="es-ES"/>
              <a:t>Introdujo una división en la arquitectura interna</a:t>
            </a:r>
          </a:p>
        </p:txBody>
      </p:sp>
      <p:sp>
        <p:nvSpPr>
          <p:cNvPr id="3" name="Marcador de texto 2">
            <a:extLst>
              <a:ext uri="{FF2B5EF4-FFF2-40B4-BE49-F238E27FC236}">
                <a16:creationId xmlns:a16="http://schemas.microsoft.com/office/drawing/2014/main" id="{0B011168-0258-D887-D036-551025CDADC7}"/>
              </a:ext>
            </a:extLst>
          </p:cNvPr>
          <p:cNvSpPr>
            <a:spLocks noGrp="1"/>
          </p:cNvSpPr>
          <p:nvPr>
            <p:ph type="body" idx="1"/>
          </p:nvPr>
        </p:nvSpPr>
        <p:spPr/>
        <p:txBody>
          <a:bodyPr>
            <a:normAutofit/>
          </a:bodyPr>
          <a:lstStyle/>
          <a:p>
            <a:r>
              <a:rPr lang="es-ES" sz="2400"/>
              <a:t>Infraestructura</a:t>
            </a:r>
          </a:p>
        </p:txBody>
      </p:sp>
      <p:sp>
        <p:nvSpPr>
          <p:cNvPr id="4" name="Marcador de contenido 3">
            <a:extLst>
              <a:ext uri="{FF2B5EF4-FFF2-40B4-BE49-F238E27FC236}">
                <a16:creationId xmlns:a16="http://schemas.microsoft.com/office/drawing/2014/main" id="{2C5DB041-0B36-F3CF-A032-58E104570336}"/>
              </a:ext>
            </a:extLst>
          </p:cNvPr>
          <p:cNvSpPr>
            <a:spLocks noGrp="1"/>
          </p:cNvSpPr>
          <p:nvPr>
            <p:ph sz="half" idx="2"/>
          </p:nvPr>
        </p:nvSpPr>
        <p:spPr>
          <a:xfrm>
            <a:off x="1069848" y="2700068"/>
            <a:ext cx="4754880" cy="3665651"/>
          </a:xfrm>
        </p:spPr>
        <p:txBody>
          <a:bodyPr vert="horz" lIns="91440" tIns="45720" rIns="91440" bIns="45720" rtlCol="0" anchor="t">
            <a:noAutofit/>
          </a:bodyPr>
          <a:lstStyle/>
          <a:p>
            <a:pPr marL="0" indent="0">
              <a:buNone/>
            </a:pPr>
            <a:r>
              <a:rPr lang="es-ES"/>
              <a:t>Son los cimientos que explican los conceptos más primitivos y abstractos del lenguaje como:</a:t>
            </a:r>
          </a:p>
          <a:p>
            <a:pPr>
              <a:buFont typeface="Arial" pitchFamily="2" charset="2"/>
              <a:buChar char="•"/>
            </a:pPr>
            <a:r>
              <a:rPr lang="es-ES"/>
              <a:t>¿Qué es un elemento?</a:t>
            </a:r>
          </a:p>
          <a:p>
            <a:pPr>
              <a:buClr>
                <a:srgbClr val="9E3611"/>
              </a:buClr>
              <a:buFont typeface="Arial" pitchFamily="2" charset="2"/>
              <a:buChar char="•"/>
            </a:pPr>
            <a:r>
              <a:rPr lang="es-ES"/>
              <a:t>¿Qué es un tipo?</a:t>
            </a:r>
          </a:p>
          <a:p>
            <a:pPr>
              <a:buClr>
                <a:srgbClr val="9E3611"/>
              </a:buClr>
              <a:buFont typeface="Arial" pitchFamily="2" charset="2"/>
              <a:buChar char="•"/>
            </a:pPr>
            <a:r>
              <a:rPr lang="es-ES"/>
              <a:t>¿Qué significa que algo tenga un nombre?</a:t>
            </a:r>
          </a:p>
          <a:p>
            <a:pPr marL="0" indent="0">
              <a:buClr>
                <a:srgbClr val="9E3611"/>
              </a:buClr>
              <a:buNone/>
            </a:pPr>
            <a:r>
              <a:rPr lang="es-ES"/>
              <a:t>La infraestructura siendo cimientos tan abstractos, puede ser reutilizada para otros estándares de la OMG aparte de UML como BPML o </a:t>
            </a:r>
            <a:r>
              <a:rPr lang="es-ES" err="1"/>
              <a:t>SysML</a:t>
            </a:r>
            <a:endParaRPr lang="es-ES"/>
          </a:p>
        </p:txBody>
      </p:sp>
      <p:sp>
        <p:nvSpPr>
          <p:cNvPr id="5" name="Marcador de texto 4">
            <a:extLst>
              <a:ext uri="{FF2B5EF4-FFF2-40B4-BE49-F238E27FC236}">
                <a16:creationId xmlns:a16="http://schemas.microsoft.com/office/drawing/2014/main" id="{1640416F-681F-1666-D974-217D6E946995}"/>
              </a:ext>
            </a:extLst>
          </p:cNvPr>
          <p:cNvSpPr>
            <a:spLocks noGrp="1"/>
          </p:cNvSpPr>
          <p:nvPr>
            <p:ph type="body" sz="quarter" idx="3"/>
          </p:nvPr>
        </p:nvSpPr>
        <p:spPr/>
        <p:txBody>
          <a:bodyPr>
            <a:normAutofit/>
          </a:bodyPr>
          <a:lstStyle/>
          <a:p>
            <a:r>
              <a:rPr lang="es-ES" sz="2400"/>
              <a:t>Superestructura</a:t>
            </a:r>
          </a:p>
        </p:txBody>
      </p:sp>
      <p:sp>
        <p:nvSpPr>
          <p:cNvPr id="6" name="Marcador de contenido 5">
            <a:extLst>
              <a:ext uri="{FF2B5EF4-FFF2-40B4-BE49-F238E27FC236}">
                <a16:creationId xmlns:a16="http://schemas.microsoft.com/office/drawing/2014/main" id="{21AF89F5-B627-8A82-3CB9-70B91C4ECBCA}"/>
              </a:ext>
            </a:extLst>
          </p:cNvPr>
          <p:cNvSpPr>
            <a:spLocks noGrp="1"/>
          </p:cNvSpPr>
          <p:nvPr>
            <p:ph sz="quarter" idx="4"/>
          </p:nvPr>
        </p:nvSpPr>
        <p:spPr/>
        <p:txBody>
          <a:bodyPr vert="horz" lIns="91440" tIns="45720" rIns="91440" bIns="45720" rtlCol="0" anchor="t">
            <a:normAutofit lnSpcReduction="10000"/>
          </a:bodyPr>
          <a:lstStyle/>
          <a:p>
            <a:pPr marL="0" indent="0">
              <a:buNone/>
            </a:pPr>
            <a:r>
              <a:rPr lang="es-ES"/>
              <a:t>Sería la parte más visible para el usuario como los</a:t>
            </a:r>
          </a:p>
          <a:p>
            <a:pPr>
              <a:buFont typeface="Arial" pitchFamily="2" charset="2"/>
              <a:buChar char="•"/>
            </a:pPr>
            <a:r>
              <a:rPr lang="es-ES"/>
              <a:t>Diagramas</a:t>
            </a:r>
          </a:p>
          <a:p>
            <a:pPr>
              <a:buClr>
                <a:srgbClr val="9E3611"/>
              </a:buClr>
              <a:buFont typeface="Arial" pitchFamily="2" charset="2"/>
              <a:buChar char="•"/>
            </a:pPr>
            <a:r>
              <a:rPr lang="es-ES"/>
              <a:t>Rectángulos de clases</a:t>
            </a:r>
          </a:p>
          <a:p>
            <a:pPr>
              <a:buClr>
                <a:srgbClr val="9E3611"/>
              </a:buClr>
              <a:buFont typeface="Arial" pitchFamily="2" charset="2"/>
              <a:buChar char="•"/>
            </a:pPr>
            <a:r>
              <a:rPr lang="es-ES"/>
              <a:t>Flechas de herencia</a:t>
            </a:r>
          </a:p>
          <a:p>
            <a:pPr marL="0" indent="0">
              <a:buClr>
                <a:srgbClr val="9E3611"/>
              </a:buClr>
              <a:buNone/>
            </a:pPr>
            <a:r>
              <a:rPr lang="es-ES"/>
              <a:t>Y básicamente todo lo que uno dibuja al hacer uso de este lenguaje. Toda esta sección </a:t>
            </a:r>
            <a:r>
              <a:rPr lang="es-ES" err="1"/>
              <a:t>esta</a:t>
            </a:r>
            <a:r>
              <a:rPr lang="es-ES"/>
              <a:t> construida </a:t>
            </a:r>
            <a:r>
              <a:rPr lang="es-ES" b="1"/>
              <a:t>sobre </a:t>
            </a:r>
            <a:r>
              <a:rPr lang="es-ES"/>
              <a:t>la infraestructura y es característica del propio lenguaje UML</a:t>
            </a:r>
          </a:p>
        </p:txBody>
      </p:sp>
    </p:spTree>
    <p:extLst>
      <p:ext uri="{BB962C8B-B14F-4D97-AF65-F5344CB8AC3E}">
        <p14:creationId xmlns:p14="http://schemas.microsoft.com/office/powerpoint/2010/main" val="1313930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1225AA-BAF3-0DD7-71E4-AFFAF2165BB1}"/>
              </a:ext>
            </a:extLst>
          </p:cNvPr>
          <p:cNvSpPr>
            <a:spLocks noGrp="1"/>
          </p:cNvSpPr>
          <p:nvPr>
            <p:ph type="title"/>
          </p:nvPr>
        </p:nvSpPr>
        <p:spPr>
          <a:xfrm>
            <a:off x="796678" y="-4198"/>
            <a:ext cx="10058400" cy="1609344"/>
          </a:xfrm>
        </p:spPr>
        <p:txBody>
          <a:bodyPr/>
          <a:lstStyle/>
          <a:p>
            <a:r>
              <a:rPr lang="es-ES"/>
              <a:t>Los 13 diagramas de </a:t>
            </a:r>
            <a:r>
              <a:rPr lang="es-ES" err="1"/>
              <a:t>uml</a:t>
            </a:r>
            <a:endParaRPr lang="es-ES" err="1">
              <a:latin typeface="Rockwell Condensed"/>
            </a:endParaRPr>
          </a:p>
        </p:txBody>
      </p:sp>
      <p:sp>
        <p:nvSpPr>
          <p:cNvPr id="3" name="Marcador de texto 2">
            <a:extLst>
              <a:ext uri="{FF2B5EF4-FFF2-40B4-BE49-F238E27FC236}">
                <a16:creationId xmlns:a16="http://schemas.microsoft.com/office/drawing/2014/main" id="{8D5B8A1B-90D4-9A53-B70C-B043A68E0FAE}"/>
              </a:ext>
            </a:extLst>
          </p:cNvPr>
          <p:cNvSpPr>
            <a:spLocks noGrp="1"/>
          </p:cNvSpPr>
          <p:nvPr>
            <p:ph type="body" idx="1"/>
          </p:nvPr>
        </p:nvSpPr>
        <p:spPr>
          <a:xfrm>
            <a:off x="793631" y="1243125"/>
            <a:ext cx="4079144" cy="1402079"/>
          </a:xfrm>
        </p:spPr>
        <p:txBody>
          <a:bodyPr>
            <a:normAutofit/>
          </a:bodyPr>
          <a:lstStyle/>
          <a:p>
            <a:r>
              <a:rPr lang="es-ES" sz="2400"/>
              <a:t>Diagramas estructurales </a:t>
            </a:r>
          </a:p>
          <a:p>
            <a:r>
              <a:rPr lang="es-ES" sz="2400"/>
              <a:t>(Lo que el sistema es)</a:t>
            </a:r>
          </a:p>
        </p:txBody>
      </p:sp>
      <p:sp>
        <p:nvSpPr>
          <p:cNvPr id="4" name="Marcador de contenido 3">
            <a:extLst>
              <a:ext uri="{FF2B5EF4-FFF2-40B4-BE49-F238E27FC236}">
                <a16:creationId xmlns:a16="http://schemas.microsoft.com/office/drawing/2014/main" id="{0AD0A1C4-82BD-7DF9-F666-8D1F1066D6B8}"/>
              </a:ext>
            </a:extLst>
          </p:cNvPr>
          <p:cNvSpPr>
            <a:spLocks noGrp="1"/>
          </p:cNvSpPr>
          <p:nvPr>
            <p:ph sz="half" idx="2"/>
          </p:nvPr>
        </p:nvSpPr>
        <p:spPr/>
        <p:txBody>
          <a:bodyPr vert="horz" lIns="91440" tIns="45720" rIns="91440" bIns="45720" rtlCol="0" anchor="t">
            <a:normAutofit/>
          </a:bodyPr>
          <a:lstStyle/>
          <a:p>
            <a:r>
              <a:rPr lang="es-ES" sz="2800"/>
              <a:t>Clases</a:t>
            </a:r>
          </a:p>
          <a:p>
            <a:pPr>
              <a:buClr>
                <a:srgbClr val="9E3611"/>
              </a:buClr>
            </a:pPr>
            <a:r>
              <a:rPr lang="es-ES" sz="2800"/>
              <a:t>Objetos</a:t>
            </a:r>
          </a:p>
          <a:p>
            <a:pPr>
              <a:buClr>
                <a:srgbClr val="9E3611"/>
              </a:buClr>
            </a:pPr>
            <a:r>
              <a:rPr lang="es-ES" sz="2800"/>
              <a:t>Componentes</a:t>
            </a:r>
          </a:p>
          <a:p>
            <a:pPr>
              <a:buClr>
                <a:srgbClr val="9E3611"/>
              </a:buClr>
            </a:pPr>
            <a:r>
              <a:rPr lang="es-ES" sz="2800"/>
              <a:t>Despliegue</a:t>
            </a:r>
          </a:p>
          <a:p>
            <a:pPr>
              <a:buClr>
                <a:srgbClr val="9E3611"/>
              </a:buClr>
            </a:pPr>
            <a:r>
              <a:rPr lang="es-ES" sz="2800"/>
              <a:t>Paquetes</a:t>
            </a:r>
          </a:p>
          <a:p>
            <a:pPr>
              <a:buClr>
                <a:srgbClr val="9E3611"/>
              </a:buClr>
            </a:pPr>
            <a:r>
              <a:rPr lang="es-ES" sz="2800" b="1"/>
              <a:t>Estructura compuesta</a:t>
            </a:r>
          </a:p>
        </p:txBody>
      </p:sp>
      <p:sp>
        <p:nvSpPr>
          <p:cNvPr id="5" name="Marcador de texto 4">
            <a:extLst>
              <a:ext uri="{FF2B5EF4-FFF2-40B4-BE49-F238E27FC236}">
                <a16:creationId xmlns:a16="http://schemas.microsoft.com/office/drawing/2014/main" id="{A3DD0E56-6D23-F7EF-75EC-8F9FD6C85DD7}"/>
              </a:ext>
            </a:extLst>
          </p:cNvPr>
          <p:cNvSpPr>
            <a:spLocks noGrp="1"/>
          </p:cNvSpPr>
          <p:nvPr>
            <p:ph type="body" sz="quarter" idx="3"/>
          </p:nvPr>
        </p:nvSpPr>
        <p:spPr>
          <a:xfrm>
            <a:off x="6091055" y="1430030"/>
            <a:ext cx="5329974" cy="1071400"/>
          </a:xfrm>
        </p:spPr>
        <p:txBody>
          <a:bodyPr vert="horz" lIns="91440" tIns="45720" rIns="91440" bIns="45720" rtlCol="0" anchor="ctr">
            <a:noAutofit/>
          </a:bodyPr>
          <a:lstStyle/>
          <a:p>
            <a:r>
              <a:rPr lang="es-ES"/>
              <a:t>Diagramas de comportamiento </a:t>
            </a:r>
          </a:p>
          <a:p>
            <a:r>
              <a:rPr lang="es-ES"/>
              <a:t>(Lo que el sistema hace)</a:t>
            </a:r>
          </a:p>
        </p:txBody>
      </p:sp>
      <p:sp>
        <p:nvSpPr>
          <p:cNvPr id="6" name="Marcador de contenido 5">
            <a:extLst>
              <a:ext uri="{FF2B5EF4-FFF2-40B4-BE49-F238E27FC236}">
                <a16:creationId xmlns:a16="http://schemas.microsoft.com/office/drawing/2014/main" id="{BD0FE727-146B-5A08-6351-F23B4587B982}"/>
              </a:ext>
            </a:extLst>
          </p:cNvPr>
          <p:cNvSpPr>
            <a:spLocks noGrp="1"/>
          </p:cNvSpPr>
          <p:nvPr>
            <p:ph sz="quarter" idx="4"/>
          </p:nvPr>
        </p:nvSpPr>
        <p:spPr>
          <a:xfrm>
            <a:off x="6091053" y="2513163"/>
            <a:ext cx="6451408" cy="4355763"/>
          </a:xfrm>
        </p:spPr>
        <p:txBody>
          <a:bodyPr vert="horz" lIns="91440" tIns="45720" rIns="91440" bIns="45720" rtlCol="0" anchor="t">
            <a:noAutofit/>
          </a:bodyPr>
          <a:lstStyle/>
          <a:p>
            <a:r>
              <a:rPr lang="es-ES" sz="2800"/>
              <a:t>Casos de uso</a:t>
            </a:r>
          </a:p>
          <a:p>
            <a:pPr>
              <a:buClr>
                <a:srgbClr val="9E3611"/>
              </a:buClr>
            </a:pPr>
            <a:r>
              <a:rPr lang="es-ES" sz="2800"/>
              <a:t>Actividades</a:t>
            </a:r>
          </a:p>
          <a:p>
            <a:pPr>
              <a:buClr>
                <a:srgbClr val="9E3611"/>
              </a:buClr>
            </a:pPr>
            <a:r>
              <a:rPr lang="es-ES" sz="2800"/>
              <a:t>Máquina de estados</a:t>
            </a:r>
          </a:p>
          <a:p>
            <a:pPr>
              <a:buClr>
                <a:srgbClr val="9E3611"/>
              </a:buClr>
            </a:pPr>
            <a:r>
              <a:rPr lang="es-ES" sz="2800"/>
              <a:t>Secuencia</a:t>
            </a:r>
          </a:p>
          <a:p>
            <a:pPr>
              <a:buClr>
                <a:srgbClr val="9E3611"/>
              </a:buClr>
            </a:pPr>
            <a:r>
              <a:rPr lang="es-ES" sz="2800" b="1"/>
              <a:t>Comunicación (antes llamado "Colaboración")</a:t>
            </a:r>
          </a:p>
          <a:p>
            <a:pPr>
              <a:buClr>
                <a:srgbClr val="9E3611"/>
              </a:buClr>
            </a:pPr>
            <a:r>
              <a:rPr lang="es-ES" sz="2800" b="1"/>
              <a:t>Tiempos</a:t>
            </a:r>
          </a:p>
          <a:p>
            <a:pPr>
              <a:buClr>
                <a:srgbClr val="9E3611"/>
              </a:buClr>
            </a:pPr>
            <a:r>
              <a:rPr lang="es-ES" sz="2800" b="1"/>
              <a:t>Interacción General</a:t>
            </a:r>
          </a:p>
        </p:txBody>
      </p:sp>
    </p:spTree>
    <p:extLst>
      <p:ext uri="{BB962C8B-B14F-4D97-AF65-F5344CB8AC3E}">
        <p14:creationId xmlns:p14="http://schemas.microsoft.com/office/powerpoint/2010/main" val="2212843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6C94D7-163E-1504-AC7A-9D8160A48C63}"/>
              </a:ext>
            </a:extLst>
          </p:cNvPr>
          <p:cNvSpPr>
            <a:spLocks noGrp="1"/>
          </p:cNvSpPr>
          <p:nvPr>
            <p:ph type="title"/>
          </p:nvPr>
        </p:nvSpPr>
        <p:spPr>
          <a:xfrm>
            <a:off x="1069848" y="110821"/>
            <a:ext cx="10058400" cy="1609344"/>
          </a:xfrm>
        </p:spPr>
        <p:txBody>
          <a:bodyPr/>
          <a:lstStyle/>
          <a:p>
            <a:r>
              <a:rPr lang="es-ES"/>
              <a:t>Los tres diagramas nuevos de </a:t>
            </a:r>
            <a:r>
              <a:rPr lang="es-ES" err="1"/>
              <a:t>uml</a:t>
            </a:r>
            <a:r>
              <a:rPr lang="es-ES"/>
              <a:t> 2.0</a:t>
            </a:r>
            <a:endParaRPr lang="es-ES">
              <a:latin typeface="Rockwell Condensed"/>
            </a:endParaRPr>
          </a:p>
        </p:txBody>
      </p:sp>
      <p:sp>
        <p:nvSpPr>
          <p:cNvPr id="4" name="Marcador de contenido 3">
            <a:extLst>
              <a:ext uri="{FF2B5EF4-FFF2-40B4-BE49-F238E27FC236}">
                <a16:creationId xmlns:a16="http://schemas.microsoft.com/office/drawing/2014/main" id="{7D61D0F3-6A72-48FF-C4C6-86CEC1C3EC1A}"/>
              </a:ext>
            </a:extLst>
          </p:cNvPr>
          <p:cNvSpPr>
            <a:spLocks noGrp="1"/>
          </p:cNvSpPr>
          <p:nvPr>
            <p:ph sz="half" idx="2"/>
          </p:nvPr>
        </p:nvSpPr>
        <p:spPr>
          <a:xfrm>
            <a:off x="523509" y="1708030"/>
            <a:ext cx="11656010" cy="5347801"/>
          </a:xfrm>
        </p:spPr>
        <p:txBody>
          <a:bodyPr vert="horz" lIns="91440" tIns="45720" rIns="91440" bIns="45720" rtlCol="0" anchor="t">
            <a:normAutofit/>
          </a:bodyPr>
          <a:lstStyle/>
          <a:p>
            <a:r>
              <a:rPr lang="es-ES" sz="2800" b="1"/>
              <a:t>Estructura Compuesta: </a:t>
            </a:r>
            <a:r>
              <a:rPr lang="es-ES" sz="2800"/>
              <a:t>antes, una clase era una caja cerrada. Con este diagrama </a:t>
            </a:r>
            <a:r>
              <a:rPr lang="es-ES" sz="2800" err="1"/>
              <a:t>podés</a:t>
            </a:r>
            <a:r>
              <a:rPr lang="es-ES" sz="2800"/>
              <a:t> abrirla y ver sus partes internas, sus puertos (puntos de conexión con el exterior) y cómo esas partes se conectan entre sí.</a:t>
            </a:r>
          </a:p>
          <a:p>
            <a:pPr>
              <a:buClr>
                <a:srgbClr val="9E3611"/>
              </a:buClr>
            </a:pPr>
            <a:r>
              <a:rPr lang="es-ES" sz="2800" b="1"/>
              <a:t>Tiempos: </a:t>
            </a:r>
            <a:r>
              <a:rPr lang="es-ES" sz="2800"/>
              <a:t>para sistemas donde el CUANDO importa tanto como el QUÉ. Muestra cómo cambia el estado de un objeto a lo largo del tiempo con una </a:t>
            </a:r>
            <a:r>
              <a:rPr lang="es-ES" sz="2800" i="1"/>
              <a:t>línea del tiempo explicita.</a:t>
            </a:r>
          </a:p>
          <a:p>
            <a:pPr>
              <a:buClr>
                <a:srgbClr val="9E3611"/>
              </a:buClr>
            </a:pPr>
            <a:r>
              <a:rPr lang="es-ES" sz="2800" b="1"/>
              <a:t>Interacción General: </a:t>
            </a:r>
            <a:r>
              <a:rPr lang="es-ES" sz="2800"/>
              <a:t>es un diagrama que combina fragmentos de otros diagramas de interacción. Permite mostrar un flujo de alto nivel donde cada paso puede ser un diagrama de secuencia completo. Sirve para sistemas con muchos escenarios alternativos.</a:t>
            </a:r>
          </a:p>
        </p:txBody>
      </p:sp>
    </p:spTree>
    <p:extLst>
      <p:ext uri="{BB962C8B-B14F-4D97-AF65-F5344CB8AC3E}">
        <p14:creationId xmlns:p14="http://schemas.microsoft.com/office/powerpoint/2010/main" val="1385412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67AB8-C09B-F58E-9E73-61BFC0CFA301}"/>
              </a:ext>
            </a:extLst>
          </p:cNvPr>
          <p:cNvSpPr>
            <a:spLocks noGrp="1"/>
          </p:cNvSpPr>
          <p:nvPr>
            <p:ph type="title"/>
          </p:nvPr>
        </p:nvSpPr>
        <p:spPr>
          <a:xfrm>
            <a:off x="1069848" y="693399"/>
            <a:ext cx="10058400" cy="1609344"/>
          </a:xfrm>
        </p:spPr>
        <p:txBody>
          <a:bodyPr/>
          <a:lstStyle/>
          <a:p>
            <a:r>
              <a:rPr lang="es-ES">
                <a:solidFill>
                  <a:srgbClr val="000000"/>
                </a:solidFill>
              </a:rPr>
              <a:t>Madurez y Normativa ISO en UML (2011 - 2015)</a:t>
            </a:r>
            <a:endParaRPr lang="es-ES"/>
          </a:p>
        </p:txBody>
      </p:sp>
      <p:sp>
        <p:nvSpPr>
          <p:cNvPr id="3" name="Marcador de texto 2">
            <a:extLst>
              <a:ext uri="{FF2B5EF4-FFF2-40B4-BE49-F238E27FC236}">
                <a16:creationId xmlns:a16="http://schemas.microsoft.com/office/drawing/2014/main" id="{92BD2689-6BEE-9A5E-1D6E-2AB663DABFED}"/>
              </a:ext>
            </a:extLst>
          </p:cNvPr>
          <p:cNvSpPr>
            <a:spLocks noGrp="1"/>
          </p:cNvSpPr>
          <p:nvPr>
            <p:ph type="body" idx="1"/>
          </p:nvPr>
        </p:nvSpPr>
        <p:spPr>
          <a:xfrm>
            <a:off x="1066800" y="3426119"/>
            <a:ext cx="10057564" cy="629642"/>
          </a:xfrm>
        </p:spPr>
        <p:txBody>
          <a:bodyPr>
            <a:noAutofit/>
          </a:bodyPr>
          <a:lstStyle/>
          <a:p>
            <a:r>
              <a:rPr lang="es-ES" sz="2400" b="0">
                <a:ea typeface="+mn-lt"/>
                <a:cs typeface="+mn-lt"/>
              </a:rPr>
              <a:t>Durante el período de 2011 a 2015, UML experimentó una transición crucial: dejó de ser un lenguaje "en construcción" con cambios drásticos para consolidarse como un estándar internacional maduro, estable y regulado.</a:t>
            </a:r>
            <a:endParaRPr lang="es-ES" sz="2400"/>
          </a:p>
        </p:txBody>
      </p:sp>
    </p:spTree>
    <p:extLst>
      <p:ext uri="{BB962C8B-B14F-4D97-AF65-F5344CB8AC3E}">
        <p14:creationId xmlns:p14="http://schemas.microsoft.com/office/powerpoint/2010/main" val="958932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94955F-78EF-0642-68FC-73DC84A7F145}"/>
              </a:ext>
            </a:extLst>
          </p:cNvPr>
          <p:cNvSpPr>
            <a:spLocks noGrp="1"/>
          </p:cNvSpPr>
          <p:nvPr>
            <p:ph type="title"/>
          </p:nvPr>
        </p:nvSpPr>
        <p:spPr>
          <a:xfrm>
            <a:off x="3718705" y="472537"/>
            <a:ext cx="4748591" cy="1573059"/>
          </a:xfrm>
        </p:spPr>
        <p:txBody>
          <a:bodyPr>
            <a:normAutofit/>
          </a:bodyPr>
          <a:lstStyle/>
          <a:p>
            <a:pPr algn="ctr"/>
            <a:r>
              <a:rPr lang="es-ES" sz="2400" b="1">
                <a:solidFill>
                  <a:schemeClr val="tx1"/>
                </a:solidFill>
                <a:latin typeface="Rockwell"/>
              </a:rPr>
              <a:t>UML 2.4.1 (2011) - Sello ISO y estandarización global</a:t>
            </a:r>
            <a:endParaRPr lang="es-ES" sz="2400">
              <a:solidFill>
                <a:schemeClr val="tx1"/>
              </a:solidFill>
            </a:endParaRPr>
          </a:p>
        </p:txBody>
      </p:sp>
      <p:sp>
        <p:nvSpPr>
          <p:cNvPr id="3" name="Marcador de texto 2">
            <a:extLst>
              <a:ext uri="{FF2B5EF4-FFF2-40B4-BE49-F238E27FC236}">
                <a16:creationId xmlns:a16="http://schemas.microsoft.com/office/drawing/2014/main" id="{D3F29F10-9ADC-2D21-0397-98A991E76971}"/>
              </a:ext>
            </a:extLst>
          </p:cNvPr>
          <p:cNvSpPr>
            <a:spLocks noGrp="1"/>
          </p:cNvSpPr>
          <p:nvPr>
            <p:ph type="body" idx="1"/>
          </p:nvPr>
        </p:nvSpPr>
        <p:spPr>
          <a:xfrm>
            <a:off x="3715657" y="2048256"/>
            <a:ext cx="4754880" cy="640080"/>
          </a:xfrm>
        </p:spPr>
        <p:txBody>
          <a:bodyPr vert="horz" lIns="91440" tIns="45720" rIns="91440" bIns="45720" rtlCol="0" anchor="ctr">
            <a:noAutofit/>
          </a:bodyPr>
          <a:lstStyle/>
          <a:p>
            <a:pPr algn="ctr"/>
            <a:r>
              <a:rPr lang="es-ES"/>
              <a:t>De lenguaje de programación a norma de ingeniería global</a:t>
            </a:r>
          </a:p>
        </p:txBody>
      </p:sp>
      <p:sp>
        <p:nvSpPr>
          <p:cNvPr id="4" name="Marcador de contenido 3">
            <a:extLst>
              <a:ext uri="{FF2B5EF4-FFF2-40B4-BE49-F238E27FC236}">
                <a16:creationId xmlns:a16="http://schemas.microsoft.com/office/drawing/2014/main" id="{4DF6844F-ED86-204F-D143-C8229A0CBD7F}"/>
              </a:ext>
            </a:extLst>
          </p:cNvPr>
          <p:cNvSpPr>
            <a:spLocks noGrp="1"/>
          </p:cNvSpPr>
          <p:nvPr>
            <p:ph sz="half" idx="2"/>
          </p:nvPr>
        </p:nvSpPr>
        <p:spPr>
          <a:xfrm>
            <a:off x="1239182" y="2997201"/>
            <a:ext cx="9689737" cy="3340220"/>
          </a:xfrm>
        </p:spPr>
        <p:txBody>
          <a:bodyPr vert="horz" lIns="91440" tIns="45720" rIns="91440" bIns="45720" rtlCol="0" anchor="t">
            <a:noAutofit/>
          </a:bodyPr>
          <a:lstStyle/>
          <a:p>
            <a:r>
              <a:rPr lang="es-ES" b="1">
                <a:ea typeface="+mn-lt"/>
                <a:cs typeface="+mn-lt"/>
              </a:rPr>
              <a:t>Estándar ISO/IEC 19505:</a:t>
            </a:r>
            <a:r>
              <a:rPr lang="es-ES">
                <a:ea typeface="+mn-lt"/>
                <a:cs typeface="+mn-lt"/>
              </a:rPr>
              <a:t> La ISO audita y aprueba a UML. Pasa de ser una "herramienta de dibujo IT" a un plano técnico con validez legal, exigido por industrias pesadas (aeroespacial, defensa, automotriz).</a:t>
            </a:r>
            <a:endParaRPr lang="en-US"/>
          </a:p>
          <a:p>
            <a:pPr>
              <a:buClr>
                <a:srgbClr val="9E3611"/>
              </a:buClr>
            </a:pPr>
            <a:r>
              <a:rPr lang="es-ES" b="1">
                <a:ea typeface="+mn-lt"/>
                <a:cs typeface="+mn-lt"/>
              </a:rPr>
              <a:t>Interoperabilidad Total (XMI):</a:t>
            </a:r>
            <a:r>
              <a:rPr lang="es-ES">
                <a:ea typeface="+mn-lt"/>
                <a:cs typeface="+mn-lt"/>
              </a:rPr>
              <a:t> Se perfecciona el estándar XML </a:t>
            </a:r>
            <a:r>
              <a:rPr lang="es-ES" err="1">
                <a:ea typeface="+mn-lt"/>
                <a:cs typeface="+mn-lt"/>
              </a:rPr>
              <a:t>Metadata</a:t>
            </a:r>
            <a:r>
              <a:rPr lang="es-ES">
                <a:ea typeface="+mn-lt"/>
                <a:cs typeface="+mn-lt"/>
              </a:rPr>
              <a:t> </a:t>
            </a:r>
            <a:r>
              <a:rPr lang="es-ES" err="1">
                <a:ea typeface="+mn-lt"/>
                <a:cs typeface="+mn-lt"/>
              </a:rPr>
              <a:t>Interchange</a:t>
            </a:r>
            <a:r>
              <a:rPr lang="es-ES">
                <a:ea typeface="+mn-lt"/>
                <a:cs typeface="+mn-lt"/>
              </a:rPr>
              <a:t>.</a:t>
            </a:r>
            <a:endParaRPr lang="en-US"/>
          </a:p>
          <a:p>
            <a:pPr lvl="1">
              <a:spcAft>
                <a:spcPts val="0"/>
              </a:spcAft>
              <a:buClr>
                <a:srgbClr val="9E3611"/>
              </a:buClr>
              <a:buFont typeface="Courier New" pitchFamily="2" charset="2"/>
              <a:buChar char="o"/>
            </a:pPr>
            <a:r>
              <a:rPr lang="es-ES" b="1">
                <a:ea typeface="+mn-lt"/>
                <a:cs typeface="+mn-lt"/>
              </a:rPr>
              <a:t>Fin del </a:t>
            </a:r>
            <a:r>
              <a:rPr lang="es-ES" b="1" err="1">
                <a:ea typeface="+mn-lt"/>
                <a:cs typeface="+mn-lt"/>
              </a:rPr>
              <a:t>Vendor</a:t>
            </a:r>
            <a:r>
              <a:rPr lang="es-ES" b="1">
                <a:ea typeface="+mn-lt"/>
                <a:cs typeface="+mn-lt"/>
              </a:rPr>
              <a:t> </a:t>
            </a:r>
            <a:r>
              <a:rPr lang="es-ES" b="1" err="1">
                <a:ea typeface="+mn-lt"/>
                <a:cs typeface="+mn-lt"/>
              </a:rPr>
              <a:t>Lock</a:t>
            </a:r>
            <a:r>
              <a:rPr lang="es-ES" b="1">
                <a:ea typeface="+mn-lt"/>
                <a:cs typeface="+mn-lt"/>
              </a:rPr>
              <a:t>-in: </a:t>
            </a:r>
            <a:r>
              <a:rPr lang="es-ES">
                <a:ea typeface="+mn-lt"/>
                <a:cs typeface="+mn-lt"/>
              </a:rPr>
              <a:t>Evita la dependencia de un solo proveedor.</a:t>
            </a:r>
            <a:endParaRPr lang="es-ES"/>
          </a:p>
          <a:p>
            <a:pPr lvl="1">
              <a:spcAft>
                <a:spcPts val="0"/>
              </a:spcAft>
              <a:buClr>
                <a:srgbClr val="9E3611"/>
              </a:buClr>
              <a:buFont typeface="Courier New" pitchFamily="2" charset="2"/>
              <a:buChar char="o"/>
            </a:pPr>
            <a:r>
              <a:rPr lang="es-ES" b="1">
                <a:ea typeface="+mn-lt"/>
                <a:cs typeface="+mn-lt"/>
              </a:rPr>
              <a:t>Portabilidad:</a:t>
            </a:r>
            <a:r>
              <a:rPr lang="es-ES">
                <a:ea typeface="+mn-lt"/>
                <a:cs typeface="+mn-lt"/>
              </a:rPr>
              <a:t> Permite exportar un diagrama de una herramienta (ej. Visual </a:t>
            </a:r>
            <a:r>
              <a:rPr lang="es-ES" err="1">
                <a:ea typeface="+mn-lt"/>
                <a:cs typeface="+mn-lt"/>
              </a:rPr>
              <a:t>Paradigm</a:t>
            </a:r>
            <a:r>
              <a:rPr lang="es-ES">
                <a:ea typeface="+mn-lt"/>
                <a:cs typeface="+mn-lt"/>
              </a:rPr>
              <a:t>) y abrirlo en otra (ej. Enterprise </a:t>
            </a:r>
            <a:r>
              <a:rPr lang="es-ES" err="1">
                <a:ea typeface="+mn-lt"/>
                <a:cs typeface="+mn-lt"/>
              </a:rPr>
              <a:t>Architect</a:t>
            </a:r>
            <a:r>
              <a:rPr lang="es-ES">
                <a:ea typeface="+mn-lt"/>
                <a:cs typeface="+mn-lt"/>
              </a:rPr>
              <a:t>) sin perder código ni datos críticos.</a:t>
            </a:r>
            <a:endParaRPr lang="en-US"/>
          </a:p>
          <a:p>
            <a:pPr lvl="1">
              <a:buClr>
                <a:srgbClr val="9E3611"/>
              </a:buClr>
              <a:buFont typeface="Courier New" pitchFamily="2" charset="2"/>
              <a:buChar char="o"/>
            </a:pPr>
            <a:r>
              <a:rPr lang="es-ES" b="1">
                <a:ea typeface="+mn-lt"/>
                <a:cs typeface="+mn-lt"/>
              </a:rPr>
              <a:t>Valor real: </a:t>
            </a:r>
            <a:r>
              <a:rPr lang="es-ES">
                <a:ea typeface="+mn-lt"/>
                <a:cs typeface="+mn-lt"/>
              </a:rPr>
              <a:t>El activo de la empresa es el modelo en sí, no el software usado para crearlo.</a:t>
            </a:r>
            <a:endParaRPr lang="es-ES"/>
          </a:p>
          <a:p>
            <a:pPr>
              <a:buClr>
                <a:srgbClr val="9E3611"/>
              </a:buClr>
            </a:pPr>
            <a:endParaRPr lang="es-ES"/>
          </a:p>
        </p:txBody>
      </p:sp>
    </p:spTree>
    <p:extLst>
      <p:ext uri="{BB962C8B-B14F-4D97-AF65-F5344CB8AC3E}">
        <p14:creationId xmlns:p14="http://schemas.microsoft.com/office/powerpoint/2010/main" val="1911412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F783EE30-C53F-5399-8E45-90C75830DD7D}"/>
              </a:ext>
            </a:extLst>
          </p:cNvPr>
          <p:cNvSpPr txBox="1">
            <a:spLocks/>
          </p:cNvSpPr>
          <p:nvPr/>
        </p:nvSpPr>
        <p:spPr>
          <a:xfrm>
            <a:off x="3722483" y="136653"/>
            <a:ext cx="4748591" cy="1573059"/>
          </a:xfrm>
          <a:prstGeom prst="rect">
            <a:avLst/>
          </a:prstGeom>
        </p:spPr>
        <p:txBody>
          <a:bodyPr vert="horz" lIns="91440" tIns="45720" rIns="91440" bIns="45720" rtlCol="0" anchor="ctr">
            <a:normAutofit/>
          </a:bodyPr>
          <a:lstStyle>
            <a:defPPr>
              <a:defRPr lang="es-ES"/>
            </a:defPPr>
            <a:lvl1pPr marL="0"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2400" b="1">
                <a:solidFill>
                  <a:schemeClr val="tx1"/>
                </a:solidFill>
                <a:latin typeface="Rockwell"/>
              </a:rPr>
              <a:t>UML 2.5 (2015) - La gran simplificación</a:t>
            </a:r>
            <a:endParaRPr lang="es-ES" sz="2400">
              <a:solidFill>
                <a:schemeClr val="tx1"/>
              </a:solidFill>
            </a:endParaRPr>
          </a:p>
        </p:txBody>
      </p:sp>
      <p:sp>
        <p:nvSpPr>
          <p:cNvPr id="8" name="Marcador de texto 4">
            <a:extLst>
              <a:ext uri="{FF2B5EF4-FFF2-40B4-BE49-F238E27FC236}">
                <a16:creationId xmlns:a16="http://schemas.microsoft.com/office/drawing/2014/main" id="{97FA02A7-C29D-FA0C-AF68-A015FE193681}"/>
              </a:ext>
            </a:extLst>
          </p:cNvPr>
          <p:cNvSpPr>
            <a:spLocks noGrp="1"/>
          </p:cNvSpPr>
          <p:nvPr/>
        </p:nvSpPr>
        <p:spPr>
          <a:xfrm>
            <a:off x="3723320" y="1547214"/>
            <a:ext cx="4754880" cy="640080"/>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b="1" kern="1200">
                <a:solidFill>
                  <a:schemeClr val="accent1">
                    <a:lumMod val="75000"/>
                  </a:schemeClr>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9pPr>
          </a:lstStyle>
          <a:p>
            <a:pPr algn="ctr"/>
            <a:r>
              <a:rPr lang="es-ES"/>
              <a:t>Limpieza, unificación y rigor matemático</a:t>
            </a:r>
          </a:p>
        </p:txBody>
      </p:sp>
      <p:sp>
        <p:nvSpPr>
          <p:cNvPr id="10" name="Marcador de contenido 3">
            <a:extLst>
              <a:ext uri="{FF2B5EF4-FFF2-40B4-BE49-F238E27FC236}">
                <a16:creationId xmlns:a16="http://schemas.microsoft.com/office/drawing/2014/main" id="{F30282CD-91E4-6708-9BE5-B8F03340DFF2}"/>
              </a:ext>
            </a:extLst>
          </p:cNvPr>
          <p:cNvSpPr>
            <a:spLocks noGrp="1"/>
          </p:cNvSpPr>
          <p:nvPr>
            <p:ph sz="half" idx="2"/>
          </p:nvPr>
        </p:nvSpPr>
        <p:spPr>
          <a:xfrm>
            <a:off x="1249620" y="2360461"/>
            <a:ext cx="9689737" cy="3340220"/>
          </a:xfrm>
        </p:spPr>
        <p:txBody>
          <a:bodyPr vert="horz" lIns="91440" tIns="45720" rIns="91440" bIns="45720" rtlCol="0" anchor="t">
            <a:noAutofit/>
          </a:bodyPr>
          <a:lstStyle/>
          <a:p>
            <a:r>
              <a:rPr lang="es-ES" b="1">
                <a:ea typeface="+mn-lt"/>
                <a:cs typeface="+mn-lt"/>
              </a:rPr>
              <a:t>Fusión de Documentos</a:t>
            </a:r>
            <a:r>
              <a:rPr lang="es-ES">
                <a:ea typeface="+mn-lt"/>
                <a:cs typeface="+mn-lt"/>
              </a:rPr>
              <a:t>: Se unifican los densos manuales de "Infraestructura" y "Superestructura" en un único documento coherente, facilitando su adopción.</a:t>
            </a:r>
            <a:endParaRPr lang="en-US"/>
          </a:p>
          <a:p>
            <a:pPr>
              <a:buClr>
                <a:srgbClr val="9E3611"/>
              </a:buClr>
            </a:pPr>
            <a:r>
              <a:rPr lang="es-ES" b="1">
                <a:ea typeface="+mn-lt"/>
                <a:cs typeface="+mn-lt"/>
              </a:rPr>
              <a:t>Precisión en Multiplicidad:</a:t>
            </a:r>
            <a:r>
              <a:rPr lang="es-ES">
                <a:ea typeface="+mn-lt"/>
                <a:cs typeface="+mn-lt"/>
              </a:rPr>
              <a:t> Se formaliza la sintaxis (min..</a:t>
            </a:r>
            <a:r>
              <a:rPr lang="es-ES" err="1">
                <a:ea typeface="+mn-lt"/>
                <a:cs typeface="+mn-lt"/>
              </a:rPr>
              <a:t>max</a:t>
            </a:r>
            <a:r>
              <a:rPr lang="es-ES">
                <a:ea typeface="+mn-lt"/>
                <a:cs typeface="+mn-lt"/>
              </a:rPr>
              <a:t>) y las restricciones de colecciones de datos para evitar ambigüedades en la programación:</a:t>
            </a:r>
            <a:endParaRPr lang="es-ES"/>
          </a:p>
          <a:p>
            <a:pPr lvl="1">
              <a:spcAft>
                <a:spcPts val="0"/>
              </a:spcAft>
              <a:buClr>
                <a:srgbClr val="9E3611"/>
              </a:buClr>
              <a:buFont typeface="Courier New" pitchFamily="2" charset="2"/>
              <a:buChar char="o"/>
            </a:pPr>
            <a:r>
              <a:rPr lang="es-ES">
                <a:ea typeface="+mn-lt"/>
                <a:cs typeface="+mn-lt"/>
              </a:rPr>
              <a:t>{</a:t>
            </a:r>
            <a:r>
              <a:rPr lang="es-ES" err="1">
                <a:ea typeface="+mn-lt"/>
                <a:cs typeface="+mn-lt"/>
              </a:rPr>
              <a:t>ordered</a:t>
            </a:r>
            <a:r>
              <a:rPr lang="es-ES">
                <a:ea typeface="+mn-lt"/>
                <a:cs typeface="+mn-lt"/>
              </a:rPr>
              <a:t>}: Elementos con orden (tipo </a:t>
            </a:r>
            <a:r>
              <a:rPr lang="es-ES" err="1">
                <a:ea typeface="+mn-lt"/>
                <a:cs typeface="+mn-lt"/>
              </a:rPr>
              <a:t>List</a:t>
            </a:r>
            <a:r>
              <a:rPr lang="es-ES">
                <a:ea typeface="+mn-lt"/>
                <a:cs typeface="+mn-lt"/>
              </a:rPr>
              <a:t>).</a:t>
            </a:r>
            <a:endParaRPr lang="en-US"/>
          </a:p>
          <a:p>
            <a:pPr lvl="1">
              <a:spcAft>
                <a:spcPts val="0"/>
              </a:spcAft>
              <a:buClr>
                <a:srgbClr val="9E3611"/>
              </a:buClr>
              <a:buFont typeface="Courier New" pitchFamily="2" charset="2"/>
              <a:buChar char="o"/>
            </a:pPr>
            <a:r>
              <a:rPr lang="es-ES">
                <a:ea typeface="+mn-lt"/>
                <a:cs typeface="+mn-lt"/>
              </a:rPr>
              <a:t>{</a:t>
            </a:r>
            <a:r>
              <a:rPr lang="es-ES" err="1">
                <a:ea typeface="+mn-lt"/>
                <a:cs typeface="+mn-lt"/>
              </a:rPr>
              <a:t>unique</a:t>
            </a:r>
            <a:r>
              <a:rPr lang="es-ES">
                <a:ea typeface="+mn-lt"/>
                <a:cs typeface="+mn-lt"/>
              </a:rPr>
              <a:t>}: Elementos sin duplicados (tipo Set)</a:t>
            </a:r>
            <a:endParaRPr lang="en-US"/>
          </a:p>
          <a:p>
            <a:pPr lvl="1">
              <a:spcAft>
                <a:spcPts val="0"/>
              </a:spcAft>
              <a:buClr>
                <a:srgbClr val="9E3611"/>
              </a:buClr>
              <a:buFont typeface="Courier New" pitchFamily="2" charset="2"/>
              <a:buChar char="o"/>
            </a:pPr>
            <a:r>
              <a:rPr lang="es-ES">
                <a:ea typeface="+mn-lt"/>
                <a:cs typeface="+mn-lt"/>
              </a:rPr>
              <a:t>Ejemplo visual: 1..* {</a:t>
            </a:r>
            <a:r>
              <a:rPr lang="es-ES" err="1">
                <a:ea typeface="+mn-lt"/>
                <a:cs typeface="+mn-lt"/>
              </a:rPr>
              <a:t>ordered</a:t>
            </a:r>
            <a:r>
              <a:rPr lang="es-ES">
                <a:ea typeface="+mn-lt"/>
                <a:cs typeface="+mn-lt"/>
              </a:rPr>
              <a:t>, </a:t>
            </a:r>
            <a:r>
              <a:rPr lang="es-ES" err="1">
                <a:ea typeface="+mn-lt"/>
                <a:cs typeface="+mn-lt"/>
              </a:rPr>
              <a:t>unique</a:t>
            </a:r>
            <a:r>
              <a:rPr lang="es-ES">
                <a:ea typeface="+mn-lt"/>
                <a:cs typeface="+mn-lt"/>
              </a:rPr>
              <a:t>}</a:t>
            </a:r>
            <a:endParaRPr lang="en-US"/>
          </a:p>
          <a:p>
            <a:pPr marL="0" indent="0">
              <a:buClr>
                <a:srgbClr val="9E3611"/>
              </a:buClr>
              <a:buNone/>
            </a:pPr>
            <a:r>
              <a:rPr lang="es-ES" b="1">
                <a:ea typeface="+mn-lt"/>
                <a:cs typeface="+mn-lt"/>
              </a:rPr>
              <a:t>Rigor en Diagramas de Actividades (Redes de Petri): </a:t>
            </a:r>
            <a:r>
              <a:rPr lang="es-ES">
                <a:ea typeface="+mn-lt"/>
                <a:cs typeface="+mn-lt"/>
              </a:rPr>
              <a:t>Uso de "flujo de tokens" para que una computadora pueda simular procesos paralelos de forma exacta.</a:t>
            </a:r>
            <a:endParaRPr lang="en-US"/>
          </a:p>
          <a:p>
            <a:pPr lvl="1">
              <a:spcAft>
                <a:spcPts val="0"/>
              </a:spcAft>
              <a:buClr>
                <a:srgbClr val="9E3611"/>
              </a:buClr>
              <a:buFont typeface="Courier New" pitchFamily="2" charset="2"/>
              <a:buChar char="o"/>
            </a:pPr>
            <a:r>
              <a:rPr lang="es-ES" err="1">
                <a:ea typeface="+mn-lt"/>
                <a:cs typeface="+mn-lt"/>
              </a:rPr>
              <a:t>Fork</a:t>
            </a:r>
            <a:r>
              <a:rPr lang="es-ES">
                <a:ea typeface="+mn-lt"/>
                <a:cs typeface="+mn-lt"/>
              </a:rPr>
              <a:t> </a:t>
            </a:r>
            <a:r>
              <a:rPr lang="es-ES" err="1">
                <a:ea typeface="+mn-lt"/>
                <a:cs typeface="+mn-lt"/>
              </a:rPr>
              <a:t>Node</a:t>
            </a:r>
            <a:r>
              <a:rPr lang="es-ES">
                <a:ea typeface="+mn-lt"/>
                <a:cs typeface="+mn-lt"/>
              </a:rPr>
              <a:t> (Bifurcación): Barra negra que divide y clona procesos en paralelo.</a:t>
            </a:r>
            <a:endParaRPr lang="en-US"/>
          </a:p>
          <a:p>
            <a:pPr lvl="1">
              <a:spcAft>
                <a:spcPts val="0"/>
              </a:spcAft>
              <a:buClr>
                <a:srgbClr val="9E3611"/>
              </a:buClr>
              <a:buFont typeface="Courier New" pitchFamily="2" charset="2"/>
              <a:buChar char="o"/>
            </a:pPr>
            <a:r>
              <a:rPr lang="es-ES" err="1">
                <a:ea typeface="+mn-lt"/>
                <a:cs typeface="+mn-lt"/>
              </a:rPr>
              <a:t>Join</a:t>
            </a:r>
            <a:r>
              <a:rPr lang="es-ES">
                <a:ea typeface="+mn-lt"/>
                <a:cs typeface="+mn-lt"/>
              </a:rPr>
              <a:t> </a:t>
            </a:r>
            <a:r>
              <a:rPr lang="es-ES" err="1">
                <a:ea typeface="+mn-lt"/>
                <a:cs typeface="+mn-lt"/>
              </a:rPr>
              <a:t>Node</a:t>
            </a:r>
            <a:r>
              <a:rPr lang="es-ES">
                <a:ea typeface="+mn-lt"/>
                <a:cs typeface="+mn-lt"/>
              </a:rPr>
              <a:t> (Unión): Barra negra que pausa el sistema obligando a una sincronización estricta de todos los procesos.</a:t>
            </a:r>
            <a:endParaRPr lang="es-ES"/>
          </a:p>
          <a:p>
            <a:pPr>
              <a:buClr>
                <a:srgbClr val="9E3611"/>
              </a:buClr>
            </a:pPr>
            <a:endParaRPr lang="es-ES"/>
          </a:p>
        </p:txBody>
      </p:sp>
    </p:spTree>
    <p:extLst>
      <p:ext uri="{BB962C8B-B14F-4D97-AF65-F5344CB8AC3E}">
        <p14:creationId xmlns:p14="http://schemas.microsoft.com/office/powerpoint/2010/main" val="2251925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1C7EB1-B98A-871D-AE55-47FC5DBCD348}"/>
              </a:ext>
            </a:extLst>
          </p:cNvPr>
          <p:cNvSpPr>
            <a:spLocks noGrp="1"/>
          </p:cNvSpPr>
          <p:nvPr>
            <p:ph type="title"/>
          </p:nvPr>
        </p:nvSpPr>
        <p:spPr>
          <a:xfrm>
            <a:off x="1038533" y="2206961"/>
            <a:ext cx="8016816" cy="646061"/>
          </a:xfrm>
        </p:spPr>
        <p:txBody>
          <a:bodyPr>
            <a:normAutofit/>
          </a:bodyPr>
          <a:lstStyle/>
          <a:p>
            <a:r>
              <a:rPr lang="es-ES" sz="4000" err="1">
                <a:solidFill>
                  <a:schemeClr val="accent1"/>
                </a:solidFill>
                <a:latin typeface="Rockwell Condensed"/>
              </a:rPr>
              <a:t>Caracteristicas</a:t>
            </a:r>
            <a:r>
              <a:rPr lang="es-ES" sz="4000">
                <a:solidFill>
                  <a:schemeClr val="accent1"/>
                </a:solidFill>
                <a:latin typeface="Rockwell Condensed"/>
              </a:rPr>
              <a:t> de versiones</a:t>
            </a:r>
          </a:p>
        </p:txBody>
      </p:sp>
      <p:sp>
        <p:nvSpPr>
          <p:cNvPr id="4" name="Marcador de contenido 3">
            <a:extLst>
              <a:ext uri="{FF2B5EF4-FFF2-40B4-BE49-F238E27FC236}">
                <a16:creationId xmlns:a16="http://schemas.microsoft.com/office/drawing/2014/main" id="{787586BA-431D-6858-E04E-79A3B1EB08F8}"/>
              </a:ext>
            </a:extLst>
          </p:cNvPr>
          <p:cNvSpPr>
            <a:spLocks noGrp="1"/>
          </p:cNvSpPr>
          <p:nvPr>
            <p:ph sz="half" idx="2"/>
          </p:nvPr>
        </p:nvSpPr>
        <p:spPr>
          <a:xfrm>
            <a:off x="1038533" y="3232030"/>
            <a:ext cx="4754880" cy="2903652"/>
          </a:xfrm>
        </p:spPr>
        <p:txBody>
          <a:bodyPr vert="horz" lIns="91440" tIns="45720" rIns="91440" bIns="45720" rtlCol="0" anchor="t">
            <a:normAutofit/>
          </a:bodyPr>
          <a:lstStyle/>
          <a:p>
            <a:pPr>
              <a:buClr>
                <a:srgbClr val="9E3611"/>
              </a:buClr>
            </a:pPr>
            <a:r>
              <a:rPr lang="es-ES">
                <a:ea typeface="+mn-lt"/>
                <a:cs typeface="+mn-lt"/>
              </a:rPr>
              <a:t>1- Metamodelo</a:t>
            </a:r>
            <a:endParaRPr lang="es-ES"/>
          </a:p>
          <a:p>
            <a:pPr>
              <a:buClr>
                <a:srgbClr val="9E3611"/>
              </a:buClr>
            </a:pPr>
            <a:r>
              <a:rPr lang="es-ES">
                <a:ea typeface="+mn-lt"/>
                <a:cs typeface="+mn-lt"/>
              </a:rPr>
              <a:t>2- Notación (sintaxis gráfica)</a:t>
            </a:r>
            <a:endParaRPr lang="es-ES"/>
          </a:p>
          <a:p>
            <a:pPr>
              <a:buClr>
                <a:srgbClr val="9E3611"/>
              </a:buClr>
            </a:pPr>
            <a:r>
              <a:rPr lang="es-ES">
                <a:ea typeface="+mn-lt"/>
                <a:cs typeface="+mn-lt"/>
              </a:rPr>
              <a:t>3- Semántica</a:t>
            </a:r>
            <a:endParaRPr lang="es-ES"/>
          </a:p>
          <a:p>
            <a:pPr>
              <a:buClr>
                <a:srgbClr val="9E3611"/>
              </a:buClr>
            </a:pPr>
            <a:r>
              <a:rPr lang="es-ES">
                <a:ea typeface="+mn-lt"/>
                <a:cs typeface="+mn-lt"/>
              </a:rPr>
              <a:t>4- Reglas (</a:t>
            </a:r>
            <a:r>
              <a:rPr lang="es-ES" err="1">
                <a:ea typeface="+mn-lt"/>
                <a:cs typeface="+mn-lt"/>
              </a:rPr>
              <a:t>well-formed</a:t>
            </a:r>
            <a:r>
              <a:rPr lang="es-ES">
                <a:ea typeface="+mn-lt"/>
                <a:cs typeface="+mn-lt"/>
              </a:rPr>
              <a:t> rules)</a:t>
            </a:r>
            <a:endParaRPr lang="es-ES"/>
          </a:p>
          <a:p>
            <a:pPr>
              <a:buClr>
                <a:srgbClr val="9E3611"/>
              </a:buClr>
            </a:pPr>
            <a:r>
              <a:rPr lang="es-ES">
                <a:ea typeface="+mn-lt"/>
                <a:cs typeface="+mn-lt"/>
              </a:rPr>
              <a:t>5- Tipos de diagramas</a:t>
            </a:r>
            <a:endParaRPr lang="es-ES"/>
          </a:p>
          <a:p>
            <a:pPr>
              <a:buClr>
                <a:srgbClr val="9E3611"/>
              </a:buClr>
            </a:pPr>
            <a:endParaRPr lang="es-ES"/>
          </a:p>
        </p:txBody>
      </p:sp>
      <p:sp>
        <p:nvSpPr>
          <p:cNvPr id="5" name="Title 1">
            <a:extLst>
              <a:ext uri="{FF2B5EF4-FFF2-40B4-BE49-F238E27FC236}">
                <a16:creationId xmlns:a16="http://schemas.microsoft.com/office/drawing/2014/main" id="{1E903E85-924C-1E8C-68D9-FE467D6D0F30}"/>
              </a:ext>
            </a:extLst>
          </p:cNvPr>
          <p:cNvSpPr txBox="1">
            <a:spLocks/>
          </p:cNvSpPr>
          <p:nvPr/>
        </p:nvSpPr>
        <p:spPr>
          <a:xfrm>
            <a:off x="1435190" y="275865"/>
            <a:ext cx="10072777" cy="156621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t>El </a:t>
            </a:r>
            <a:r>
              <a:rPr lang="en-US" err="1"/>
              <a:t>estandar</a:t>
            </a:r>
            <a:r>
              <a:rPr lang="en-US"/>
              <a:t> actual (2017 – </a:t>
            </a:r>
            <a:r>
              <a:rPr lang="en-US" err="1"/>
              <a:t>actualidad</a:t>
            </a:r>
            <a:r>
              <a:rPr lang="en-US"/>
              <a:t>)</a:t>
            </a:r>
            <a:endParaRPr lang="en-US">
              <a:latin typeface="Rockwell Condensed"/>
            </a:endParaRPr>
          </a:p>
        </p:txBody>
      </p:sp>
    </p:spTree>
    <p:extLst>
      <p:ext uri="{BB962C8B-B14F-4D97-AF65-F5344CB8AC3E}">
        <p14:creationId xmlns:p14="http://schemas.microsoft.com/office/powerpoint/2010/main" val="1464571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05302A-4A1E-A2F7-44E1-E142F91A1377}"/>
              </a:ext>
            </a:extLst>
          </p:cNvPr>
          <p:cNvSpPr>
            <a:spLocks noGrp="1"/>
          </p:cNvSpPr>
          <p:nvPr>
            <p:ph type="title"/>
          </p:nvPr>
        </p:nvSpPr>
        <p:spPr>
          <a:xfrm>
            <a:off x="1069848" y="484632"/>
            <a:ext cx="3444816" cy="660439"/>
          </a:xfrm>
        </p:spPr>
        <p:txBody>
          <a:bodyPr>
            <a:normAutofit fontScale="90000"/>
          </a:bodyPr>
          <a:lstStyle/>
          <a:p>
            <a:r>
              <a:rPr lang="es-ES"/>
              <a:t>metamodelo</a:t>
            </a:r>
          </a:p>
        </p:txBody>
      </p:sp>
      <p:sp>
        <p:nvSpPr>
          <p:cNvPr id="3" name="Marcador de texto 2">
            <a:extLst>
              <a:ext uri="{FF2B5EF4-FFF2-40B4-BE49-F238E27FC236}">
                <a16:creationId xmlns:a16="http://schemas.microsoft.com/office/drawing/2014/main" id="{CC60C0CB-9574-1E1D-6F6A-16EFD6EEEB05}"/>
              </a:ext>
            </a:extLst>
          </p:cNvPr>
          <p:cNvSpPr>
            <a:spLocks noGrp="1"/>
          </p:cNvSpPr>
          <p:nvPr>
            <p:ph type="body" idx="1"/>
          </p:nvPr>
        </p:nvSpPr>
        <p:spPr>
          <a:xfrm>
            <a:off x="1066800" y="1717578"/>
            <a:ext cx="4754880" cy="640080"/>
          </a:xfrm>
        </p:spPr>
        <p:txBody>
          <a:bodyPr/>
          <a:lstStyle/>
          <a:p>
            <a:r>
              <a:rPr lang="es-ES"/>
              <a:t>Arquitectura de metamodelo:</a:t>
            </a:r>
          </a:p>
        </p:txBody>
      </p:sp>
      <p:sp>
        <p:nvSpPr>
          <p:cNvPr id="4" name="Marcador de contenido 3">
            <a:extLst>
              <a:ext uri="{FF2B5EF4-FFF2-40B4-BE49-F238E27FC236}">
                <a16:creationId xmlns:a16="http://schemas.microsoft.com/office/drawing/2014/main" id="{EAA190D7-7393-808E-E147-937866C22970}"/>
              </a:ext>
            </a:extLst>
          </p:cNvPr>
          <p:cNvSpPr>
            <a:spLocks noGrp="1"/>
          </p:cNvSpPr>
          <p:nvPr>
            <p:ph sz="half" idx="2"/>
          </p:nvPr>
        </p:nvSpPr>
        <p:spPr>
          <a:xfrm>
            <a:off x="969206" y="2958861"/>
            <a:ext cx="4754880" cy="3291840"/>
          </a:xfrm>
        </p:spPr>
        <p:txBody>
          <a:bodyPr vert="horz" lIns="91440" tIns="45720" rIns="91440" bIns="45720" rtlCol="0" anchor="t">
            <a:normAutofit/>
          </a:bodyPr>
          <a:lstStyle/>
          <a:p>
            <a:pPr>
              <a:buClr>
                <a:srgbClr val="9E3611"/>
              </a:buClr>
            </a:pPr>
            <a:endParaRPr lang="es-ES"/>
          </a:p>
          <a:p>
            <a:pPr>
              <a:buClr>
                <a:srgbClr val="9E3611"/>
              </a:buClr>
            </a:pPr>
            <a:endParaRPr lang="es-ES"/>
          </a:p>
        </p:txBody>
      </p:sp>
      <p:sp>
        <p:nvSpPr>
          <p:cNvPr id="6" name="Marcador de contenido 5">
            <a:extLst>
              <a:ext uri="{FF2B5EF4-FFF2-40B4-BE49-F238E27FC236}">
                <a16:creationId xmlns:a16="http://schemas.microsoft.com/office/drawing/2014/main" id="{F9E62179-6241-0750-8FED-52FE31136A28}"/>
              </a:ext>
            </a:extLst>
          </p:cNvPr>
          <p:cNvSpPr>
            <a:spLocks noGrp="1"/>
          </p:cNvSpPr>
          <p:nvPr>
            <p:ph sz="quarter" idx="4"/>
          </p:nvPr>
        </p:nvSpPr>
        <p:spPr>
          <a:xfrm>
            <a:off x="972714" y="2369388"/>
            <a:ext cx="4754880" cy="3291840"/>
          </a:xfrm>
        </p:spPr>
        <p:txBody>
          <a:bodyPr vert="horz" lIns="91440" tIns="45720" rIns="91440" bIns="45720" rtlCol="0" anchor="t">
            <a:normAutofit/>
          </a:bodyPr>
          <a:lstStyle/>
          <a:p>
            <a:pPr marL="0" indent="0">
              <a:buClr>
                <a:srgbClr val="9E3611"/>
              </a:buClr>
              <a:buNone/>
            </a:pPr>
            <a:r>
              <a:rPr lang="es-ES">
                <a:ea typeface="+mn-lt"/>
                <a:cs typeface="+mn-lt"/>
              </a:rPr>
              <a:t>UML 2.5.1 se inscribe en la arquitectura de cuatro capas definidas por Meta-</a:t>
            </a:r>
            <a:r>
              <a:rPr lang="es-ES" err="1">
                <a:ea typeface="+mn-lt"/>
                <a:cs typeface="+mn-lt"/>
              </a:rPr>
              <a:t>Object</a:t>
            </a:r>
            <a:r>
              <a:rPr lang="es-ES">
                <a:ea typeface="+mn-lt"/>
                <a:cs typeface="+mn-lt"/>
              </a:rPr>
              <a:t> </a:t>
            </a:r>
            <a:r>
              <a:rPr lang="es-ES" err="1">
                <a:ea typeface="+mn-lt"/>
                <a:cs typeface="+mn-lt"/>
              </a:rPr>
              <a:t>Facility</a:t>
            </a:r>
            <a:r>
              <a:rPr lang="es-ES">
                <a:ea typeface="+mn-lt"/>
                <a:cs typeface="+mn-lt"/>
              </a:rPr>
              <a:t> (MOF)</a:t>
            </a:r>
            <a:endParaRPr lang="es-ES"/>
          </a:p>
          <a:p>
            <a:pPr>
              <a:buClr>
                <a:srgbClr val="9E3611"/>
              </a:buClr>
            </a:pPr>
            <a:r>
              <a:rPr lang="es-ES">
                <a:ea typeface="+mn-lt"/>
                <a:cs typeface="+mn-lt"/>
              </a:rPr>
              <a:t>M3 (</a:t>
            </a:r>
            <a:r>
              <a:rPr lang="es-ES">
                <a:latin typeface="Rockwell"/>
                <a:ea typeface="+mn-lt"/>
                <a:cs typeface="Arial"/>
              </a:rPr>
              <a:t>Meta-</a:t>
            </a:r>
            <a:r>
              <a:rPr lang="es-ES" err="1">
                <a:latin typeface="Rockwell"/>
                <a:ea typeface="+mn-lt"/>
                <a:cs typeface="Arial"/>
              </a:rPr>
              <a:t>metamodelado</a:t>
            </a:r>
            <a:r>
              <a:rPr lang="es-ES">
                <a:ea typeface="+mn-lt"/>
                <a:cs typeface="+mn-lt"/>
              </a:rPr>
              <a:t>): el nivel más alto (MOF), que define el lenguaje para construir metamodelos.</a:t>
            </a:r>
            <a:endParaRPr lang="es-ES"/>
          </a:p>
          <a:p>
            <a:pPr>
              <a:buClr>
                <a:srgbClr val="9E3611"/>
              </a:buClr>
            </a:pPr>
            <a:endParaRPr lang="es-ES"/>
          </a:p>
          <a:p>
            <a:pPr>
              <a:buClr>
                <a:srgbClr val="9E3611"/>
              </a:buClr>
            </a:pPr>
            <a:endParaRPr lang="es-ES"/>
          </a:p>
        </p:txBody>
      </p:sp>
      <p:sp>
        <p:nvSpPr>
          <p:cNvPr id="7" name="CuadroTexto 6">
            <a:extLst>
              <a:ext uri="{FF2B5EF4-FFF2-40B4-BE49-F238E27FC236}">
                <a16:creationId xmlns:a16="http://schemas.microsoft.com/office/drawing/2014/main" id="{4DC40296-045A-FEF1-357F-9D670B50A3DE}"/>
              </a:ext>
            </a:extLst>
          </p:cNvPr>
          <p:cNvSpPr txBox="1"/>
          <p:nvPr/>
        </p:nvSpPr>
        <p:spPr>
          <a:xfrm>
            <a:off x="998651" y="1124884"/>
            <a:ext cx="1021942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200"/>
              </a:spcBef>
              <a:buFont typeface="Arial"/>
              <a:buChar char="•"/>
            </a:pPr>
            <a:r>
              <a:rPr lang="es-ES" sz="2000"/>
              <a:t>es la estructura fundamental que define las reglas, conceptos y semántica de UML.</a:t>
            </a:r>
          </a:p>
          <a:p>
            <a:pPr algn="l"/>
            <a:endParaRPr lang="es-ES"/>
          </a:p>
        </p:txBody>
      </p:sp>
      <p:sp>
        <p:nvSpPr>
          <p:cNvPr id="12" name="Marcador de contenido 5">
            <a:extLst>
              <a:ext uri="{FF2B5EF4-FFF2-40B4-BE49-F238E27FC236}">
                <a16:creationId xmlns:a16="http://schemas.microsoft.com/office/drawing/2014/main" id="{190C602C-2240-2766-EA29-E22B9008C9D7}"/>
              </a:ext>
            </a:extLst>
          </p:cNvPr>
          <p:cNvSpPr txBox="1">
            <a:spLocks/>
          </p:cNvSpPr>
          <p:nvPr/>
        </p:nvSpPr>
        <p:spPr>
          <a:xfrm>
            <a:off x="6818548" y="2363637"/>
            <a:ext cx="4754880" cy="3651274"/>
          </a:xfrm>
          <a:prstGeom prst="rect">
            <a:avLst/>
          </a:prstGeom>
        </p:spPr>
        <p:txBody>
          <a:bodyPr vert="horz" lIns="91440" tIns="45720" rIns="91440" bIns="45720" rtlCol="0" anchor="t">
            <a:normAutofit lnSpcReduction="1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buClr>
                <a:srgbClr val="9E3611"/>
              </a:buClr>
            </a:pPr>
            <a:r>
              <a:rPr lang="es-ES">
                <a:ea typeface="+mn-lt"/>
                <a:cs typeface="+mn-lt"/>
              </a:rPr>
              <a:t>M2 (Metamodelo): </a:t>
            </a:r>
            <a:r>
              <a:rPr lang="es-ES" err="1">
                <a:ea typeface="+mn-lt"/>
                <a:cs typeface="+mn-lt"/>
              </a:rPr>
              <a:t>aqui</a:t>
            </a:r>
            <a:r>
              <a:rPr lang="es-ES">
                <a:ea typeface="+mn-lt"/>
                <a:cs typeface="+mn-lt"/>
              </a:rPr>
              <a:t> reside el metamodelo UML 2.5.1. Define los conceptos (como </a:t>
            </a:r>
            <a:r>
              <a:rPr lang="es-ES" err="1">
                <a:ea typeface="+mn-lt"/>
                <a:cs typeface="+mn-lt"/>
              </a:rPr>
              <a:t>Class</a:t>
            </a:r>
            <a:r>
              <a:rPr lang="es-ES">
                <a:ea typeface="+mn-lt"/>
                <a:cs typeface="+mn-lt"/>
              </a:rPr>
              <a:t>, </a:t>
            </a:r>
            <a:r>
              <a:rPr lang="es-ES" err="1">
                <a:ea typeface="+mn-lt"/>
                <a:cs typeface="+mn-lt"/>
              </a:rPr>
              <a:t>Association</a:t>
            </a:r>
            <a:r>
              <a:rPr lang="es-ES">
                <a:ea typeface="+mn-lt"/>
                <a:cs typeface="+mn-lt"/>
              </a:rPr>
              <a:t>, </a:t>
            </a:r>
            <a:r>
              <a:rPr lang="es-ES" err="1">
                <a:ea typeface="+mn-lt"/>
                <a:cs typeface="+mn-lt"/>
              </a:rPr>
              <a:t>State</a:t>
            </a:r>
            <a:r>
              <a:rPr lang="es-ES">
                <a:ea typeface="+mn-lt"/>
                <a:cs typeface="+mn-lt"/>
              </a:rPr>
              <a:t>) que se usan para crear modelos.</a:t>
            </a:r>
            <a:endParaRPr lang="es-ES"/>
          </a:p>
          <a:p>
            <a:pPr>
              <a:buClr>
                <a:srgbClr val="9E3611"/>
              </a:buClr>
            </a:pPr>
            <a:r>
              <a:rPr lang="es-ES">
                <a:ea typeface="+mn-lt"/>
                <a:cs typeface="+mn-lt"/>
              </a:rPr>
              <a:t>M1 (Modelo): los diagramas específicos que crean los usuarios (ej.: diagrama de clases de un sistema bancario)</a:t>
            </a:r>
            <a:endParaRPr lang="es-ES"/>
          </a:p>
          <a:p>
            <a:pPr>
              <a:buClr>
                <a:srgbClr val="9E3611"/>
              </a:buClr>
            </a:pPr>
            <a:r>
              <a:rPr lang="es-ES">
                <a:ea typeface="+mn-lt"/>
                <a:cs typeface="+mn-lt"/>
              </a:rPr>
              <a:t>M0  (Datos/Instancias): los objetos reales y datos en el tiempo de ejecución.</a:t>
            </a:r>
            <a:endParaRPr lang="es-ES"/>
          </a:p>
          <a:p>
            <a:pPr>
              <a:buClr>
                <a:srgbClr val="9E3611"/>
              </a:buClr>
            </a:pPr>
            <a:endParaRPr lang="es-ES"/>
          </a:p>
        </p:txBody>
      </p:sp>
    </p:spTree>
    <p:extLst>
      <p:ext uri="{BB962C8B-B14F-4D97-AF65-F5344CB8AC3E}">
        <p14:creationId xmlns:p14="http://schemas.microsoft.com/office/powerpoint/2010/main" val="3351295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76835494-AD8A-21B1-91C4-72414A9A7AB2}"/>
              </a:ext>
            </a:extLst>
          </p:cNvPr>
          <p:cNvSpPr>
            <a:spLocks noGrp="1"/>
          </p:cNvSpPr>
          <p:nvPr>
            <p:ph sz="half" idx="2"/>
          </p:nvPr>
        </p:nvSpPr>
        <p:spPr>
          <a:xfrm>
            <a:off x="1055470" y="1161691"/>
            <a:ext cx="4754880" cy="3291840"/>
          </a:xfrm>
        </p:spPr>
        <p:txBody>
          <a:bodyPr vert="horz" lIns="91440" tIns="45720" rIns="91440" bIns="45720" rtlCol="0" anchor="t">
            <a:normAutofit/>
          </a:bodyPr>
          <a:lstStyle/>
          <a:p>
            <a:r>
              <a:rPr lang="es-ES">
                <a:ea typeface="+mn-lt"/>
                <a:cs typeface="+mn-lt"/>
              </a:rPr>
              <a:t>A diferencia de versiones anteriores (como la 2.4.1), que separaban la "Infraestructura" de la "Superestructura", la versión 2.5.1 consolidó estas partes en una especificación única y simplificada para facilitar su lectura y cumplimiento por parte de los desarrolladores de herramientas. </a:t>
            </a:r>
            <a:endParaRPr lang="es-ES"/>
          </a:p>
          <a:p>
            <a:pPr>
              <a:buClr>
                <a:srgbClr val="9E3611"/>
              </a:buClr>
            </a:pPr>
            <a:endParaRPr lang="es-ES"/>
          </a:p>
        </p:txBody>
      </p:sp>
      <p:sp>
        <p:nvSpPr>
          <p:cNvPr id="6" name="Marcador de contenido 5">
            <a:extLst>
              <a:ext uri="{FF2B5EF4-FFF2-40B4-BE49-F238E27FC236}">
                <a16:creationId xmlns:a16="http://schemas.microsoft.com/office/drawing/2014/main" id="{BAF6440A-24A2-8DBD-FDD7-14B9FBF8BE3C}"/>
              </a:ext>
            </a:extLst>
          </p:cNvPr>
          <p:cNvSpPr>
            <a:spLocks noGrp="1"/>
          </p:cNvSpPr>
          <p:nvPr>
            <p:ph sz="quarter" idx="4"/>
          </p:nvPr>
        </p:nvSpPr>
        <p:spPr>
          <a:xfrm>
            <a:off x="6091054" y="1161691"/>
            <a:ext cx="4754880" cy="4830217"/>
          </a:xfrm>
        </p:spPr>
        <p:txBody>
          <a:bodyPr vert="horz" lIns="91440" tIns="45720" rIns="91440" bIns="45720" rtlCol="0" anchor="t">
            <a:normAutofit/>
          </a:bodyPr>
          <a:lstStyle/>
          <a:p>
            <a:pPr marL="0" indent="0">
              <a:buClr>
                <a:srgbClr val="9E3611"/>
              </a:buClr>
              <a:buNone/>
            </a:pPr>
            <a:r>
              <a:rPr lang="es-ES">
                <a:ea typeface="+mn-lt"/>
                <a:cs typeface="+mn-lt"/>
              </a:rPr>
              <a:t>El metamodelo organiza los conceptos en unidades de lenguaje que abstraen estructuras similares:</a:t>
            </a:r>
            <a:endParaRPr lang="es-ES"/>
          </a:p>
          <a:p>
            <a:pPr>
              <a:buClr>
                <a:srgbClr val="9E3611"/>
              </a:buClr>
            </a:pPr>
            <a:r>
              <a:rPr lang="es-ES">
                <a:ea typeface="+mn-lt"/>
                <a:cs typeface="+mn-lt"/>
              </a:rPr>
              <a:t>Estructurales: Incluye </a:t>
            </a:r>
            <a:r>
              <a:rPr lang="es-ES" err="1">
                <a:ea typeface="+mn-lt"/>
                <a:cs typeface="+mn-lt"/>
              </a:rPr>
              <a:t>metaclases</a:t>
            </a:r>
            <a:r>
              <a:rPr lang="es-ES">
                <a:ea typeface="+mn-lt"/>
                <a:cs typeface="+mn-lt"/>
              </a:rPr>
              <a:t> como </a:t>
            </a:r>
            <a:r>
              <a:rPr lang="es-ES" err="1">
                <a:ea typeface="+mn-lt"/>
                <a:cs typeface="+mn-lt"/>
              </a:rPr>
              <a:t>Element</a:t>
            </a:r>
            <a:r>
              <a:rPr lang="es-ES">
                <a:ea typeface="+mn-lt"/>
                <a:cs typeface="+mn-lt"/>
              </a:rPr>
              <a:t>, </a:t>
            </a:r>
            <a:r>
              <a:rPr lang="es-ES" err="1">
                <a:ea typeface="+mn-lt"/>
                <a:cs typeface="+mn-lt"/>
              </a:rPr>
              <a:t>Classifier</a:t>
            </a:r>
            <a:r>
              <a:rPr lang="es-ES">
                <a:ea typeface="+mn-lt"/>
                <a:cs typeface="+mn-lt"/>
              </a:rPr>
              <a:t>, </a:t>
            </a:r>
            <a:r>
              <a:rPr lang="es-ES" err="1">
                <a:ea typeface="+mn-lt"/>
                <a:cs typeface="+mn-lt"/>
              </a:rPr>
              <a:t>Class</a:t>
            </a:r>
            <a:r>
              <a:rPr lang="es-ES">
                <a:ea typeface="+mn-lt"/>
                <a:cs typeface="+mn-lt"/>
              </a:rPr>
              <a:t>, Interface, </a:t>
            </a:r>
            <a:r>
              <a:rPr lang="es-ES" err="1">
                <a:ea typeface="+mn-lt"/>
                <a:cs typeface="+mn-lt"/>
              </a:rPr>
              <a:t>Property</a:t>
            </a:r>
            <a:r>
              <a:rPr lang="es-ES">
                <a:ea typeface="+mn-lt"/>
                <a:cs typeface="+mn-lt"/>
              </a:rPr>
              <a:t> y </a:t>
            </a:r>
            <a:r>
              <a:rPr lang="es-ES" err="1">
                <a:ea typeface="+mn-lt"/>
                <a:cs typeface="+mn-lt"/>
              </a:rPr>
              <a:t>Package</a:t>
            </a:r>
            <a:r>
              <a:rPr lang="es-ES">
                <a:ea typeface="+mn-lt"/>
                <a:cs typeface="+mn-lt"/>
              </a:rPr>
              <a:t>.</a:t>
            </a:r>
            <a:endParaRPr lang="es-ES"/>
          </a:p>
          <a:p>
            <a:pPr>
              <a:buClr>
                <a:srgbClr val="9E3611"/>
              </a:buClr>
            </a:pPr>
            <a:r>
              <a:rPr lang="es-ES">
                <a:ea typeface="+mn-lt"/>
                <a:cs typeface="+mn-lt"/>
              </a:rPr>
              <a:t>Comportamiento: Define la semántica para </a:t>
            </a:r>
            <a:r>
              <a:rPr lang="es-ES" err="1">
                <a:ea typeface="+mn-lt"/>
                <a:cs typeface="+mn-lt"/>
              </a:rPr>
              <a:t>Activity</a:t>
            </a:r>
            <a:r>
              <a:rPr lang="es-ES">
                <a:ea typeface="+mn-lt"/>
                <a:cs typeface="+mn-lt"/>
              </a:rPr>
              <a:t>, </a:t>
            </a:r>
            <a:r>
              <a:rPr lang="es-ES" err="1">
                <a:ea typeface="+mn-lt"/>
                <a:cs typeface="+mn-lt"/>
              </a:rPr>
              <a:t>Interaction</a:t>
            </a:r>
            <a:r>
              <a:rPr lang="es-ES">
                <a:ea typeface="+mn-lt"/>
                <a:cs typeface="+mn-lt"/>
              </a:rPr>
              <a:t>, </a:t>
            </a:r>
            <a:r>
              <a:rPr lang="es-ES" err="1">
                <a:ea typeface="+mn-lt"/>
                <a:cs typeface="+mn-lt"/>
              </a:rPr>
              <a:t>State</a:t>
            </a:r>
            <a:r>
              <a:rPr lang="es-ES">
                <a:ea typeface="+mn-lt"/>
                <a:cs typeface="+mn-lt"/>
              </a:rPr>
              <a:t> Machines y Use Case.</a:t>
            </a:r>
            <a:endParaRPr lang="es-ES"/>
          </a:p>
          <a:p>
            <a:pPr>
              <a:buClr>
                <a:srgbClr val="9E3611"/>
              </a:buClr>
            </a:pPr>
            <a:r>
              <a:rPr lang="es-ES">
                <a:ea typeface="+mn-lt"/>
                <a:cs typeface="+mn-lt"/>
              </a:rPr>
              <a:t>Relaciones: </a:t>
            </a:r>
            <a:r>
              <a:rPr lang="es-ES" err="1">
                <a:ea typeface="+mn-lt"/>
                <a:cs typeface="+mn-lt"/>
              </a:rPr>
              <a:t>Metaclases</a:t>
            </a:r>
            <a:r>
              <a:rPr lang="es-ES">
                <a:ea typeface="+mn-lt"/>
                <a:cs typeface="+mn-lt"/>
              </a:rPr>
              <a:t> como </a:t>
            </a:r>
            <a:r>
              <a:rPr lang="es-ES" err="1">
                <a:ea typeface="+mn-lt"/>
                <a:cs typeface="+mn-lt"/>
              </a:rPr>
              <a:t>Association</a:t>
            </a:r>
            <a:r>
              <a:rPr lang="es-ES">
                <a:ea typeface="+mn-lt"/>
                <a:cs typeface="+mn-lt"/>
              </a:rPr>
              <a:t>, </a:t>
            </a:r>
            <a:r>
              <a:rPr lang="es-ES" err="1">
                <a:ea typeface="+mn-lt"/>
                <a:cs typeface="+mn-lt"/>
              </a:rPr>
              <a:t>Dependency</a:t>
            </a:r>
            <a:r>
              <a:rPr lang="es-ES">
                <a:ea typeface="+mn-lt"/>
                <a:cs typeface="+mn-lt"/>
              </a:rPr>
              <a:t>, </a:t>
            </a:r>
            <a:r>
              <a:rPr lang="es-ES" err="1">
                <a:ea typeface="+mn-lt"/>
                <a:cs typeface="+mn-lt"/>
              </a:rPr>
              <a:t>Generalization</a:t>
            </a:r>
            <a:r>
              <a:rPr lang="es-ES">
                <a:ea typeface="+mn-lt"/>
                <a:cs typeface="+mn-lt"/>
              </a:rPr>
              <a:t> y </a:t>
            </a:r>
            <a:r>
              <a:rPr lang="es-ES" err="1">
                <a:ea typeface="+mn-lt"/>
                <a:cs typeface="+mn-lt"/>
              </a:rPr>
              <a:t>Extension</a:t>
            </a:r>
            <a:endParaRPr lang="es-ES" err="1"/>
          </a:p>
          <a:p>
            <a:pPr>
              <a:buClr>
                <a:srgbClr val="9E3611"/>
              </a:buClr>
            </a:pPr>
            <a:endParaRPr lang="es-ES"/>
          </a:p>
        </p:txBody>
      </p:sp>
      <p:sp>
        <p:nvSpPr>
          <p:cNvPr id="10" name="Marcador de texto 2">
            <a:extLst>
              <a:ext uri="{FF2B5EF4-FFF2-40B4-BE49-F238E27FC236}">
                <a16:creationId xmlns:a16="http://schemas.microsoft.com/office/drawing/2014/main" id="{BC17A69B-2546-C237-E275-4A415D86FE49}"/>
              </a:ext>
            </a:extLst>
          </p:cNvPr>
          <p:cNvSpPr>
            <a:spLocks noGrp="1"/>
          </p:cNvSpPr>
          <p:nvPr>
            <p:ph type="body" idx="1"/>
          </p:nvPr>
        </p:nvSpPr>
        <p:spPr>
          <a:xfrm>
            <a:off x="1052423" y="509880"/>
            <a:ext cx="4754880" cy="640080"/>
          </a:xfrm>
        </p:spPr>
        <p:txBody>
          <a:bodyPr/>
          <a:lstStyle/>
          <a:p>
            <a:r>
              <a:rPr lang="es-ES">
                <a:solidFill>
                  <a:srgbClr val="9E3611"/>
                </a:solidFill>
              </a:rPr>
              <a:t>Estructura de la especificación 2.5.1</a:t>
            </a:r>
          </a:p>
        </p:txBody>
      </p:sp>
      <p:sp>
        <p:nvSpPr>
          <p:cNvPr id="12" name="Marcador de texto 2">
            <a:extLst>
              <a:ext uri="{FF2B5EF4-FFF2-40B4-BE49-F238E27FC236}">
                <a16:creationId xmlns:a16="http://schemas.microsoft.com/office/drawing/2014/main" id="{92E4743A-196B-4E06-E52E-21B559C79F18}"/>
              </a:ext>
            </a:extLst>
          </p:cNvPr>
          <p:cNvSpPr txBox="1">
            <a:spLocks/>
          </p:cNvSpPr>
          <p:nvPr/>
        </p:nvSpPr>
        <p:spPr>
          <a:xfrm>
            <a:off x="6093125" y="518506"/>
            <a:ext cx="4754880" cy="640080"/>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b="1" kern="1200">
                <a:solidFill>
                  <a:schemeClr val="accent1">
                    <a:lumMod val="75000"/>
                  </a:schemeClr>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9pPr>
          </a:lstStyle>
          <a:p>
            <a:r>
              <a:rPr lang="es-ES">
                <a:solidFill>
                  <a:srgbClr val="9E3611"/>
                </a:solidFill>
              </a:rPr>
              <a:t>Unidad de lenguaje y metaclases</a:t>
            </a:r>
            <a:endParaRPr lang="es-ES"/>
          </a:p>
        </p:txBody>
      </p:sp>
    </p:spTree>
    <p:extLst>
      <p:ext uri="{BB962C8B-B14F-4D97-AF65-F5344CB8AC3E}">
        <p14:creationId xmlns:p14="http://schemas.microsoft.com/office/powerpoint/2010/main" val="848554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B3ECE-4DA8-3AEC-D935-1C25AE179BEF}"/>
              </a:ext>
            </a:extLst>
          </p:cNvPr>
          <p:cNvSpPr>
            <a:spLocks noGrp="1"/>
          </p:cNvSpPr>
          <p:nvPr>
            <p:ph type="title"/>
          </p:nvPr>
        </p:nvSpPr>
        <p:spPr/>
        <p:txBody>
          <a:bodyPr/>
          <a:lstStyle/>
          <a:p>
            <a:r>
              <a:rPr lang="es-ES" err="1"/>
              <a:t>SEmantica</a:t>
            </a:r>
            <a:r>
              <a:rPr lang="es-ES"/>
              <a:t> y estructura del modelo</a:t>
            </a:r>
          </a:p>
        </p:txBody>
      </p:sp>
      <p:sp>
        <p:nvSpPr>
          <p:cNvPr id="4" name="Marcador de contenido 3">
            <a:extLst>
              <a:ext uri="{FF2B5EF4-FFF2-40B4-BE49-F238E27FC236}">
                <a16:creationId xmlns:a16="http://schemas.microsoft.com/office/drawing/2014/main" id="{E2CE75B4-AF9A-04CA-C7DB-F46EAF27751D}"/>
              </a:ext>
            </a:extLst>
          </p:cNvPr>
          <p:cNvSpPr>
            <a:spLocks noGrp="1"/>
          </p:cNvSpPr>
          <p:nvPr>
            <p:ph sz="half" idx="2"/>
          </p:nvPr>
        </p:nvSpPr>
        <p:spPr>
          <a:xfrm>
            <a:off x="1069848" y="1779917"/>
            <a:ext cx="4754880" cy="3291840"/>
          </a:xfrm>
        </p:spPr>
        <p:txBody>
          <a:bodyPr vert="horz" lIns="91440" tIns="45720" rIns="91440" bIns="45720" rtlCol="0" anchor="t">
            <a:noAutofit/>
          </a:bodyPr>
          <a:lstStyle/>
          <a:p>
            <a:r>
              <a:rPr lang="es-ES">
                <a:ea typeface="+mn-lt"/>
                <a:cs typeface="+mn-lt"/>
              </a:rPr>
              <a:t>Simplificación: La principal diferencia de 2.5.1 es que la especificación es más fácil de leer y entender, eliminando la compleja distinción entre el metamodelo de infraestructura y superestructura de versiones anteriores.</a:t>
            </a:r>
            <a:endParaRPr lang="es-ES"/>
          </a:p>
          <a:p>
            <a:pPr>
              <a:buClr>
                <a:srgbClr val="D34817">
                  <a:lumMod val="75000"/>
                </a:srgbClr>
              </a:buClr>
            </a:pPr>
            <a:endParaRPr lang="es-ES"/>
          </a:p>
        </p:txBody>
      </p:sp>
      <p:sp>
        <p:nvSpPr>
          <p:cNvPr id="6" name="Marcador de contenido 5">
            <a:extLst>
              <a:ext uri="{FF2B5EF4-FFF2-40B4-BE49-F238E27FC236}">
                <a16:creationId xmlns:a16="http://schemas.microsoft.com/office/drawing/2014/main" id="{74FD841A-4CEF-E133-BBF6-6CE82C55FA8D}"/>
              </a:ext>
            </a:extLst>
          </p:cNvPr>
          <p:cNvSpPr>
            <a:spLocks noGrp="1"/>
          </p:cNvSpPr>
          <p:nvPr>
            <p:ph sz="quarter" idx="4"/>
          </p:nvPr>
        </p:nvSpPr>
        <p:spPr>
          <a:xfrm>
            <a:off x="6105432" y="1779917"/>
            <a:ext cx="4754880" cy="3291840"/>
          </a:xfrm>
        </p:spPr>
        <p:txBody>
          <a:bodyPr vert="horz" lIns="91440" tIns="45720" rIns="91440" bIns="45720" rtlCol="0" anchor="t">
            <a:normAutofit/>
          </a:bodyPr>
          <a:lstStyle/>
          <a:p>
            <a:r>
              <a:rPr lang="es-ES">
                <a:ea typeface="+mn-lt"/>
                <a:cs typeface="+mn-lt"/>
              </a:rPr>
              <a:t> Consistencia: Se ha refinado la semántica de elementos como los conectores en estructuras compuestas y los nodos en diagramas de actividades, buscando menos ambigüedad. </a:t>
            </a:r>
          </a:p>
          <a:p>
            <a:pPr>
              <a:buClr>
                <a:srgbClr val="9E3611"/>
              </a:buClr>
            </a:pPr>
            <a:endParaRPr lang="es-ES"/>
          </a:p>
          <a:p>
            <a:pPr>
              <a:buClr>
                <a:srgbClr val="9E3611"/>
              </a:buClr>
            </a:pPr>
            <a:r>
              <a:rPr lang="es-ES">
                <a:ea typeface="+mn-lt"/>
                <a:cs typeface="+mn-lt"/>
              </a:rPr>
              <a:t> Claridad en Diagramas de Clases: Refuerza las reglas sobre asociaciones y multiplicidades. </a:t>
            </a:r>
          </a:p>
          <a:p>
            <a:pPr>
              <a:buClr>
                <a:srgbClr val="9E3611"/>
              </a:buClr>
            </a:pPr>
            <a:endParaRPr lang="es-ES"/>
          </a:p>
          <a:p>
            <a:pPr marL="0" indent="0">
              <a:buClr>
                <a:srgbClr val="9E3611"/>
              </a:buClr>
              <a:buNone/>
            </a:pPr>
            <a:endParaRPr lang="es-ES">
              <a:ea typeface="+mn-lt"/>
              <a:cs typeface="+mn-lt"/>
            </a:endParaRPr>
          </a:p>
        </p:txBody>
      </p:sp>
    </p:spTree>
    <p:extLst>
      <p:ext uri="{BB962C8B-B14F-4D97-AF65-F5344CB8AC3E}">
        <p14:creationId xmlns:p14="http://schemas.microsoft.com/office/powerpoint/2010/main" val="2842408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FB33C-129D-979C-78B9-50F953B10DB1}"/>
              </a:ext>
            </a:extLst>
          </p:cNvPr>
          <p:cNvSpPr>
            <a:spLocks noGrp="1"/>
          </p:cNvSpPr>
          <p:nvPr>
            <p:ph type="title"/>
          </p:nvPr>
        </p:nvSpPr>
        <p:spPr/>
        <p:txBody>
          <a:bodyPr/>
          <a:lstStyle/>
          <a:p>
            <a:r>
              <a:rPr lang="es-ES" err="1"/>
              <a:t>Notacion</a:t>
            </a:r>
            <a:r>
              <a:rPr lang="es-ES"/>
              <a:t> </a:t>
            </a:r>
            <a:r>
              <a:rPr lang="es-ES" err="1"/>
              <a:t>grafica</a:t>
            </a:r>
            <a:r>
              <a:rPr lang="es-ES"/>
              <a:t>:</a:t>
            </a:r>
            <a:endParaRPr lang="es-ES">
              <a:latin typeface="Rockwell Condensed"/>
            </a:endParaRPr>
          </a:p>
        </p:txBody>
      </p:sp>
      <p:sp>
        <p:nvSpPr>
          <p:cNvPr id="4" name="Marcador de contenido 3">
            <a:extLst>
              <a:ext uri="{FF2B5EF4-FFF2-40B4-BE49-F238E27FC236}">
                <a16:creationId xmlns:a16="http://schemas.microsoft.com/office/drawing/2014/main" id="{8258A313-3F4F-506B-3F0F-29EA9762E9C6}"/>
              </a:ext>
            </a:extLst>
          </p:cNvPr>
          <p:cNvSpPr>
            <a:spLocks noGrp="1"/>
          </p:cNvSpPr>
          <p:nvPr>
            <p:ph sz="half" idx="2"/>
          </p:nvPr>
        </p:nvSpPr>
        <p:spPr>
          <a:xfrm>
            <a:off x="1069848" y="2096219"/>
            <a:ext cx="4754880" cy="3291840"/>
          </a:xfrm>
        </p:spPr>
        <p:txBody>
          <a:bodyPr vert="horz" lIns="91440" tIns="45720" rIns="91440" bIns="45720" rtlCol="0" anchor="t">
            <a:normAutofit fontScale="92500" lnSpcReduction="10000"/>
          </a:bodyPr>
          <a:lstStyle/>
          <a:p>
            <a:r>
              <a:rPr lang="es-ES">
                <a:ea typeface="+mn-lt"/>
                <a:cs typeface="+mn-lt"/>
              </a:rPr>
              <a:t>La notación de UML 2.5.1 es casi idéntica a la de 2.5.</a:t>
            </a:r>
            <a:endParaRPr lang="es-ES"/>
          </a:p>
          <a:p>
            <a:pPr>
              <a:buClr>
                <a:srgbClr val="9E3611"/>
              </a:buClr>
            </a:pPr>
            <a:r>
              <a:rPr lang="es-ES">
                <a:ea typeface="+mn-lt"/>
                <a:cs typeface="+mn-lt"/>
              </a:rPr>
              <a:t>No se introdujeron nuevas formas, pero se clarificaron las reglas de estilo para diagramas de secuencia, componentes y clases.</a:t>
            </a:r>
            <a:endParaRPr lang="es-ES"/>
          </a:p>
          <a:p>
            <a:pPr>
              <a:buClr>
                <a:srgbClr val="9E3611"/>
              </a:buClr>
            </a:pPr>
            <a:endParaRPr lang="es-ES"/>
          </a:p>
        </p:txBody>
      </p:sp>
      <p:sp>
        <p:nvSpPr>
          <p:cNvPr id="6" name="Marcador de contenido 5">
            <a:extLst>
              <a:ext uri="{FF2B5EF4-FFF2-40B4-BE49-F238E27FC236}">
                <a16:creationId xmlns:a16="http://schemas.microsoft.com/office/drawing/2014/main" id="{49FBC7E2-E30B-A562-DC44-6450020E0872}"/>
              </a:ext>
            </a:extLst>
          </p:cNvPr>
          <p:cNvSpPr>
            <a:spLocks noGrp="1"/>
          </p:cNvSpPr>
          <p:nvPr>
            <p:ph sz="quarter" idx="4"/>
          </p:nvPr>
        </p:nvSpPr>
        <p:spPr>
          <a:xfrm>
            <a:off x="6364225" y="2096219"/>
            <a:ext cx="5056804" cy="4384519"/>
          </a:xfrm>
        </p:spPr>
        <p:txBody>
          <a:bodyPr vert="horz" lIns="91440" tIns="45720" rIns="91440" bIns="45720" rtlCol="0" anchor="t">
            <a:normAutofit fontScale="92500" lnSpcReduction="10000"/>
          </a:bodyPr>
          <a:lstStyle/>
          <a:p>
            <a:pPr>
              <a:buClr>
                <a:srgbClr val="9E3611"/>
              </a:buClr>
            </a:pPr>
            <a:r>
              <a:rPr lang="es-ES">
                <a:ea typeface="+mn-lt"/>
                <a:cs typeface="+mn-lt"/>
              </a:rPr>
              <a:t>Se mantienen los 14 diagramas principales introducidos desde UML 2.0 (divididos en 7 de estructura y 7 de comportamiento).</a:t>
            </a:r>
          </a:p>
          <a:p>
            <a:pPr>
              <a:buClr>
                <a:srgbClr val="9E3611"/>
              </a:buClr>
            </a:pPr>
            <a:r>
              <a:rPr lang="es-ES">
                <a:ea typeface="+mn-lt"/>
                <a:cs typeface="+mn-lt"/>
              </a:rPr>
              <a:t>Estructura: Clases, Objetos, Componentes, Despliegue, Paquetes, Estructura Compuesta, Perfil.</a:t>
            </a:r>
            <a:endParaRPr lang="es-ES"/>
          </a:p>
          <a:p>
            <a:pPr>
              <a:buClr>
                <a:srgbClr val="9E3611"/>
              </a:buClr>
            </a:pPr>
            <a:r>
              <a:rPr lang="es-ES">
                <a:ea typeface="+mn-lt"/>
                <a:cs typeface="+mn-lt"/>
              </a:rPr>
              <a:t>Comportamiento: Casos de Uso, Actividad, Máquina de Estados, Interacción (Secuencia, Comunicación, Tiempo, Visión General de Interacción).</a:t>
            </a:r>
            <a:endParaRPr lang="es-ES"/>
          </a:p>
          <a:p>
            <a:pPr marL="0" indent="0">
              <a:buClr>
                <a:srgbClr val="9E3611"/>
              </a:buClr>
              <a:buNone/>
            </a:pPr>
            <a:r>
              <a:rPr lang="es-ES">
                <a:ea typeface="+mn-lt"/>
                <a:cs typeface="+mn-lt"/>
              </a:rPr>
              <a:t>Nota: A menudo se considera que 2.5 formalizó mejor el uso de diagramas de estructura, comportamiento e interacción sin añadir nuevos tipos de diagramas en comparación con la 2.0.</a:t>
            </a:r>
            <a:endParaRPr lang="es-ES"/>
          </a:p>
          <a:p>
            <a:pPr>
              <a:buClr>
                <a:srgbClr val="9E3611"/>
              </a:buClr>
            </a:pPr>
            <a:endParaRPr lang="es-ES"/>
          </a:p>
        </p:txBody>
      </p:sp>
      <p:sp>
        <p:nvSpPr>
          <p:cNvPr id="8" name="Título 1">
            <a:extLst>
              <a:ext uri="{FF2B5EF4-FFF2-40B4-BE49-F238E27FC236}">
                <a16:creationId xmlns:a16="http://schemas.microsoft.com/office/drawing/2014/main" id="{9300D430-C2A9-3A43-F5BD-17D65B294F19}"/>
              </a:ext>
            </a:extLst>
          </p:cNvPr>
          <p:cNvSpPr txBox="1">
            <a:spLocks/>
          </p:cNvSpPr>
          <p:nvPr/>
        </p:nvSpPr>
        <p:spPr>
          <a:xfrm>
            <a:off x="6369342" y="478881"/>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s-ES"/>
              <a:t>TIPOS DE DIAGRAMAS:</a:t>
            </a:r>
          </a:p>
        </p:txBody>
      </p:sp>
    </p:spTree>
    <p:extLst>
      <p:ext uri="{BB962C8B-B14F-4D97-AF65-F5344CB8AC3E}">
        <p14:creationId xmlns:p14="http://schemas.microsoft.com/office/powerpoint/2010/main" val="1209884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62A8E-DB2D-A6E0-9089-54328540C34D}"/>
              </a:ext>
            </a:extLst>
          </p:cNvPr>
          <p:cNvSpPr>
            <a:spLocks noGrp="1"/>
          </p:cNvSpPr>
          <p:nvPr>
            <p:ph type="title"/>
          </p:nvPr>
        </p:nvSpPr>
        <p:spPr>
          <a:xfrm>
            <a:off x="-4767" y="142709"/>
            <a:ext cx="9853246" cy="1365114"/>
          </a:xfrm>
        </p:spPr>
        <p:txBody>
          <a:bodyPr vert="horz" lIns="91440" tIns="45720" rIns="91440" bIns="45720" rtlCol="0" anchor="ctr">
            <a:noAutofit/>
          </a:bodyPr>
          <a:lstStyle/>
          <a:p>
            <a:r>
              <a:rPr lang="en-US" sz="3200" dirty="0" err="1">
                <a:ea typeface="+mj-lt"/>
                <a:cs typeface="+mj-lt"/>
              </a:rPr>
              <a:t>Notación</a:t>
            </a:r>
            <a:r>
              <a:rPr lang="en-US" sz="3200" dirty="0">
                <a:ea typeface="+mj-lt"/>
                <a:cs typeface="+mj-lt"/>
              </a:rPr>
              <a:t>, </a:t>
            </a:r>
            <a:r>
              <a:rPr lang="en-US" sz="3200" dirty="0" err="1">
                <a:ea typeface="+mj-lt"/>
                <a:cs typeface="+mj-lt"/>
              </a:rPr>
              <a:t>semántica</a:t>
            </a:r>
            <a:r>
              <a:rPr lang="en-US" sz="3200" dirty="0">
                <a:ea typeface="+mj-lt"/>
                <a:cs typeface="+mj-lt"/>
              </a:rPr>
              <a:t> y </a:t>
            </a:r>
            <a:r>
              <a:rPr lang="en-US" sz="3200" dirty="0" err="1">
                <a:ea typeface="+mj-lt"/>
                <a:cs typeface="+mj-lt"/>
              </a:rPr>
              <a:t>tipos</a:t>
            </a:r>
            <a:r>
              <a:rPr lang="en-US" sz="3200" dirty="0">
                <a:ea typeface="+mj-lt"/>
                <a:cs typeface="+mj-lt"/>
              </a:rPr>
              <a:t> de </a:t>
            </a:r>
            <a:r>
              <a:rPr lang="en-US" sz="3200" dirty="0" err="1">
                <a:ea typeface="+mj-lt"/>
                <a:cs typeface="+mj-lt"/>
              </a:rPr>
              <a:t>diagramas</a:t>
            </a:r>
            <a:r>
              <a:rPr lang="en-US" sz="3200" dirty="0">
                <a:ea typeface="+mj-lt"/>
                <a:cs typeface="+mj-lt"/>
              </a:rPr>
              <a:t>: </a:t>
            </a:r>
            <a:endParaRPr lang="en-US" sz="3200"/>
          </a:p>
        </p:txBody>
      </p:sp>
      <p:sp>
        <p:nvSpPr>
          <p:cNvPr id="4" name="Content Placeholder 3">
            <a:extLst>
              <a:ext uri="{FF2B5EF4-FFF2-40B4-BE49-F238E27FC236}">
                <a16:creationId xmlns:a16="http://schemas.microsoft.com/office/drawing/2014/main" id="{9F83BDB7-2732-0F4D-F3AC-385CD78F2FDF}"/>
              </a:ext>
            </a:extLst>
          </p:cNvPr>
          <p:cNvSpPr>
            <a:spLocks noGrp="1"/>
          </p:cNvSpPr>
          <p:nvPr>
            <p:ph sz="half" idx="2"/>
          </p:nvPr>
        </p:nvSpPr>
        <p:spPr>
          <a:xfrm>
            <a:off x="1783002" y="2919046"/>
            <a:ext cx="8623495" cy="1025378"/>
          </a:xfrm>
        </p:spPr>
        <p:txBody>
          <a:bodyPr vert="horz" lIns="91440" tIns="45720" rIns="91440" bIns="45720" rtlCol="0" anchor="t">
            <a:noAutofit/>
          </a:bodyPr>
          <a:lstStyle/>
          <a:p>
            <a:pPr marL="0" indent="0">
              <a:buNone/>
            </a:pPr>
            <a:r>
              <a:rPr lang="en-US" sz="2400" dirty="0">
                <a:latin typeface="Rockwell"/>
                <a:ea typeface="+mn-lt"/>
                <a:cs typeface="+mn-lt"/>
              </a:rPr>
              <a:t>Para </a:t>
            </a:r>
            <a:r>
              <a:rPr lang="en-US" sz="2400" dirty="0" err="1">
                <a:latin typeface="Rockwell"/>
                <a:ea typeface="+mn-lt"/>
                <a:cs typeface="+mn-lt"/>
              </a:rPr>
              <a:t>ver</a:t>
            </a:r>
            <a:r>
              <a:rPr lang="en-US" sz="2400" dirty="0">
                <a:latin typeface="Rockwell"/>
                <a:ea typeface="+mn-lt"/>
                <a:cs typeface="+mn-lt"/>
              </a:rPr>
              <a:t> la </a:t>
            </a:r>
            <a:r>
              <a:rPr lang="en-US" sz="2400" dirty="0" err="1">
                <a:ea typeface="+mn-lt"/>
                <a:cs typeface="+mn-lt"/>
              </a:rPr>
              <a:t>notación</a:t>
            </a:r>
            <a:r>
              <a:rPr lang="en-US" sz="2400" dirty="0">
                <a:latin typeface="Rockwell"/>
                <a:ea typeface="+mn-lt"/>
                <a:cs typeface="+mn-lt"/>
              </a:rPr>
              <a:t>, </a:t>
            </a:r>
            <a:r>
              <a:rPr lang="en-US" sz="2400" dirty="0" err="1">
                <a:ea typeface="+mn-lt"/>
                <a:cs typeface="+mn-lt"/>
              </a:rPr>
              <a:t>semántica</a:t>
            </a:r>
            <a:r>
              <a:rPr lang="en-US" sz="2400" dirty="0">
                <a:ea typeface="+mn-lt"/>
                <a:cs typeface="+mn-lt"/>
              </a:rPr>
              <a:t> </a:t>
            </a:r>
            <a:r>
              <a:rPr lang="en-US" sz="2400" dirty="0">
                <a:latin typeface="Rockwell"/>
                <a:ea typeface="+mn-lt"/>
                <a:cs typeface="+mn-lt"/>
              </a:rPr>
              <a:t>y </a:t>
            </a:r>
            <a:r>
              <a:rPr lang="en-US" sz="2400" dirty="0" err="1">
                <a:latin typeface="Rockwell"/>
                <a:ea typeface="+mn-lt"/>
                <a:cs typeface="+mn-lt"/>
              </a:rPr>
              <a:t>tipos</a:t>
            </a:r>
            <a:r>
              <a:rPr lang="en-US" sz="2400" dirty="0">
                <a:latin typeface="Rockwell"/>
                <a:ea typeface="+mn-lt"/>
                <a:cs typeface="+mn-lt"/>
              </a:rPr>
              <a:t> de </a:t>
            </a:r>
            <a:r>
              <a:rPr lang="en-US" sz="2400" dirty="0" err="1">
                <a:latin typeface="Rockwell"/>
                <a:ea typeface="+mn-lt"/>
                <a:cs typeface="+mn-lt"/>
              </a:rPr>
              <a:t>diagramas</a:t>
            </a:r>
            <a:r>
              <a:rPr lang="en-US" sz="2400" dirty="0">
                <a:latin typeface="Rockwell"/>
                <a:ea typeface="+mn-lt"/>
                <a:cs typeface="+mn-lt"/>
              </a:rPr>
              <a:t>: </a:t>
            </a:r>
            <a:endParaRPr lang="en-US" dirty="0"/>
          </a:p>
          <a:p>
            <a:pPr marL="0" indent="0">
              <a:buNone/>
            </a:pPr>
            <a:r>
              <a:rPr lang="en-US" sz="2800" dirty="0">
                <a:solidFill>
                  <a:srgbClr val="0070C0"/>
                </a:solidFill>
                <a:ea typeface="+mn-lt"/>
                <a:cs typeface="+mn-lt"/>
              </a:rPr>
              <a:t>https://www.omg.org/spec/UML/2.5.1/About-UML </a:t>
            </a:r>
            <a:endParaRPr lang="en-US" sz="2800">
              <a:solidFill>
                <a:srgbClr val="0070C0"/>
              </a:solidFill>
            </a:endParaRPr>
          </a:p>
        </p:txBody>
      </p:sp>
    </p:spTree>
    <p:extLst>
      <p:ext uri="{BB962C8B-B14F-4D97-AF65-F5344CB8AC3E}">
        <p14:creationId xmlns:p14="http://schemas.microsoft.com/office/powerpoint/2010/main" val="13233190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24</Slides>
  <Notes>0</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Wood Type</vt:lpstr>
      <vt:lpstr>El caos de los métodos y el nacimiento (1990-1996)</vt:lpstr>
      <vt:lpstr>MÉTODOS DE MODELADO MÁS INFLUYENTES </vt:lpstr>
      <vt:lpstr>ORIGEN DEL MÉTODO UNIFICADO</vt:lpstr>
      <vt:lpstr>ORIGEN DEL MÉTODO UNIFICADO</vt:lpstr>
      <vt:lpstr>NACIMIENTO DE UML</vt:lpstr>
      <vt:lpstr>CARACTERÍSTICAS DE LAS VERSIONES 0.9 Y 0.91</vt:lpstr>
      <vt:lpstr>VALIZACIÓN INICIAL Y RETROALIMENTACIÓN INDUSTRIAL</vt:lpstr>
      <vt:lpstr>La estandarización y la Serie 1.x (1997-2003)</vt:lpstr>
      <vt:lpstr>LA ESTANDARIZACIÓN Y LA SERIE 1.X (1997-2003)</vt:lpstr>
      <vt:lpstr>EVOLUCIÓN TÉCNICA DE LA SERIE 1.X</vt:lpstr>
      <vt:lpstr>EVOLUCIÓN TÉCNICA DE LA SERIE 1.X</vt:lpstr>
      <vt:lpstr>El gran salto – uml 2.0 (2005)</vt:lpstr>
      <vt:lpstr>Introdujo una división en la arquitectura interna</vt:lpstr>
      <vt:lpstr>Los 13 diagramas de uml</vt:lpstr>
      <vt:lpstr>Los tres diagramas nuevos de uml 2.0</vt:lpstr>
      <vt:lpstr>Madurez y Normativa ISO en UML (2011 - 2015)</vt:lpstr>
      <vt:lpstr>UML 2.4.1 (2011) - Sello ISO y estandarización global</vt:lpstr>
      <vt:lpstr>PowerPoint Presentation</vt:lpstr>
      <vt:lpstr>Caracteristicas de versiones</vt:lpstr>
      <vt:lpstr>metamodelo</vt:lpstr>
      <vt:lpstr>PowerPoint Presentation</vt:lpstr>
      <vt:lpstr>SEmantica y estructura del modelo</vt:lpstr>
      <vt:lpstr>Notacion grafica:</vt:lpstr>
      <vt:lpstr>Notación, semántica y tipos de diagramas: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
  <cp:lastModifiedBy>Juan Sanchez Solano</cp:lastModifiedBy>
  <cp:revision>132</cp:revision>
  <dcterms:created xsi:type="dcterms:W3CDTF">2026-04-04T21:24:03Z</dcterms:created>
  <dcterms:modified xsi:type="dcterms:W3CDTF">2026-04-06T10:56:45Z</dcterms:modified>
</cp:coreProperties>
</file>