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enturyGothic-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enturyGothic-italic.fntdata"/><Relationship Id="rId14" Type="http://schemas.openxmlformats.org/officeDocument/2006/relationships/slide" Target="slides/slide9.xml"/><Relationship Id="rId36" Type="http://schemas.openxmlformats.org/officeDocument/2006/relationships/font" Target="fonts/CenturyGothic-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CenturyGothic-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t>Recomendaciones para armar el ppt. </a:t>
            </a:r>
            <a:endParaRPr sz="1500"/>
          </a:p>
          <a:p>
            <a:pPr indent="-323850" lvl="0" marL="457200" rtl="0" algn="l">
              <a:spcBef>
                <a:spcPts val="0"/>
              </a:spcBef>
              <a:spcAft>
                <a:spcPts val="0"/>
              </a:spcAft>
              <a:buSzPts val="1500"/>
              <a:buChar char="-"/>
            </a:pPr>
            <a:r>
              <a:rPr lang="es" sz="1500"/>
              <a:t>Fecha de revisión. En la hoja 1 colocar la fecha en que se realizó la última modificación del ppt.</a:t>
            </a:r>
            <a:endParaRPr sz="1500"/>
          </a:p>
          <a:p>
            <a:pPr indent="-323850" lvl="0" marL="457200" rtl="0" algn="l">
              <a:spcBef>
                <a:spcPts val="0"/>
              </a:spcBef>
              <a:spcAft>
                <a:spcPts val="0"/>
              </a:spcAft>
              <a:buSzPts val="1500"/>
              <a:buChar char="-"/>
            </a:pPr>
            <a:r>
              <a:rPr lang="es" sz="1500"/>
              <a:t>En la hoja 2. Listar los objetivos o las competencias que deseamos que desarrolle el estudiante. </a:t>
            </a:r>
            <a:endParaRPr sz="1500"/>
          </a:p>
          <a:p>
            <a:pPr indent="-323850" lvl="0" marL="457200" rtl="0" algn="l">
              <a:spcBef>
                <a:spcPts val="0"/>
              </a:spcBef>
              <a:spcAft>
                <a:spcPts val="0"/>
              </a:spcAft>
              <a:buSzPts val="1500"/>
              <a:buChar char="-"/>
            </a:pPr>
            <a:r>
              <a:rPr lang="es" sz="1500"/>
              <a:t>El tema a tratar debe ser autocontenido. Es por ello que se debe agregar lecturas recomendadas.</a:t>
            </a:r>
            <a:endParaRPr sz="1500"/>
          </a:p>
          <a:p>
            <a:pPr indent="-323850" lvl="0" marL="457200" rtl="0" algn="l">
              <a:spcBef>
                <a:spcPts val="0"/>
              </a:spcBef>
              <a:spcAft>
                <a:spcPts val="0"/>
              </a:spcAft>
              <a:buSzPts val="1500"/>
              <a:buChar char="-"/>
            </a:pPr>
            <a:r>
              <a:rPr lang="es" sz="1500"/>
              <a:t>Colocar entre 3 a 5 ejemplos.</a:t>
            </a:r>
            <a:endParaRPr sz="1500"/>
          </a:p>
          <a:p>
            <a:pPr indent="-323850" lvl="0" marL="457200" rtl="0" algn="l">
              <a:spcBef>
                <a:spcPts val="0"/>
              </a:spcBef>
              <a:spcAft>
                <a:spcPts val="0"/>
              </a:spcAft>
              <a:buSzPts val="1500"/>
              <a:buChar char="-"/>
            </a:pPr>
            <a:r>
              <a:rPr lang="es" sz="1500"/>
              <a:t>Colocar entre 1 a 3 actividades similares a los ejemplos para reforzar lo </a:t>
            </a:r>
            <a:r>
              <a:rPr lang="es" sz="1500"/>
              <a:t>recién</a:t>
            </a:r>
            <a:r>
              <a:rPr lang="es" sz="1500"/>
              <a:t> visto.</a:t>
            </a:r>
            <a:endParaRPr sz="1500"/>
          </a:p>
          <a:p>
            <a:pPr indent="-323850" lvl="0" marL="457200" rtl="0" algn="l">
              <a:spcBef>
                <a:spcPts val="0"/>
              </a:spcBef>
              <a:spcAft>
                <a:spcPts val="0"/>
              </a:spcAft>
              <a:buSzPts val="1500"/>
              <a:buChar char="-"/>
            </a:pPr>
            <a:r>
              <a:rPr lang="es" sz="1500"/>
              <a:t>Cuando se cierre el tema o un subtema, hacer una placa con los puntos </a:t>
            </a:r>
            <a:r>
              <a:rPr lang="es" sz="1500"/>
              <a:t>más</a:t>
            </a:r>
            <a:r>
              <a:rPr lang="es" sz="1500"/>
              <a:t> importantes de ese tema o subtema visto. (lista de contenidos)</a:t>
            </a:r>
            <a:endParaRPr sz="1500"/>
          </a:p>
          <a:p>
            <a:pPr indent="-323850" lvl="0" marL="457200" rtl="0" algn="l">
              <a:spcBef>
                <a:spcPts val="0"/>
              </a:spcBef>
              <a:spcAft>
                <a:spcPts val="0"/>
              </a:spcAft>
              <a:buSzPts val="1500"/>
              <a:buChar char="-"/>
            </a:pPr>
            <a:r>
              <a:rPr lang="es" sz="1500"/>
              <a:t>Bibliografía. La que se utilizó para hacer el ppt y la que se recomienda leer.</a:t>
            </a:r>
            <a:endParaRPr sz="1500"/>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08818ae88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108818ae88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169b6d12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169b6d12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1169b6d12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1169b6d12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16a79ed1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16a79ed1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8818ae88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8818ae88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08818ae88e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08818ae88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08818ae88e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08818ae88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08818ae88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08818ae88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08818ae88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08818ae88e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08818ae88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08818ae88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08818ae88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08818ae88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08818ae88e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08818ae88e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ceeea625d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ceeea625d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08818ae88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08818ae88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8818ae88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8818ae88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08818ae88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08818ae88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08818ae88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08818ae88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8818ae88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08818ae88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8818ae88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08818ae88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08818ae88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08818ae88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08818ae88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08818ae88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08818ae88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08818ae88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08818ae88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08818ae88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08818ae88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08818ae88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8818ae88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8818ae88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08818ae88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08818ae88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8818ae88e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8818ae88e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d124037c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d124037c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8" name="Google Shape;2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 name="Google Shape;3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 name="Google Shape;4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F6FC6"/>
              </a:buClr>
              <a:buSzPts val="2800"/>
              <a:buFont typeface="Century Gothic"/>
              <a:buNone/>
              <a:defRPr sz="2800">
                <a:solidFill>
                  <a:srgbClr val="0F6FC6"/>
                </a:solidFill>
                <a:latin typeface="Century Gothic"/>
                <a:ea typeface="Century Gothic"/>
                <a:cs typeface="Century Gothic"/>
                <a:sym typeface="Century Gothic"/>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entury Gothic"/>
              <a:buChar char="●"/>
              <a:defRPr sz="1800">
                <a:solidFill>
                  <a:schemeClr val="dk2"/>
                </a:solidFill>
                <a:latin typeface="Century Gothic"/>
                <a:ea typeface="Century Gothic"/>
                <a:cs typeface="Century Gothic"/>
                <a:sym typeface="Century Gothic"/>
              </a:defRPr>
            </a:lvl1pPr>
            <a:lvl2pPr indent="-317500" lvl="1" marL="9144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2pPr>
            <a:lvl3pPr indent="-317500" lvl="2" marL="13716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3pPr>
            <a:lvl4pPr indent="-317500" lvl="3" marL="18288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4pPr>
            <a:lvl5pPr indent="-317500" lvl="4" marL="22860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5pPr>
            <a:lvl6pPr indent="-317500" lvl="5" marL="27432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6pPr>
            <a:lvl7pPr indent="-317500" lvl="6" marL="32004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7pPr>
            <a:lvl8pPr indent="-317500" lvl="7" marL="36576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8pPr>
            <a:lvl9pPr indent="-317500" lvl="8" marL="41148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9pPr>
          </a:lstStyle>
          <a:p/>
        </p:txBody>
      </p:sp>
      <p:pic>
        <p:nvPicPr>
          <p:cNvPr id="8" name="Google Shape;8;p1"/>
          <p:cNvPicPr preferRelativeResize="0"/>
          <p:nvPr/>
        </p:nvPicPr>
        <p:blipFill>
          <a:blip r:embed="rId1">
            <a:alphaModFix/>
          </a:blip>
          <a:stretch>
            <a:fillRect/>
          </a:stretch>
        </p:blipFill>
        <p:spPr>
          <a:xfrm>
            <a:off x="8263925" y="81275"/>
            <a:ext cx="815074" cy="420200"/>
          </a:xfrm>
          <a:prstGeom prst="rect">
            <a:avLst/>
          </a:prstGeom>
          <a:noFill/>
          <a:ln>
            <a:noFill/>
          </a:ln>
        </p:spPr>
      </p:pic>
      <p:sp>
        <p:nvSpPr>
          <p:cNvPr id="9" name="Google Shape;9;p1"/>
          <p:cNvSpPr txBox="1"/>
          <p:nvPr/>
        </p:nvSpPr>
        <p:spPr>
          <a:xfrm>
            <a:off x="7021700" y="4911900"/>
            <a:ext cx="2171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solidFill>
                  <a:srgbClr val="666666"/>
                </a:solidFill>
                <a:latin typeface="Century Gothic"/>
                <a:ea typeface="Century Gothic"/>
                <a:cs typeface="Century Gothic"/>
                <a:sym typeface="Century Gothic"/>
              </a:rPr>
              <a:t>Ing. María Alejandra Boggio - Ing. Sofía Pérez </a:t>
            </a:r>
            <a:endParaRPr sz="700">
              <a:solidFill>
                <a:srgbClr val="666666"/>
              </a:solidFill>
              <a:latin typeface="Century Gothic"/>
              <a:ea typeface="Century Gothic"/>
              <a:cs typeface="Century Gothic"/>
              <a:sym typeface="Century Gothic"/>
            </a:endParaRPr>
          </a:p>
        </p:txBody>
      </p:sp>
      <p:sp>
        <p:nvSpPr>
          <p:cNvPr id="10" name="Google Shape;10;p1"/>
          <p:cNvSpPr txBox="1"/>
          <p:nvPr/>
        </p:nvSpPr>
        <p:spPr>
          <a:xfrm>
            <a:off x="270850" y="76200"/>
            <a:ext cx="78264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800">
                <a:solidFill>
                  <a:schemeClr val="dk2"/>
                </a:solidFill>
                <a:latin typeface="Century Gothic"/>
                <a:ea typeface="Century Gothic"/>
                <a:cs typeface="Century Gothic"/>
                <a:sym typeface="Century Gothic"/>
              </a:rPr>
              <a:t>Carrera:</a:t>
            </a:r>
            <a:r>
              <a:rPr b="1" lang="es" sz="800">
                <a:solidFill>
                  <a:schemeClr val="dk2"/>
                </a:solidFill>
                <a:latin typeface="Century Gothic"/>
                <a:ea typeface="Century Gothic"/>
                <a:cs typeface="Century Gothic"/>
                <a:sym typeface="Century Gothic"/>
              </a:rPr>
              <a:t> Ingeniería en Informática			</a:t>
            </a:r>
            <a:r>
              <a:rPr lang="es" sz="800">
                <a:solidFill>
                  <a:schemeClr val="dk2"/>
                </a:solidFill>
                <a:latin typeface="Century Gothic"/>
                <a:ea typeface="Century Gothic"/>
                <a:cs typeface="Century Gothic"/>
                <a:sym typeface="Century Gothic"/>
              </a:rPr>
              <a:t>Cátedra:</a:t>
            </a:r>
            <a:r>
              <a:rPr b="1" lang="es" sz="800">
                <a:solidFill>
                  <a:schemeClr val="dk2"/>
                </a:solidFill>
                <a:latin typeface="Century Gothic"/>
                <a:ea typeface="Century Gothic"/>
                <a:cs typeface="Century Gothic"/>
                <a:sym typeface="Century Gothic"/>
              </a:rPr>
              <a:t> Ingeniería de Software I</a:t>
            </a:r>
            <a:endParaRPr b="1" sz="800">
              <a:solidFill>
                <a:schemeClr val="dk2"/>
              </a:solidFill>
              <a:latin typeface="Century Gothic"/>
              <a:ea typeface="Century Gothic"/>
              <a:cs typeface="Century Gothic"/>
              <a:sym typeface="Century Gothic"/>
            </a:endParaRPr>
          </a:p>
        </p:txBody>
      </p:sp>
      <p:cxnSp>
        <p:nvCxnSpPr>
          <p:cNvPr id="11" name="Google Shape;11;p1"/>
          <p:cNvCxnSpPr/>
          <p:nvPr/>
        </p:nvCxnSpPr>
        <p:spPr>
          <a:xfrm flipH="1" rot="10800000">
            <a:off x="270850" y="369950"/>
            <a:ext cx="7826400" cy="2700"/>
          </a:xfrm>
          <a:prstGeom prst="straightConnector1">
            <a:avLst/>
          </a:prstGeom>
          <a:noFill/>
          <a:ln cap="flat" cmpd="sng" w="9525">
            <a:solidFill>
              <a:schemeClr val="dk2"/>
            </a:solidFill>
            <a:prstDash val="dot"/>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repositorio.grial.eu/bitstream/grial/1228/1/07-rep.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Inicios de la Ingeniería de Software</a:t>
            </a:r>
            <a:endParaRPr/>
          </a:p>
        </p:txBody>
      </p:sp>
      <p:sp>
        <p:nvSpPr>
          <p:cNvPr id="47" name="Google Shape;47;p13"/>
          <p:cNvSpPr txBox="1"/>
          <p:nvPr/>
        </p:nvSpPr>
        <p:spPr>
          <a:xfrm>
            <a:off x="0" y="4804800"/>
            <a:ext cx="2272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Fecha de revisión: </a:t>
            </a:r>
            <a:endParaRPr sz="8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El estudiante debe ser capaz de…</a:t>
            </a:r>
            <a:endParaRPr/>
          </a:p>
        </p:txBody>
      </p:sp>
      <p:sp>
        <p:nvSpPr>
          <p:cNvPr id="53" name="Google Shape;53;p1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Conocer cómo y por qué surgió la IS.</a:t>
            </a:r>
            <a:endParaRPr/>
          </a:p>
          <a:p>
            <a:pPr indent="-342900" lvl="0" marL="457200" rtl="0" algn="just">
              <a:spcBef>
                <a:spcPts val="0"/>
              </a:spcBef>
              <a:spcAft>
                <a:spcPts val="0"/>
              </a:spcAft>
              <a:buSzPts val="1800"/>
              <a:buChar char="●"/>
            </a:pPr>
            <a:r>
              <a:rPr lang="es"/>
              <a:t>Reconocer los avances de la IS a lo largo del tiempo.</a:t>
            </a:r>
            <a:endParaRPr/>
          </a:p>
          <a:p>
            <a:pPr indent="-342900" lvl="0" marL="457200" rtl="0" algn="just">
              <a:spcBef>
                <a:spcPts val="0"/>
              </a:spcBef>
              <a:spcAft>
                <a:spcPts val="0"/>
              </a:spcAft>
              <a:buSzPts val="1800"/>
              <a:buChar char="●"/>
            </a:pPr>
            <a:r>
              <a:rPr lang="es"/>
              <a:t>Comprender porqué es necesaria la IS. </a:t>
            </a:r>
            <a:endParaRPr/>
          </a:p>
          <a:p>
            <a:pPr indent="0" lvl="0" marL="0" rtl="0" algn="just">
              <a:spcBef>
                <a:spcPts val="1200"/>
              </a:spcBef>
              <a:spcAft>
                <a:spcPts val="1200"/>
              </a:spcAft>
              <a:buNone/>
            </a:pPr>
            <a:r>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Previamente…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6"/>
          <p:cNvSpPr txBox="1"/>
          <p:nvPr/>
        </p:nvSpPr>
        <p:spPr>
          <a:xfrm>
            <a:off x="2841375" y="1001000"/>
            <a:ext cx="1483800" cy="40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500">
                <a:latin typeface="Century Gothic"/>
                <a:ea typeface="Century Gothic"/>
                <a:cs typeface="Century Gothic"/>
                <a:sym typeface="Century Gothic"/>
              </a:rPr>
              <a:t>Algoritmos</a:t>
            </a:r>
            <a:endParaRPr b="1" sz="1500">
              <a:latin typeface="Century Gothic"/>
              <a:ea typeface="Century Gothic"/>
              <a:cs typeface="Century Gothic"/>
              <a:sym typeface="Century Gothic"/>
            </a:endParaRPr>
          </a:p>
        </p:txBody>
      </p:sp>
      <p:sp>
        <p:nvSpPr>
          <p:cNvPr id="64" name="Google Shape;64;p16"/>
          <p:cNvSpPr txBox="1"/>
          <p:nvPr/>
        </p:nvSpPr>
        <p:spPr>
          <a:xfrm>
            <a:off x="376575" y="496575"/>
            <a:ext cx="1224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latin typeface="Century Gothic"/>
                <a:ea typeface="Century Gothic"/>
                <a:cs typeface="Century Gothic"/>
                <a:sym typeface="Century Gothic"/>
              </a:rPr>
              <a:t>Problemas de la realidad</a:t>
            </a:r>
            <a:endParaRPr sz="1200">
              <a:latin typeface="Century Gothic"/>
              <a:ea typeface="Century Gothic"/>
              <a:cs typeface="Century Gothic"/>
              <a:sym typeface="Century Gothic"/>
            </a:endParaRPr>
          </a:p>
        </p:txBody>
      </p:sp>
      <p:cxnSp>
        <p:nvCxnSpPr>
          <p:cNvPr id="65" name="Google Shape;65;p16"/>
          <p:cNvCxnSpPr>
            <a:stCxn id="64" idx="3"/>
            <a:endCxn id="63" idx="0"/>
          </p:cNvCxnSpPr>
          <p:nvPr/>
        </p:nvCxnSpPr>
        <p:spPr>
          <a:xfrm>
            <a:off x="1600575" y="773625"/>
            <a:ext cx="1982700" cy="227400"/>
          </a:xfrm>
          <a:prstGeom prst="bentConnector2">
            <a:avLst/>
          </a:prstGeom>
          <a:noFill/>
          <a:ln cap="flat" cmpd="sng" w="9525">
            <a:solidFill>
              <a:schemeClr val="dk2"/>
            </a:solidFill>
            <a:prstDash val="solid"/>
            <a:round/>
            <a:headEnd len="med" w="med" type="none"/>
            <a:tailEnd len="med" w="med" type="none"/>
          </a:ln>
        </p:spPr>
      </p:cxnSp>
      <p:sp>
        <p:nvSpPr>
          <p:cNvPr id="66" name="Google Shape;66;p16"/>
          <p:cNvSpPr txBox="1"/>
          <p:nvPr/>
        </p:nvSpPr>
        <p:spPr>
          <a:xfrm>
            <a:off x="1541425" y="558075"/>
            <a:ext cx="1780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800">
                <a:latin typeface="Century Gothic"/>
                <a:ea typeface="Century Gothic"/>
                <a:cs typeface="Century Gothic"/>
                <a:sym typeface="Century Gothic"/>
              </a:rPr>
              <a:t>Los analizamos, </a:t>
            </a:r>
            <a:r>
              <a:rPr lang="es" sz="800">
                <a:latin typeface="Century Gothic"/>
                <a:ea typeface="Century Gothic"/>
                <a:cs typeface="Century Gothic"/>
                <a:sym typeface="Century Gothic"/>
              </a:rPr>
              <a:t>comprendemos</a:t>
            </a:r>
            <a:r>
              <a:rPr lang="es" sz="800">
                <a:latin typeface="Century Gothic"/>
                <a:ea typeface="Century Gothic"/>
                <a:cs typeface="Century Gothic"/>
                <a:sym typeface="Century Gothic"/>
              </a:rPr>
              <a:t> y diseñamos</a:t>
            </a:r>
            <a:endParaRPr sz="800">
              <a:latin typeface="Century Gothic"/>
              <a:ea typeface="Century Gothic"/>
              <a:cs typeface="Century Gothic"/>
              <a:sym typeface="Century Gothic"/>
            </a:endParaRPr>
          </a:p>
        </p:txBody>
      </p:sp>
      <p:sp>
        <p:nvSpPr>
          <p:cNvPr id="67" name="Google Shape;67;p16"/>
          <p:cNvSpPr txBox="1"/>
          <p:nvPr/>
        </p:nvSpPr>
        <p:spPr>
          <a:xfrm>
            <a:off x="5849800" y="572775"/>
            <a:ext cx="2500200" cy="554100"/>
          </a:xfrm>
          <a:prstGeom prst="rect">
            <a:avLst/>
          </a:prstGeom>
          <a:noFill/>
          <a:ln>
            <a:noFill/>
          </a:ln>
        </p:spPr>
        <p:txBody>
          <a:bodyPr anchorCtr="0" anchor="t" bIns="91425" lIns="91425" spcFirstLastPara="1" rIns="91425" wrap="square" tIns="91425">
            <a:spAutoFit/>
          </a:bodyPr>
          <a:lstStyle/>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Diagramas de flujo</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Pseudocódigo</a:t>
            </a:r>
            <a:endParaRPr sz="1200">
              <a:latin typeface="Century Gothic"/>
              <a:ea typeface="Century Gothic"/>
              <a:cs typeface="Century Gothic"/>
              <a:sym typeface="Century Gothic"/>
            </a:endParaRPr>
          </a:p>
        </p:txBody>
      </p:sp>
      <p:sp>
        <p:nvSpPr>
          <p:cNvPr id="68" name="Google Shape;68;p16"/>
          <p:cNvSpPr txBox="1"/>
          <p:nvPr/>
        </p:nvSpPr>
        <p:spPr>
          <a:xfrm rot="-1108495">
            <a:off x="4475432" y="662438"/>
            <a:ext cx="1224086" cy="307753"/>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Se representan con</a:t>
            </a:r>
            <a:endParaRPr sz="800">
              <a:latin typeface="Century Gothic"/>
              <a:ea typeface="Century Gothic"/>
              <a:cs typeface="Century Gothic"/>
              <a:sym typeface="Century Gothic"/>
            </a:endParaRPr>
          </a:p>
        </p:txBody>
      </p:sp>
      <p:sp>
        <p:nvSpPr>
          <p:cNvPr id="69" name="Google Shape;69;p16"/>
          <p:cNvSpPr txBox="1"/>
          <p:nvPr/>
        </p:nvSpPr>
        <p:spPr>
          <a:xfrm>
            <a:off x="2899875" y="1853100"/>
            <a:ext cx="1366800" cy="5850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Century Gothic"/>
                <a:ea typeface="Century Gothic"/>
                <a:cs typeface="Century Gothic"/>
                <a:sym typeface="Century Gothic"/>
              </a:rPr>
              <a:t>Lenguajes</a:t>
            </a:r>
            <a:r>
              <a:rPr b="1" lang="es" sz="1300">
                <a:latin typeface="Century Gothic"/>
                <a:ea typeface="Century Gothic"/>
                <a:cs typeface="Century Gothic"/>
                <a:sym typeface="Century Gothic"/>
              </a:rPr>
              <a:t> de Programación</a:t>
            </a:r>
            <a:endParaRPr b="1" sz="1300">
              <a:latin typeface="Century Gothic"/>
              <a:ea typeface="Century Gothic"/>
              <a:cs typeface="Century Gothic"/>
              <a:sym typeface="Century Gothic"/>
            </a:endParaRPr>
          </a:p>
        </p:txBody>
      </p:sp>
      <p:cxnSp>
        <p:nvCxnSpPr>
          <p:cNvPr id="70" name="Google Shape;70;p16"/>
          <p:cNvCxnSpPr>
            <a:stCxn id="63" idx="2"/>
            <a:endCxn id="69" idx="0"/>
          </p:cNvCxnSpPr>
          <p:nvPr/>
        </p:nvCxnSpPr>
        <p:spPr>
          <a:xfrm>
            <a:off x="3583275" y="1401200"/>
            <a:ext cx="0" cy="451800"/>
          </a:xfrm>
          <a:prstGeom prst="straightConnector1">
            <a:avLst/>
          </a:prstGeom>
          <a:noFill/>
          <a:ln cap="flat" cmpd="sng" w="9525">
            <a:solidFill>
              <a:schemeClr val="dk2"/>
            </a:solidFill>
            <a:prstDash val="solid"/>
            <a:round/>
            <a:headEnd len="med" w="med" type="none"/>
            <a:tailEnd len="med" w="med" type="none"/>
          </a:ln>
        </p:spPr>
      </p:cxnSp>
      <p:sp>
        <p:nvSpPr>
          <p:cNvPr id="71" name="Google Shape;71;p16"/>
          <p:cNvSpPr txBox="1"/>
          <p:nvPr/>
        </p:nvSpPr>
        <p:spPr>
          <a:xfrm>
            <a:off x="3641175" y="1545300"/>
            <a:ext cx="1224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Se implementan en</a:t>
            </a:r>
            <a:endParaRPr sz="800">
              <a:latin typeface="Century Gothic"/>
              <a:ea typeface="Century Gothic"/>
              <a:cs typeface="Century Gothic"/>
              <a:sym typeface="Century Gothic"/>
            </a:endParaRPr>
          </a:p>
        </p:txBody>
      </p:sp>
      <p:sp>
        <p:nvSpPr>
          <p:cNvPr id="72" name="Google Shape;72;p16"/>
          <p:cNvSpPr txBox="1"/>
          <p:nvPr/>
        </p:nvSpPr>
        <p:spPr>
          <a:xfrm>
            <a:off x="376575" y="1853100"/>
            <a:ext cx="1483800" cy="5850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Century Gothic"/>
                <a:ea typeface="Century Gothic"/>
                <a:cs typeface="Century Gothic"/>
                <a:sym typeface="Century Gothic"/>
              </a:rPr>
              <a:t>Paradigma de Programación</a:t>
            </a:r>
            <a:endParaRPr b="1" sz="1300">
              <a:latin typeface="Century Gothic"/>
              <a:ea typeface="Century Gothic"/>
              <a:cs typeface="Century Gothic"/>
              <a:sym typeface="Century Gothic"/>
            </a:endParaRPr>
          </a:p>
        </p:txBody>
      </p:sp>
      <p:cxnSp>
        <p:nvCxnSpPr>
          <p:cNvPr id="73" name="Google Shape;73;p16"/>
          <p:cNvCxnSpPr>
            <a:stCxn id="69" idx="1"/>
            <a:endCxn id="72" idx="3"/>
          </p:cNvCxnSpPr>
          <p:nvPr/>
        </p:nvCxnSpPr>
        <p:spPr>
          <a:xfrm rot="10800000">
            <a:off x="1860375" y="2145600"/>
            <a:ext cx="1039500" cy="0"/>
          </a:xfrm>
          <a:prstGeom prst="straightConnector1">
            <a:avLst/>
          </a:prstGeom>
          <a:noFill/>
          <a:ln cap="flat" cmpd="sng" w="9525">
            <a:solidFill>
              <a:schemeClr val="dk2"/>
            </a:solidFill>
            <a:prstDash val="solid"/>
            <a:round/>
            <a:headEnd len="med" w="med" type="none"/>
            <a:tailEnd len="med" w="med" type="none"/>
          </a:ln>
        </p:spPr>
      </p:cxnSp>
      <p:sp>
        <p:nvSpPr>
          <p:cNvPr id="74" name="Google Shape;74;p16"/>
          <p:cNvSpPr txBox="1"/>
          <p:nvPr/>
        </p:nvSpPr>
        <p:spPr>
          <a:xfrm>
            <a:off x="1860375" y="1796625"/>
            <a:ext cx="1224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Responden a un</a:t>
            </a:r>
            <a:endParaRPr sz="800">
              <a:latin typeface="Century Gothic"/>
              <a:ea typeface="Century Gothic"/>
              <a:cs typeface="Century Gothic"/>
              <a:sym typeface="Century Gothic"/>
            </a:endParaRPr>
          </a:p>
        </p:txBody>
      </p:sp>
      <p:sp>
        <p:nvSpPr>
          <p:cNvPr id="75" name="Google Shape;75;p16"/>
          <p:cNvSpPr txBox="1"/>
          <p:nvPr/>
        </p:nvSpPr>
        <p:spPr>
          <a:xfrm>
            <a:off x="3212325" y="2736600"/>
            <a:ext cx="7419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latin typeface="Century Gothic"/>
                <a:ea typeface="Century Gothic"/>
                <a:cs typeface="Century Gothic"/>
                <a:sym typeface="Century Gothic"/>
              </a:rPr>
              <a:t>C/C++</a:t>
            </a:r>
            <a:endParaRPr sz="1300">
              <a:latin typeface="Century Gothic"/>
              <a:ea typeface="Century Gothic"/>
              <a:cs typeface="Century Gothic"/>
              <a:sym typeface="Century Gothic"/>
            </a:endParaRPr>
          </a:p>
        </p:txBody>
      </p:sp>
      <p:cxnSp>
        <p:nvCxnSpPr>
          <p:cNvPr id="76" name="Google Shape;76;p16"/>
          <p:cNvCxnSpPr>
            <a:stCxn id="69" idx="2"/>
            <a:endCxn id="75" idx="0"/>
          </p:cNvCxnSpPr>
          <p:nvPr/>
        </p:nvCxnSpPr>
        <p:spPr>
          <a:xfrm>
            <a:off x="3583275" y="2438100"/>
            <a:ext cx="0" cy="298500"/>
          </a:xfrm>
          <a:prstGeom prst="straightConnector1">
            <a:avLst/>
          </a:prstGeom>
          <a:noFill/>
          <a:ln cap="flat" cmpd="sng" w="9525">
            <a:solidFill>
              <a:schemeClr val="dk2"/>
            </a:solidFill>
            <a:prstDash val="solid"/>
            <a:round/>
            <a:headEnd len="med" w="med" type="none"/>
            <a:tailEnd len="med" w="med" type="none"/>
          </a:ln>
        </p:spPr>
      </p:cxnSp>
      <p:sp>
        <p:nvSpPr>
          <p:cNvPr id="77" name="Google Shape;77;p16"/>
          <p:cNvSpPr txBox="1"/>
          <p:nvPr/>
        </p:nvSpPr>
        <p:spPr>
          <a:xfrm>
            <a:off x="3686425" y="2395350"/>
            <a:ext cx="294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Ej</a:t>
            </a:r>
            <a:endParaRPr sz="800">
              <a:latin typeface="Century Gothic"/>
              <a:ea typeface="Century Gothic"/>
              <a:cs typeface="Century Gothic"/>
              <a:sym typeface="Century Gothic"/>
            </a:endParaRPr>
          </a:p>
        </p:txBody>
      </p:sp>
      <p:sp>
        <p:nvSpPr>
          <p:cNvPr id="78" name="Google Shape;78;p16"/>
          <p:cNvSpPr txBox="1"/>
          <p:nvPr/>
        </p:nvSpPr>
        <p:spPr>
          <a:xfrm>
            <a:off x="506475" y="2636550"/>
            <a:ext cx="1224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00">
                <a:latin typeface="Century Gothic"/>
                <a:ea typeface="Century Gothic"/>
                <a:cs typeface="Century Gothic"/>
                <a:sym typeface="Century Gothic"/>
              </a:rPr>
              <a:t>Paradigma Estructurado</a:t>
            </a:r>
            <a:endParaRPr sz="1300">
              <a:latin typeface="Century Gothic"/>
              <a:ea typeface="Century Gothic"/>
              <a:cs typeface="Century Gothic"/>
              <a:sym typeface="Century Gothic"/>
            </a:endParaRPr>
          </a:p>
        </p:txBody>
      </p:sp>
      <p:cxnSp>
        <p:nvCxnSpPr>
          <p:cNvPr id="79" name="Google Shape;79;p16"/>
          <p:cNvCxnSpPr>
            <a:stCxn id="75" idx="1"/>
            <a:endCxn id="78" idx="3"/>
          </p:cNvCxnSpPr>
          <p:nvPr/>
        </p:nvCxnSpPr>
        <p:spPr>
          <a:xfrm rot="10800000">
            <a:off x="1730625" y="2929050"/>
            <a:ext cx="1481700" cy="0"/>
          </a:xfrm>
          <a:prstGeom prst="straightConnector1">
            <a:avLst/>
          </a:prstGeom>
          <a:noFill/>
          <a:ln cap="flat" cmpd="sng" w="9525">
            <a:solidFill>
              <a:schemeClr val="dk2"/>
            </a:solidFill>
            <a:prstDash val="solid"/>
            <a:round/>
            <a:headEnd len="med" w="med" type="none"/>
            <a:tailEnd len="med" w="med" type="none"/>
          </a:ln>
        </p:spPr>
      </p:cxnSp>
      <p:sp>
        <p:nvSpPr>
          <p:cNvPr id="80" name="Google Shape;80;p16"/>
          <p:cNvSpPr txBox="1"/>
          <p:nvPr/>
        </p:nvSpPr>
        <p:spPr>
          <a:xfrm>
            <a:off x="1859400" y="2549650"/>
            <a:ext cx="1224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Pertenece al</a:t>
            </a:r>
            <a:endParaRPr sz="800">
              <a:latin typeface="Century Gothic"/>
              <a:ea typeface="Century Gothic"/>
              <a:cs typeface="Century Gothic"/>
              <a:sym typeface="Century Gothic"/>
            </a:endParaRPr>
          </a:p>
        </p:txBody>
      </p:sp>
      <p:sp>
        <p:nvSpPr>
          <p:cNvPr id="81" name="Google Shape;81;p16"/>
          <p:cNvSpPr txBox="1"/>
          <p:nvPr/>
        </p:nvSpPr>
        <p:spPr>
          <a:xfrm>
            <a:off x="5849775" y="1225400"/>
            <a:ext cx="3040200" cy="1108200"/>
          </a:xfrm>
          <a:prstGeom prst="rect">
            <a:avLst/>
          </a:prstGeom>
          <a:noFill/>
          <a:ln>
            <a:noFill/>
          </a:ln>
        </p:spPr>
        <p:txBody>
          <a:bodyPr anchorCtr="0" anchor="t" bIns="91425" lIns="91425" spcFirstLastPara="1" rIns="91425" wrap="square" tIns="91425">
            <a:spAutoFit/>
          </a:bodyPr>
          <a:lstStyle/>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Constantes y variables</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Expresiones aritméticas, lógicas, relacionales</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Estructuras secuenciales, selectivas y repetitivas</a:t>
            </a:r>
            <a:endParaRPr sz="1200">
              <a:latin typeface="Century Gothic"/>
              <a:ea typeface="Century Gothic"/>
              <a:cs typeface="Century Gothic"/>
              <a:sym typeface="Century Gothic"/>
            </a:endParaRPr>
          </a:p>
        </p:txBody>
      </p:sp>
      <p:cxnSp>
        <p:nvCxnSpPr>
          <p:cNvPr id="82" name="Google Shape;82;p16"/>
          <p:cNvCxnSpPr>
            <a:stCxn id="63" idx="3"/>
            <a:endCxn id="81" idx="1"/>
          </p:cNvCxnSpPr>
          <p:nvPr/>
        </p:nvCxnSpPr>
        <p:spPr>
          <a:xfrm>
            <a:off x="4325175" y="1201100"/>
            <a:ext cx="1524600" cy="578400"/>
          </a:xfrm>
          <a:prstGeom prst="straightConnector1">
            <a:avLst/>
          </a:prstGeom>
          <a:noFill/>
          <a:ln cap="flat" cmpd="sng" w="9525">
            <a:solidFill>
              <a:schemeClr val="dk2"/>
            </a:solidFill>
            <a:prstDash val="solid"/>
            <a:round/>
            <a:headEnd len="med" w="med" type="none"/>
            <a:tailEnd len="med" w="med" type="none"/>
          </a:ln>
        </p:spPr>
      </p:cxnSp>
      <p:cxnSp>
        <p:nvCxnSpPr>
          <p:cNvPr id="83" name="Google Shape;83;p16"/>
          <p:cNvCxnSpPr>
            <a:stCxn id="63" idx="3"/>
          </p:cNvCxnSpPr>
          <p:nvPr/>
        </p:nvCxnSpPr>
        <p:spPr>
          <a:xfrm flipH="1" rot="10800000">
            <a:off x="4325175" y="718100"/>
            <a:ext cx="1524600" cy="483000"/>
          </a:xfrm>
          <a:prstGeom prst="straightConnector1">
            <a:avLst/>
          </a:prstGeom>
          <a:noFill/>
          <a:ln cap="flat" cmpd="sng" w="9525">
            <a:solidFill>
              <a:schemeClr val="dk2"/>
            </a:solidFill>
            <a:prstDash val="solid"/>
            <a:round/>
            <a:headEnd len="med" w="med" type="none"/>
            <a:tailEnd len="med" w="med" type="none"/>
          </a:ln>
        </p:spPr>
      </p:cxnSp>
      <p:sp>
        <p:nvSpPr>
          <p:cNvPr id="84" name="Google Shape;84;p16"/>
          <p:cNvSpPr txBox="1"/>
          <p:nvPr/>
        </p:nvSpPr>
        <p:spPr>
          <a:xfrm rot="1302607">
            <a:off x="4740230" y="1371642"/>
            <a:ext cx="1223808" cy="30779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Se compone de</a:t>
            </a:r>
            <a:endParaRPr sz="800">
              <a:latin typeface="Century Gothic"/>
              <a:ea typeface="Century Gothic"/>
              <a:cs typeface="Century Gothic"/>
              <a:sym typeface="Century Gothic"/>
            </a:endParaRPr>
          </a:p>
        </p:txBody>
      </p:sp>
      <p:sp>
        <p:nvSpPr>
          <p:cNvPr id="85" name="Google Shape;85;p16"/>
          <p:cNvSpPr txBox="1"/>
          <p:nvPr/>
        </p:nvSpPr>
        <p:spPr>
          <a:xfrm>
            <a:off x="3018100" y="3001675"/>
            <a:ext cx="4138800" cy="738900"/>
          </a:xfrm>
          <a:prstGeom prst="rect">
            <a:avLst/>
          </a:prstGeom>
          <a:noFill/>
          <a:ln>
            <a:noFill/>
          </a:ln>
        </p:spPr>
        <p:txBody>
          <a:bodyPr anchorCtr="0" anchor="t" bIns="91425" lIns="91425" spcFirstLastPara="1" rIns="91425" wrap="square" tIns="91425">
            <a:spAutoFit/>
          </a:bodyPr>
          <a:lstStyle/>
          <a:p>
            <a:pPr indent="-166199" lvl="0" marL="179999" rtl="0" algn="l">
              <a:spcBef>
                <a:spcPts val="0"/>
              </a:spcBef>
              <a:spcAft>
                <a:spcPts val="0"/>
              </a:spcAft>
              <a:buSzPts val="1200"/>
              <a:buFont typeface="Century Gothic"/>
              <a:buChar char="●"/>
            </a:pPr>
            <a:r>
              <a:rPr lang="es" sz="1200">
                <a:latin typeface="Century Gothic"/>
                <a:ea typeface="Century Gothic"/>
                <a:cs typeface="Century Gothic"/>
                <a:sym typeface="Century Gothic"/>
              </a:rPr>
              <a:t>Punteros</a:t>
            </a:r>
            <a:endParaRPr sz="1200">
              <a:latin typeface="Century Gothic"/>
              <a:ea typeface="Century Gothic"/>
              <a:cs typeface="Century Gothic"/>
              <a:sym typeface="Century Gothic"/>
            </a:endParaRPr>
          </a:p>
          <a:p>
            <a:pPr indent="-166199" lvl="0" marL="179999" rtl="0" algn="l">
              <a:spcBef>
                <a:spcPts val="0"/>
              </a:spcBef>
              <a:spcAft>
                <a:spcPts val="0"/>
              </a:spcAft>
              <a:buSzPts val="1200"/>
              <a:buFont typeface="Century Gothic"/>
              <a:buChar char="●"/>
            </a:pPr>
            <a:r>
              <a:rPr lang="es" sz="1200">
                <a:latin typeface="Century Gothic"/>
                <a:ea typeface="Century Gothic"/>
                <a:cs typeface="Century Gothic"/>
                <a:sym typeface="Century Gothic"/>
              </a:rPr>
              <a:t>Archivos</a:t>
            </a:r>
            <a:endParaRPr sz="1200">
              <a:latin typeface="Century Gothic"/>
              <a:ea typeface="Century Gothic"/>
              <a:cs typeface="Century Gothic"/>
              <a:sym typeface="Century Gothic"/>
            </a:endParaRPr>
          </a:p>
          <a:p>
            <a:pPr indent="-166199" lvl="0" marL="179999" rtl="0" algn="l">
              <a:spcBef>
                <a:spcPts val="0"/>
              </a:spcBef>
              <a:spcAft>
                <a:spcPts val="0"/>
              </a:spcAft>
              <a:buSzPts val="1200"/>
              <a:buFont typeface="Century Gothic"/>
              <a:buChar char="●"/>
            </a:pPr>
            <a:r>
              <a:rPr lang="es" sz="1200">
                <a:solidFill>
                  <a:schemeClr val="dk1"/>
                </a:solidFill>
                <a:latin typeface="Century Gothic"/>
                <a:ea typeface="Century Gothic"/>
                <a:cs typeface="Century Gothic"/>
                <a:sym typeface="Century Gothic"/>
              </a:rPr>
              <a:t>Estructuras de datos: arreglos, TDA (lista, pila, cola)</a:t>
            </a:r>
            <a:endParaRPr sz="1200">
              <a:solidFill>
                <a:schemeClr val="dk1"/>
              </a:solidFill>
              <a:latin typeface="Century Gothic"/>
              <a:ea typeface="Century Gothic"/>
              <a:cs typeface="Century Gothic"/>
              <a:sym typeface="Century Gothic"/>
            </a:endParaRPr>
          </a:p>
        </p:txBody>
      </p:sp>
      <p:sp>
        <p:nvSpPr>
          <p:cNvPr id="86" name="Google Shape;86;p16"/>
          <p:cNvSpPr txBox="1"/>
          <p:nvPr/>
        </p:nvSpPr>
        <p:spPr>
          <a:xfrm>
            <a:off x="5794425" y="2310888"/>
            <a:ext cx="3002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Century Gothic"/>
                <a:ea typeface="Century Gothic"/>
                <a:cs typeface="Century Gothic"/>
                <a:sym typeface="Century Gothic"/>
              </a:rPr>
              <a:t>Buenas Prácticas de programación</a:t>
            </a:r>
            <a:endParaRPr sz="1200">
              <a:latin typeface="Century Gothic"/>
              <a:ea typeface="Century Gothic"/>
              <a:cs typeface="Century Gothic"/>
              <a:sym typeface="Century Gothic"/>
            </a:endParaRPr>
          </a:p>
        </p:txBody>
      </p:sp>
      <p:sp>
        <p:nvSpPr>
          <p:cNvPr id="87" name="Google Shape;87;p16"/>
          <p:cNvSpPr txBox="1"/>
          <p:nvPr/>
        </p:nvSpPr>
        <p:spPr>
          <a:xfrm>
            <a:off x="5849775" y="2562000"/>
            <a:ext cx="2024700" cy="738900"/>
          </a:xfrm>
          <a:prstGeom prst="rect">
            <a:avLst/>
          </a:prstGeom>
          <a:noFill/>
          <a:ln>
            <a:noFill/>
          </a:ln>
        </p:spPr>
        <p:txBody>
          <a:bodyPr anchorCtr="0" anchor="t" bIns="91425" lIns="91425" spcFirstLastPara="1" rIns="91425" wrap="square" tIns="91425">
            <a:spAutoFit/>
          </a:bodyPr>
          <a:lstStyle/>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Indentación (sangría)</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Prueba de escritorio</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Documentación</a:t>
            </a:r>
            <a:endParaRPr sz="1200">
              <a:solidFill>
                <a:schemeClr val="dk1"/>
              </a:solidFill>
              <a:latin typeface="Century Gothic"/>
              <a:ea typeface="Century Gothic"/>
              <a:cs typeface="Century Gothic"/>
              <a:sym typeface="Century Gothic"/>
            </a:endParaRPr>
          </a:p>
        </p:txBody>
      </p:sp>
      <p:cxnSp>
        <p:nvCxnSpPr>
          <p:cNvPr id="88" name="Google Shape;88;p16"/>
          <p:cNvCxnSpPr>
            <a:stCxn id="69" idx="3"/>
            <a:endCxn id="86" idx="1"/>
          </p:cNvCxnSpPr>
          <p:nvPr/>
        </p:nvCxnSpPr>
        <p:spPr>
          <a:xfrm>
            <a:off x="4266675" y="2145600"/>
            <a:ext cx="1527900" cy="349800"/>
          </a:xfrm>
          <a:prstGeom prst="straightConnector1">
            <a:avLst/>
          </a:prstGeom>
          <a:noFill/>
          <a:ln cap="flat" cmpd="sng" w="9525">
            <a:solidFill>
              <a:schemeClr val="dk2"/>
            </a:solidFill>
            <a:prstDash val="solid"/>
            <a:round/>
            <a:headEnd len="med" w="med" type="none"/>
            <a:tailEnd len="med" w="med" type="none"/>
          </a:ln>
        </p:spPr>
      </p:cxnSp>
      <p:sp>
        <p:nvSpPr>
          <p:cNvPr id="89" name="Google Shape;89;p16"/>
          <p:cNvSpPr txBox="1"/>
          <p:nvPr/>
        </p:nvSpPr>
        <p:spPr>
          <a:xfrm rot="775179">
            <a:off x="4317384" y="2098593"/>
            <a:ext cx="1426308" cy="3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Recomienda programar</a:t>
            </a:r>
            <a:endParaRPr sz="800">
              <a:latin typeface="Century Gothic"/>
              <a:ea typeface="Century Gothic"/>
              <a:cs typeface="Century Gothic"/>
              <a:sym typeface="Century Gothic"/>
            </a:endParaRPr>
          </a:p>
        </p:txBody>
      </p:sp>
      <p:sp>
        <p:nvSpPr>
          <p:cNvPr id="90" name="Google Shape;90;p16"/>
          <p:cNvSpPr txBox="1"/>
          <p:nvPr/>
        </p:nvSpPr>
        <p:spPr>
          <a:xfrm>
            <a:off x="1449297" y="3915700"/>
            <a:ext cx="4308000" cy="1108200"/>
          </a:xfrm>
          <a:prstGeom prst="rect">
            <a:avLst/>
          </a:prstGeom>
          <a:noFill/>
          <a:ln>
            <a:noFill/>
          </a:ln>
        </p:spPr>
        <p:txBody>
          <a:bodyPr anchorCtr="0" anchor="t" bIns="91425" lIns="91425" spcFirstLastPara="1" rIns="91425" wrap="square" tIns="91425">
            <a:spAutoFit/>
          </a:bodyPr>
          <a:lstStyle/>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con programas cortos y simples</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Individualmente o en grupos de 2 o 3 participantes.</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Sin un proceso definido, repetible</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Testing</a:t>
            </a:r>
            <a:endParaRPr sz="1200">
              <a:solidFill>
                <a:schemeClr val="dk1"/>
              </a:solidFill>
              <a:latin typeface="Century Gothic"/>
              <a:ea typeface="Century Gothic"/>
              <a:cs typeface="Century Gothic"/>
              <a:sym typeface="Century Gothic"/>
            </a:endParaRPr>
          </a:p>
          <a:p>
            <a:pPr indent="-166199" lvl="0" marL="179999" marR="0" rtl="0" algn="l">
              <a:lnSpc>
                <a:spcPct val="100000"/>
              </a:lnSpc>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Documentar</a:t>
            </a:r>
            <a:endParaRPr sz="1200">
              <a:solidFill>
                <a:schemeClr val="dk1"/>
              </a:solidFill>
              <a:latin typeface="Century Gothic"/>
              <a:ea typeface="Century Gothic"/>
              <a:cs typeface="Century Gothic"/>
              <a:sym typeface="Century Gothic"/>
            </a:endParaRPr>
          </a:p>
        </p:txBody>
      </p:sp>
      <p:sp>
        <p:nvSpPr>
          <p:cNvPr id="91" name="Google Shape;91;p16"/>
          <p:cNvSpPr txBox="1"/>
          <p:nvPr/>
        </p:nvSpPr>
        <p:spPr>
          <a:xfrm>
            <a:off x="411963" y="4329100"/>
            <a:ext cx="1153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Century Gothic"/>
                <a:ea typeface="Century Gothic"/>
                <a:cs typeface="Century Gothic"/>
                <a:sym typeface="Century Gothic"/>
              </a:rPr>
              <a:t>Se trabajó</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nvSpPr>
        <p:spPr>
          <a:xfrm>
            <a:off x="921100" y="939575"/>
            <a:ext cx="2831100" cy="1108200"/>
          </a:xfrm>
          <a:prstGeom prst="rect">
            <a:avLst/>
          </a:prstGeom>
          <a:noFill/>
          <a:ln>
            <a:noFill/>
          </a:ln>
        </p:spPr>
        <p:txBody>
          <a:bodyPr anchorCtr="0" anchor="t" bIns="91425" lIns="91425" spcFirstLastPara="1" rIns="91425" wrap="square" tIns="91425">
            <a:spAutoFit/>
          </a:bodyPr>
          <a:lstStyle/>
          <a:p>
            <a:pPr indent="-166199" lvl="0" marL="179999" rtl="0" algn="l">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A gran escala</a:t>
            </a:r>
            <a:endParaRPr sz="1200">
              <a:solidFill>
                <a:schemeClr val="dk1"/>
              </a:solidFill>
              <a:latin typeface="Century Gothic"/>
              <a:ea typeface="Century Gothic"/>
              <a:cs typeface="Century Gothic"/>
              <a:sym typeface="Century Gothic"/>
            </a:endParaRPr>
          </a:p>
          <a:p>
            <a:pPr indent="-166199" lvl="0" marL="179999" rtl="0" algn="l">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Mantenible</a:t>
            </a:r>
            <a:endParaRPr sz="1200">
              <a:solidFill>
                <a:schemeClr val="dk1"/>
              </a:solidFill>
              <a:latin typeface="Century Gothic"/>
              <a:ea typeface="Century Gothic"/>
              <a:cs typeface="Century Gothic"/>
              <a:sym typeface="Century Gothic"/>
            </a:endParaRPr>
          </a:p>
          <a:p>
            <a:pPr indent="-166199" lvl="0" marL="179999" rtl="0" algn="l">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Distribuido</a:t>
            </a:r>
            <a:endParaRPr sz="1200">
              <a:solidFill>
                <a:schemeClr val="dk1"/>
              </a:solidFill>
              <a:latin typeface="Century Gothic"/>
              <a:ea typeface="Century Gothic"/>
              <a:cs typeface="Century Gothic"/>
              <a:sym typeface="Century Gothic"/>
            </a:endParaRPr>
          </a:p>
          <a:p>
            <a:pPr indent="-166199" lvl="0" marL="179999" rtl="0" algn="l">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Complejo</a:t>
            </a:r>
            <a:endParaRPr sz="1200">
              <a:solidFill>
                <a:schemeClr val="dk1"/>
              </a:solidFill>
              <a:latin typeface="Century Gothic"/>
              <a:ea typeface="Century Gothic"/>
              <a:cs typeface="Century Gothic"/>
              <a:sym typeface="Century Gothic"/>
            </a:endParaRPr>
          </a:p>
          <a:p>
            <a:pPr indent="-166199" lvl="0" marL="179999" rtl="0" algn="l">
              <a:spcBef>
                <a:spcPts val="0"/>
              </a:spcBef>
              <a:spcAft>
                <a:spcPts val="0"/>
              </a:spcAft>
              <a:buClr>
                <a:schemeClr val="dk1"/>
              </a:buClr>
              <a:buSzPts val="1200"/>
              <a:buFont typeface="Century Gothic"/>
              <a:buChar char="●"/>
            </a:pPr>
            <a:r>
              <a:rPr lang="es" sz="1200">
                <a:solidFill>
                  <a:schemeClr val="dk1"/>
                </a:solidFill>
                <a:latin typeface="Century Gothic"/>
                <a:ea typeface="Century Gothic"/>
                <a:cs typeface="Century Gothic"/>
                <a:sym typeface="Century Gothic"/>
              </a:rPr>
              <a:t>Grupos grandes de personas</a:t>
            </a:r>
            <a:endParaRPr sz="1200">
              <a:solidFill>
                <a:schemeClr val="dk1"/>
              </a:solidFill>
              <a:latin typeface="Century Gothic"/>
              <a:ea typeface="Century Gothic"/>
              <a:cs typeface="Century Gothic"/>
              <a:sym typeface="Century Gothic"/>
            </a:endParaRPr>
          </a:p>
        </p:txBody>
      </p:sp>
      <p:sp>
        <p:nvSpPr>
          <p:cNvPr id="97" name="Google Shape;97;p17"/>
          <p:cNvSpPr txBox="1"/>
          <p:nvPr/>
        </p:nvSpPr>
        <p:spPr>
          <a:xfrm>
            <a:off x="1021675" y="525075"/>
            <a:ext cx="2454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Century Gothic"/>
                <a:ea typeface="Century Gothic"/>
                <a:cs typeface="Century Gothic"/>
                <a:sym typeface="Century Gothic"/>
              </a:rPr>
              <a:t>Se requiere Sistema software</a:t>
            </a:r>
            <a:endParaRPr sz="1200">
              <a:solidFill>
                <a:schemeClr val="dk1"/>
              </a:solidFill>
              <a:latin typeface="Century Gothic"/>
              <a:ea typeface="Century Gothic"/>
              <a:cs typeface="Century Gothic"/>
              <a:sym typeface="Century Gothic"/>
            </a:endParaRPr>
          </a:p>
        </p:txBody>
      </p:sp>
      <p:sp>
        <p:nvSpPr>
          <p:cNvPr id="98" name="Google Shape;98;p17"/>
          <p:cNvSpPr txBox="1"/>
          <p:nvPr/>
        </p:nvSpPr>
        <p:spPr>
          <a:xfrm>
            <a:off x="2960250" y="2449725"/>
            <a:ext cx="2593200" cy="384900"/>
          </a:xfrm>
          <a:prstGeom prst="rect">
            <a:avLst/>
          </a:prstGeom>
          <a:solidFill>
            <a:srgbClr val="EFEFEF"/>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300">
                <a:latin typeface="Century Gothic"/>
                <a:ea typeface="Century Gothic"/>
                <a:cs typeface="Century Gothic"/>
                <a:sym typeface="Century Gothic"/>
              </a:rPr>
              <a:t>Crisis del Software</a:t>
            </a:r>
            <a:endParaRPr b="1" sz="1300">
              <a:latin typeface="Century Gothic"/>
              <a:ea typeface="Century Gothic"/>
              <a:cs typeface="Century Gothic"/>
              <a:sym typeface="Century Gothic"/>
            </a:endParaRPr>
          </a:p>
        </p:txBody>
      </p:sp>
      <p:sp>
        <p:nvSpPr>
          <p:cNvPr id="99" name="Google Shape;99;p17"/>
          <p:cNvSpPr txBox="1"/>
          <p:nvPr/>
        </p:nvSpPr>
        <p:spPr>
          <a:xfrm>
            <a:off x="4900800" y="525075"/>
            <a:ext cx="2644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Century Gothic"/>
                <a:ea typeface="Century Gothic"/>
                <a:cs typeface="Century Gothic"/>
                <a:sym typeface="Century Gothic"/>
              </a:rPr>
              <a:t>Rápida evolución del hardware</a:t>
            </a:r>
            <a:endParaRPr sz="1200">
              <a:solidFill>
                <a:schemeClr val="dk1"/>
              </a:solidFill>
              <a:latin typeface="Century Gothic"/>
              <a:ea typeface="Century Gothic"/>
              <a:cs typeface="Century Gothic"/>
              <a:sym typeface="Century Gothic"/>
            </a:endParaRPr>
          </a:p>
        </p:txBody>
      </p:sp>
      <p:cxnSp>
        <p:nvCxnSpPr>
          <p:cNvPr id="100" name="Google Shape;100;p17"/>
          <p:cNvCxnSpPr>
            <a:stCxn id="97" idx="3"/>
            <a:endCxn id="98" idx="0"/>
          </p:cNvCxnSpPr>
          <p:nvPr/>
        </p:nvCxnSpPr>
        <p:spPr>
          <a:xfrm>
            <a:off x="3476575" y="709725"/>
            <a:ext cx="780300" cy="17400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17"/>
          <p:cNvCxnSpPr>
            <a:stCxn id="99" idx="1"/>
            <a:endCxn id="98" idx="0"/>
          </p:cNvCxnSpPr>
          <p:nvPr/>
        </p:nvCxnSpPr>
        <p:spPr>
          <a:xfrm flipH="1">
            <a:off x="4257000" y="709725"/>
            <a:ext cx="643800" cy="1740000"/>
          </a:xfrm>
          <a:prstGeom prst="straightConnector1">
            <a:avLst/>
          </a:prstGeom>
          <a:noFill/>
          <a:ln cap="flat" cmpd="sng" w="9525">
            <a:solidFill>
              <a:schemeClr val="dk2"/>
            </a:solidFill>
            <a:prstDash val="solid"/>
            <a:round/>
            <a:headEnd len="med" w="med" type="none"/>
            <a:tailEnd len="med" w="med" type="none"/>
          </a:ln>
        </p:spPr>
      </p:cxnSp>
      <p:sp>
        <p:nvSpPr>
          <p:cNvPr id="102" name="Google Shape;102;p17"/>
          <p:cNvSpPr txBox="1"/>
          <p:nvPr/>
        </p:nvSpPr>
        <p:spPr>
          <a:xfrm>
            <a:off x="2093700" y="3605525"/>
            <a:ext cx="4326300" cy="4617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latin typeface="Century Gothic"/>
                <a:ea typeface="Century Gothic"/>
                <a:cs typeface="Century Gothic"/>
                <a:sym typeface="Century Gothic"/>
              </a:rPr>
              <a:t>Ingeniería de Software</a:t>
            </a:r>
            <a:endParaRPr b="1" sz="1800">
              <a:latin typeface="Century Gothic"/>
              <a:ea typeface="Century Gothic"/>
              <a:cs typeface="Century Gothic"/>
              <a:sym typeface="Century Gothic"/>
            </a:endParaRPr>
          </a:p>
        </p:txBody>
      </p:sp>
      <p:cxnSp>
        <p:nvCxnSpPr>
          <p:cNvPr id="103" name="Google Shape;103;p17"/>
          <p:cNvCxnSpPr>
            <a:stCxn id="98" idx="2"/>
            <a:endCxn id="102" idx="0"/>
          </p:cNvCxnSpPr>
          <p:nvPr/>
        </p:nvCxnSpPr>
        <p:spPr>
          <a:xfrm>
            <a:off x="4256850" y="2834625"/>
            <a:ext cx="0" cy="771000"/>
          </a:xfrm>
          <a:prstGeom prst="straightConnector1">
            <a:avLst/>
          </a:prstGeom>
          <a:noFill/>
          <a:ln cap="flat" cmpd="sng" w="9525">
            <a:solidFill>
              <a:schemeClr val="dk2"/>
            </a:solidFill>
            <a:prstDash val="solid"/>
            <a:round/>
            <a:headEnd len="med" w="med" type="none"/>
            <a:tailEnd len="med" w="med" type="none"/>
          </a:ln>
        </p:spPr>
      </p:cxnSp>
      <p:sp>
        <p:nvSpPr>
          <p:cNvPr id="104" name="Google Shape;104;p17"/>
          <p:cNvSpPr txBox="1"/>
          <p:nvPr/>
        </p:nvSpPr>
        <p:spPr>
          <a:xfrm>
            <a:off x="4437450" y="3006200"/>
            <a:ext cx="2454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Century Gothic"/>
                <a:ea typeface="Century Gothic"/>
                <a:cs typeface="Century Gothic"/>
                <a:sym typeface="Century Gothic"/>
              </a:rPr>
              <a:t>Se Intenta solucionar con la</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10" name="Google Shape;110;p18"/>
          <p:cNvSpPr txBox="1"/>
          <p:nvPr>
            <p:ph idx="1" type="body"/>
          </p:nvPr>
        </p:nvSpPr>
        <p:spPr>
          <a:xfrm>
            <a:off x="311700" y="1304875"/>
            <a:ext cx="8520600" cy="31275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Los sistemas integrados hardware-software.</a:t>
            </a:r>
            <a:endParaRPr/>
          </a:p>
          <a:p>
            <a:pPr indent="-342900" lvl="0" marL="457200" rtl="0" algn="just">
              <a:spcBef>
                <a:spcPts val="0"/>
              </a:spcBef>
              <a:spcAft>
                <a:spcPts val="0"/>
              </a:spcAft>
              <a:buSzPts val="1800"/>
              <a:buChar char="●"/>
            </a:pPr>
            <a:r>
              <a:rPr lang="es"/>
              <a:t>Después de la II Guerra Mundial. (1945-1950) el desarrollo del software consiste en la integración del software y el hardware dedicado sobre el cual se ejecuta.</a:t>
            </a:r>
            <a:endParaRPr/>
          </a:p>
          <a:p>
            <a:pPr indent="-342900" lvl="0" marL="457200" rtl="0" algn="just">
              <a:spcBef>
                <a:spcPts val="0"/>
              </a:spcBef>
              <a:spcAft>
                <a:spcPts val="0"/>
              </a:spcAft>
              <a:buSzPts val="1800"/>
              <a:buChar char="●"/>
            </a:pPr>
            <a:r>
              <a:rPr lang="es"/>
              <a:t>Software militar, dedicado a control de tiro y radares.</a:t>
            </a:r>
            <a:endParaRPr/>
          </a:p>
          <a:p>
            <a:pPr indent="-342900" lvl="0" marL="457200" rtl="0" algn="just">
              <a:spcBef>
                <a:spcPts val="0"/>
              </a:spcBef>
              <a:spcAft>
                <a:spcPts val="0"/>
              </a:spcAft>
              <a:buClr>
                <a:srgbClr val="800080"/>
              </a:buClr>
              <a:buSzPts val="1800"/>
              <a:buChar char="●"/>
            </a:pPr>
            <a:r>
              <a:rPr lang="es">
                <a:solidFill>
                  <a:srgbClr val="800080"/>
                </a:solidFill>
              </a:rPr>
              <a:t>La necesidad era: herramientas de desarrollo, las mismas no existían, ya que el software era dedicado a una actividad en particular.</a:t>
            </a:r>
            <a:endParaRPr>
              <a:solidFill>
                <a:srgbClr val="800080"/>
              </a:solidFill>
            </a:endParaRPr>
          </a:p>
        </p:txBody>
      </p:sp>
      <p:sp>
        <p:nvSpPr>
          <p:cNvPr id="111" name="Google Shape;111;p18"/>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s"/>
              <a:t>‘50. Los sistemas de software independientes.</a:t>
            </a:r>
            <a:endParaRPr/>
          </a:p>
          <a:p>
            <a:pPr indent="-342900" lvl="0" marL="457200" rtl="0" algn="just">
              <a:spcBef>
                <a:spcPts val="0"/>
              </a:spcBef>
              <a:spcAft>
                <a:spcPts val="0"/>
              </a:spcAft>
              <a:buSzPts val="1800"/>
              <a:buChar char="●"/>
            </a:pPr>
            <a:r>
              <a:rPr lang="es"/>
              <a:t>Aparecen los lenguajes de alto nivel y hay mayor avance en hardware.</a:t>
            </a:r>
            <a:endParaRPr/>
          </a:p>
          <a:p>
            <a:pPr indent="-342900" lvl="0" marL="457200" rtl="0" algn="just">
              <a:spcBef>
                <a:spcPts val="0"/>
              </a:spcBef>
              <a:spcAft>
                <a:spcPts val="0"/>
              </a:spcAft>
              <a:buSzPts val="1800"/>
              <a:buChar char="●"/>
            </a:pPr>
            <a:r>
              <a:rPr lang="es"/>
              <a:t>Ejemplo de sistemas: Reserva de pasajes, compañías de seguro, explotación del petróleo</a:t>
            </a:r>
            <a:endParaRPr/>
          </a:p>
          <a:p>
            <a:pPr indent="-342900" lvl="0" marL="457200" rtl="0" algn="just">
              <a:spcBef>
                <a:spcPts val="0"/>
              </a:spcBef>
              <a:spcAft>
                <a:spcPts val="0"/>
              </a:spcAft>
              <a:buSzPts val="1800"/>
              <a:buChar char="●"/>
            </a:pPr>
            <a:r>
              <a:rPr lang="es"/>
              <a:t>‘60. Producen las PC de propósito general. IBM OS/360.</a:t>
            </a:r>
            <a:endParaRPr/>
          </a:p>
          <a:p>
            <a:pPr indent="-342900" lvl="0" marL="457200" rtl="0" algn="just">
              <a:spcBef>
                <a:spcPts val="0"/>
              </a:spcBef>
              <a:spcAft>
                <a:spcPts val="0"/>
              </a:spcAft>
              <a:buClr>
                <a:srgbClr val="800080"/>
              </a:buClr>
              <a:buSzPts val="1800"/>
              <a:buChar char="●"/>
            </a:pPr>
            <a:r>
              <a:rPr lang="es">
                <a:solidFill>
                  <a:srgbClr val="800080"/>
                </a:solidFill>
              </a:rPr>
              <a:t>La necesidad era: contar con estándares de desarrollo y herramientas de propósito general. Los lenguajes que se trabajan son fortran, algol, cobol. No hay definido un proceso que permita llevar la evolución de un proyecto.</a:t>
            </a:r>
            <a:endParaRPr>
              <a:solidFill>
                <a:srgbClr val="800080"/>
              </a:solidFill>
            </a:endParaRPr>
          </a:p>
          <a:p>
            <a:pPr indent="-342900" lvl="0" marL="457200" rtl="0" algn="just">
              <a:spcBef>
                <a:spcPts val="0"/>
              </a:spcBef>
              <a:spcAft>
                <a:spcPts val="0"/>
              </a:spcAft>
              <a:buClr>
                <a:srgbClr val="800080"/>
              </a:buClr>
              <a:buSzPts val="1800"/>
              <a:buChar char="●"/>
            </a:pPr>
            <a:r>
              <a:rPr lang="es">
                <a:solidFill>
                  <a:srgbClr val="800080"/>
                </a:solidFill>
              </a:rPr>
              <a:t>The mythical man-month de Frederick Phillips Brooks, donde </a:t>
            </a:r>
            <a:r>
              <a:rPr lang="es">
                <a:solidFill>
                  <a:srgbClr val="800080"/>
                </a:solidFill>
              </a:rPr>
              <a:t>son una serie de reflexiones y ensayos sobre la Ingeniería de SW.</a:t>
            </a:r>
            <a:endParaRPr>
              <a:solidFill>
                <a:srgbClr val="800080"/>
              </a:solidFill>
            </a:endParaRPr>
          </a:p>
        </p:txBody>
      </p:sp>
      <p:sp>
        <p:nvSpPr>
          <p:cNvPr id="117" name="Google Shape;117;p19"/>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18" name="Google Shape;118;p19"/>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24" name="Google Shape;124;p20"/>
          <p:cNvSpPr txBox="1"/>
          <p:nvPr>
            <p:ph idx="1" type="body"/>
          </p:nvPr>
        </p:nvSpPr>
        <p:spPr>
          <a:xfrm>
            <a:off x="311700" y="1304875"/>
            <a:ext cx="8520600" cy="3416400"/>
          </a:xfrm>
          <a:prstGeom prst="rect">
            <a:avLst/>
          </a:prstGeom>
        </p:spPr>
        <p:txBody>
          <a:bodyPr anchorCtr="0" anchor="t" bIns="91425" lIns="91425" spcFirstLastPara="1" rIns="91425" wrap="square" tIns="91425">
            <a:normAutofit fontScale="92500"/>
          </a:bodyPr>
          <a:lstStyle/>
          <a:p>
            <a:pPr indent="-334327" lvl="0" marL="457200" rtl="0" algn="just">
              <a:spcBef>
                <a:spcPts val="0"/>
              </a:spcBef>
              <a:spcAft>
                <a:spcPts val="0"/>
              </a:spcAft>
              <a:buSzPct val="100000"/>
              <a:buChar char="●"/>
            </a:pPr>
            <a:r>
              <a:rPr lang="es"/>
              <a:t>‘70. La crisis del software, se da por el aumento del tamaño de los sistemas, la complejidad de los problemas a resolver, la falta de madurez de las herramientas y de los procesos de desarrollo.</a:t>
            </a:r>
            <a:endParaRPr/>
          </a:p>
          <a:p>
            <a:pPr indent="-334327" lvl="0" marL="457200" rtl="0" algn="just">
              <a:spcBef>
                <a:spcPts val="0"/>
              </a:spcBef>
              <a:spcAft>
                <a:spcPts val="0"/>
              </a:spcAft>
              <a:buSzPct val="100000"/>
              <a:buChar char="●"/>
            </a:pPr>
            <a:r>
              <a:rPr lang="es"/>
              <a:t>Por lo que se desarrollan sistemas que prefieren implementar los componentes usando hardware, debido a la escasa confiabilidad que puede ofrecer el código y las dificultades para depurarlo y ponerlo a punto.</a:t>
            </a:r>
            <a:endParaRPr/>
          </a:p>
          <a:p>
            <a:pPr indent="-334327" lvl="0" marL="457200" rtl="0" algn="just">
              <a:spcBef>
                <a:spcPts val="0"/>
              </a:spcBef>
              <a:spcAft>
                <a:spcPts val="0"/>
              </a:spcAft>
              <a:buClr>
                <a:srgbClr val="800080"/>
              </a:buClr>
              <a:buSzPct val="100000"/>
              <a:buChar char="●"/>
            </a:pPr>
            <a:r>
              <a:rPr lang="es">
                <a:solidFill>
                  <a:srgbClr val="800080"/>
                </a:solidFill>
              </a:rPr>
              <a:t>La necesidad era: contar con herramientas robustas y procesos maduros. </a:t>
            </a:r>
            <a:endParaRPr>
              <a:solidFill>
                <a:srgbClr val="800080"/>
              </a:solidFill>
            </a:endParaRPr>
          </a:p>
          <a:p>
            <a:pPr indent="-334327" lvl="0" marL="457200" rtl="0" algn="just">
              <a:spcBef>
                <a:spcPts val="0"/>
              </a:spcBef>
              <a:spcAft>
                <a:spcPts val="0"/>
              </a:spcAft>
              <a:buClr>
                <a:srgbClr val="800080"/>
              </a:buClr>
              <a:buSzPct val="100000"/>
              <a:buChar char="●"/>
            </a:pPr>
            <a:r>
              <a:rPr lang="es">
                <a:solidFill>
                  <a:srgbClr val="800080"/>
                </a:solidFill>
              </a:rPr>
              <a:t>Aparece Pascal, C y el concepto de programación estructurada. Se afianza el concepto de módulo en los lenguajes mencionados y se instala el paradigma Desarrollo Estructurado de Sistemas con las metodologías en cascada como forma de trabajo. </a:t>
            </a:r>
            <a:endParaRPr>
              <a:solidFill>
                <a:srgbClr val="800080"/>
              </a:solidFill>
            </a:endParaRPr>
          </a:p>
        </p:txBody>
      </p:sp>
      <p:sp>
        <p:nvSpPr>
          <p:cNvPr id="125" name="Google Shape;125;p20"/>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31" name="Google Shape;131;p21"/>
          <p:cNvSpPr txBox="1"/>
          <p:nvPr>
            <p:ph idx="1" type="body"/>
          </p:nvPr>
        </p:nvSpPr>
        <p:spPr>
          <a:xfrm>
            <a:off x="311700" y="1304875"/>
            <a:ext cx="8520600" cy="3416400"/>
          </a:xfrm>
          <a:prstGeom prst="rect">
            <a:avLst/>
          </a:prstGeom>
        </p:spPr>
        <p:txBody>
          <a:bodyPr anchorCtr="0" anchor="t" bIns="91425" lIns="91425" spcFirstLastPara="1" rIns="91425" wrap="square" tIns="91425">
            <a:normAutofit fontScale="77500" lnSpcReduction="10000"/>
          </a:bodyPr>
          <a:lstStyle/>
          <a:p>
            <a:pPr indent="-317182" lvl="0" marL="457200" rtl="0" algn="just">
              <a:spcBef>
                <a:spcPts val="0"/>
              </a:spcBef>
              <a:spcAft>
                <a:spcPts val="0"/>
              </a:spcAft>
              <a:buSzPct val="100000"/>
              <a:buChar char="●"/>
            </a:pPr>
            <a:r>
              <a:rPr lang="es"/>
              <a:t>1980. Se crea la “Ingeniería de Software” como disciplina: rama de la tecnología que se ocupa del diseño y construcción de productos de software.</a:t>
            </a:r>
            <a:endParaRPr/>
          </a:p>
          <a:p>
            <a:pPr indent="-317182" lvl="0" marL="457200" rtl="0" algn="just">
              <a:spcBef>
                <a:spcPts val="0"/>
              </a:spcBef>
              <a:spcAft>
                <a:spcPts val="0"/>
              </a:spcAft>
              <a:buSzPct val="100000"/>
              <a:buChar char="●"/>
            </a:pPr>
            <a:r>
              <a:rPr lang="es"/>
              <a:t>1984. Se crea SEI (Instituto de Ingeniería de software) en la universidad de Carnegie Mellon, EEUU. Propósito: promover el avance de la ingeniería de software y de las disciplinas relacionadas para asegurar que el desarrollo y la operación de los sistemas se lleva a cabo en forma predecible, mejorando el costo, los plazos de entregas y la calidad.</a:t>
            </a:r>
            <a:endParaRPr/>
          </a:p>
          <a:p>
            <a:pPr indent="-317182" lvl="0" marL="457200" rtl="0" algn="just">
              <a:spcBef>
                <a:spcPts val="0"/>
              </a:spcBef>
              <a:spcAft>
                <a:spcPts val="0"/>
              </a:spcAft>
              <a:buSzPct val="100000"/>
              <a:buChar char="●"/>
            </a:pPr>
            <a:r>
              <a:rPr lang="es"/>
              <a:t>1991. Pública el marco de referencia CMM (Capability Maturity Model)</a:t>
            </a:r>
            <a:endParaRPr/>
          </a:p>
          <a:p>
            <a:pPr indent="-317182" lvl="0" marL="457200" rtl="0" algn="just">
              <a:spcBef>
                <a:spcPts val="0"/>
              </a:spcBef>
              <a:spcAft>
                <a:spcPts val="0"/>
              </a:spcAft>
              <a:buSzPct val="100000"/>
              <a:buChar char="●"/>
            </a:pPr>
            <a:r>
              <a:rPr lang="es"/>
              <a:t>1990. IEEE publica el estándar 610.12 que establece un glosario de términos para la ingeniería del software, en el que se define un enfoque sistémico, disciplinado y cuantificable para el desarrollo, operación y mantenimiento de software.</a:t>
            </a:r>
            <a:endParaRPr/>
          </a:p>
          <a:p>
            <a:pPr indent="-317182" lvl="0" marL="457200" rtl="0" algn="just">
              <a:spcBef>
                <a:spcPts val="0"/>
              </a:spcBef>
              <a:spcAft>
                <a:spcPts val="0"/>
              </a:spcAft>
              <a:buClr>
                <a:srgbClr val="800080"/>
              </a:buClr>
              <a:buSzPct val="100000"/>
              <a:buChar char="●"/>
            </a:pPr>
            <a:r>
              <a:rPr lang="es">
                <a:solidFill>
                  <a:srgbClr val="800080"/>
                </a:solidFill>
              </a:rPr>
              <a:t>La necesidad era: buscar un paradigma superador que permita a partir del encapsulamiento evitar la propagación de cambios y así resolver los diferentes problemas en forma iterativa.</a:t>
            </a:r>
            <a:endParaRPr>
              <a:solidFill>
                <a:srgbClr val="800080"/>
              </a:solidFill>
            </a:endParaRPr>
          </a:p>
          <a:p>
            <a:pPr indent="-317182" lvl="0" marL="457200" rtl="0" algn="just">
              <a:spcBef>
                <a:spcPts val="0"/>
              </a:spcBef>
              <a:spcAft>
                <a:spcPts val="0"/>
              </a:spcAft>
              <a:buClr>
                <a:srgbClr val="800080"/>
              </a:buClr>
              <a:buSzPct val="100000"/>
              <a:buChar char="●"/>
            </a:pPr>
            <a:r>
              <a:rPr lang="es">
                <a:solidFill>
                  <a:srgbClr val="800080"/>
                </a:solidFill>
              </a:rPr>
              <a:t>Aparecen lenguajes orientado a objetos como Smalltalk, ADA y después C++.</a:t>
            </a:r>
            <a:endParaRPr>
              <a:solidFill>
                <a:srgbClr val="800080"/>
              </a:solidFill>
            </a:endParaRPr>
          </a:p>
        </p:txBody>
      </p:sp>
      <p:sp>
        <p:nvSpPr>
          <p:cNvPr id="132" name="Google Shape;132;p21"/>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38" name="Google Shape;138;p22"/>
          <p:cNvSpPr txBox="1"/>
          <p:nvPr>
            <p:ph idx="1" type="body"/>
          </p:nvPr>
        </p:nvSpPr>
        <p:spPr>
          <a:xfrm>
            <a:off x="311700" y="13048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just">
              <a:spcBef>
                <a:spcPts val="0"/>
              </a:spcBef>
              <a:spcAft>
                <a:spcPts val="0"/>
              </a:spcAft>
              <a:buSzPct val="100000"/>
              <a:buChar char="●"/>
            </a:pPr>
            <a:r>
              <a:rPr lang="es"/>
              <a:t>Mientras tanto el hardware sigue….Aparece la PC personal. </a:t>
            </a:r>
            <a:endParaRPr/>
          </a:p>
          <a:p>
            <a:pPr indent="-334327" lvl="0" marL="457200" rtl="0" algn="just">
              <a:spcBef>
                <a:spcPts val="0"/>
              </a:spcBef>
              <a:spcAft>
                <a:spcPts val="0"/>
              </a:spcAft>
              <a:buSzPct val="100000"/>
              <a:buChar char="●"/>
            </a:pPr>
            <a:r>
              <a:rPr lang="es"/>
              <a:t>Aparece una oportunidad de negocio a gran escala, ya que habría más usuarios.</a:t>
            </a:r>
            <a:endParaRPr/>
          </a:p>
          <a:p>
            <a:pPr indent="-334327" lvl="0" marL="457200" rtl="0" algn="just">
              <a:spcBef>
                <a:spcPts val="0"/>
              </a:spcBef>
              <a:spcAft>
                <a:spcPts val="0"/>
              </a:spcAft>
              <a:buSzPct val="100000"/>
              <a:buChar char="●"/>
            </a:pPr>
            <a:r>
              <a:rPr lang="es"/>
              <a:t>1981. IBM lanza la PC personal. Surgen otras empresas: Microsoft con S.O. DOS, Oracle, Netscape.</a:t>
            </a:r>
            <a:endParaRPr/>
          </a:p>
          <a:p>
            <a:pPr indent="-334327" lvl="0" marL="457200" rtl="0" algn="just">
              <a:spcBef>
                <a:spcPts val="0"/>
              </a:spcBef>
              <a:spcAft>
                <a:spcPts val="0"/>
              </a:spcAft>
              <a:buSzPct val="100000"/>
              <a:buChar char="●"/>
            </a:pPr>
            <a:r>
              <a:rPr lang="es"/>
              <a:t>Se consolidan metodologías de desarrollo iterativas las cuales van suplantando a las conocidas como cascada.</a:t>
            </a:r>
            <a:endParaRPr/>
          </a:p>
          <a:p>
            <a:pPr indent="-334327" lvl="0" marL="457200" rtl="0" algn="just">
              <a:spcBef>
                <a:spcPts val="0"/>
              </a:spcBef>
              <a:spcAft>
                <a:spcPts val="0"/>
              </a:spcAft>
              <a:buClr>
                <a:srgbClr val="800080"/>
              </a:buClr>
              <a:buSzPct val="100000"/>
              <a:buChar char="●"/>
            </a:pPr>
            <a:r>
              <a:rPr lang="es">
                <a:solidFill>
                  <a:srgbClr val="800080"/>
                </a:solidFill>
              </a:rPr>
              <a:t>La necesidad era: posibilidad de desarrollar software en estaciones de trabajo de bajo costo para un mercado masivo. Para esto es necesario contar con un lenguaje estándar de especificación UML.  (lenguaje de modelado unificado) </a:t>
            </a:r>
            <a:endParaRPr>
              <a:solidFill>
                <a:srgbClr val="800080"/>
              </a:solidFill>
            </a:endParaRPr>
          </a:p>
          <a:p>
            <a:pPr indent="-334327" lvl="0" marL="457200" rtl="0" algn="just">
              <a:spcBef>
                <a:spcPts val="0"/>
              </a:spcBef>
              <a:spcAft>
                <a:spcPts val="0"/>
              </a:spcAft>
              <a:buClr>
                <a:srgbClr val="800080"/>
              </a:buClr>
              <a:buSzPct val="100000"/>
              <a:buChar char="●"/>
            </a:pPr>
            <a:r>
              <a:rPr lang="es">
                <a:solidFill>
                  <a:srgbClr val="800080"/>
                </a:solidFill>
              </a:rPr>
              <a:t>Aparecen algunas metodologías llamadas ágiles como el concepto de integración continua trabajando en V&amp;V.(verificación y validación)</a:t>
            </a:r>
            <a:endParaRPr>
              <a:solidFill>
                <a:srgbClr val="800080"/>
              </a:solidFill>
            </a:endParaRPr>
          </a:p>
        </p:txBody>
      </p:sp>
      <p:sp>
        <p:nvSpPr>
          <p:cNvPr id="139" name="Google Shape;139;p22"/>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45" name="Google Shape;145;p23"/>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La interconexión de las Pcs. La necesidad de comunicar y compartir</a:t>
            </a:r>
            <a:endParaRPr/>
          </a:p>
          <a:p>
            <a:pPr indent="-342900" lvl="0" marL="457200" rtl="0" algn="just">
              <a:spcBef>
                <a:spcPts val="0"/>
              </a:spcBef>
              <a:spcAft>
                <a:spcPts val="0"/>
              </a:spcAft>
              <a:buSzPts val="1800"/>
              <a:buChar char="●"/>
            </a:pPr>
            <a:r>
              <a:rPr lang="es"/>
              <a:t>1970, LAN (Local Área Network). 1973, Estándar Ethernet. 1990, S.O. orientados a funcionar en red.</a:t>
            </a:r>
            <a:endParaRPr/>
          </a:p>
          <a:p>
            <a:pPr indent="-342900" lvl="0" marL="457200" rtl="0" algn="just">
              <a:spcBef>
                <a:spcPts val="0"/>
              </a:spcBef>
              <a:spcAft>
                <a:spcPts val="0"/>
              </a:spcAft>
              <a:buSzPts val="1800"/>
              <a:buChar char="●"/>
            </a:pPr>
            <a:r>
              <a:rPr lang="es"/>
              <a:t>Esto permitió distribuir información, mejor uso de los recursos, bajar costes en las empresas.</a:t>
            </a:r>
            <a:endParaRPr/>
          </a:p>
          <a:p>
            <a:pPr indent="-342900" lvl="0" marL="457200" rtl="0" algn="just">
              <a:spcBef>
                <a:spcPts val="0"/>
              </a:spcBef>
              <a:spcAft>
                <a:spcPts val="0"/>
              </a:spcAft>
              <a:buSzPts val="1800"/>
              <a:buChar char="●"/>
            </a:pPr>
            <a:r>
              <a:rPr lang="es"/>
              <a:t>1995. Internet. </a:t>
            </a:r>
            <a:endParaRPr/>
          </a:p>
          <a:p>
            <a:pPr indent="-342900" lvl="0" marL="457200" rtl="0" algn="just">
              <a:spcBef>
                <a:spcPts val="0"/>
              </a:spcBef>
              <a:spcAft>
                <a:spcPts val="0"/>
              </a:spcAft>
              <a:buClr>
                <a:srgbClr val="800080"/>
              </a:buClr>
              <a:buSzPts val="1800"/>
              <a:buChar char="●"/>
            </a:pPr>
            <a:r>
              <a:rPr lang="es">
                <a:solidFill>
                  <a:srgbClr val="800080"/>
                </a:solidFill>
              </a:rPr>
              <a:t>La necesidad era: consolidar un proceso de desarrollo que permita llevar adelante proyectos de gran volumen y métodos de prueba que garanticen la calidad del software. Aparece Java. Y se promueve el proceso unificado como metodología de desarrollo.</a:t>
            </a:r>
            <a:endParaRPr>
              <a:solidFill>
                <a:srgbClr val="800080"/>
              </a:solidFill>
            </a:endParaRPr>
          </a:p>
        </p:txBody>
      </p:sp>
      <p:sp>
        <p:nvSpPr>
          <p:cNvPr id="146" name="Google Shape;146;p23"/>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52" name="Google Shape;152;p2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Char char="●"/>
            </a:pPr>
            <a:r>
              <a:rPr lang="es"/>
              <a:t>2000. La evolución de internet  y las arquitecturas corporativas. </a:t>
            </a:r>
            <a:endParaRPr/>
          </a:p>
          <a:p>
            <a:pPr indent="-342900" lvl="0" marL="457200" rtl="0" algn="just">
              <a:spcBef>
                <a:spcPts val="0"/>
              </a:spcBef>
              <a:spcAft>
                <a:spcPts val="0"/>
              </a:spcAft>
              <a:buSzPts val="1800"/>
              <a:buChar char="●"/>
            </a:pPr>
            <a:r>
              <a:rPr lang="es"/>
              <a:t>Mejor hardware. Software de última generación (lenguajes orientado a objetos, multiplataformas, arquitecturas orientadas a servicios), modelos  de desarrollo CMM, ITIL, metodologías ágiles (XP, Scrum)</a:t>
            </a:r>
            <a:endParaRPr/>
          </a:p>
          <a:p>
            <a:pPr indent="-342900" lvl="0" marL="457200" rtl="0" algn="just">
              <a:spcBef>
                <a:spcPts val="0"/>
              </a:spcBef>
              <a:spcAft>
                <a:spcPts val="0"/>
              </a:spcAft>
              <a:buClr>
                <a:srgbClr val="800080"/>
              </a:buClr>
              <a:buSzPts val="1800"/>
              <a:buChar char="●"/>
            </a:pPr>
            <a:r>
              <a:rPr lang="es">
                <a:solidFill>
                  <a:srgbClr val="800080"/>
                </a:solidFill>
              </a:rPr>
              <a:t>La necesidad era: asegurar la calidad de procesos y productos de software a partir del establecimiento de estándares de desarrollo.</a:t>
            </a:r>
            <a:endParaRPr>
              <a:solidFill>
                <a:srgbClr val="800080"/>
              </a:solidFill>
            </a:endParaRPr>
          </a:p>
          <a:p>
            <a:pPr indent="-342900" lvl="0" marL="457200" rtl="0" algn="just">
              <a:spcBef>
                <a:spcPts val="0"/>
              </a:spcBef>
              <a:spcAft>
                <a:spcPts val="0"/>
              </a:spcAft>
              <a:buClr>
                <a:srgbClr val="800080"/>
              </a:buClr>
              <a:buSzPts val="1800"/>
              <a:buChar char="●"/>
            </a:pPr>
            <a:r>
              <a:rPr lang="es">
                <a:solidFill>
                  <a:srgbClr val="800080"/>
                </a:solidFill>
              </a:rPr>
              <a:t>Aparece. SWEBOK (Software Engineering Body of Knowledge) define una guía de conocimiento presente de la disciplina ingeniería de software. (promovido por IEEE)</a:t>
            </a:r>
            <a:endParaRPr>
              <a:solidFill>
                <a:srgbClr val="800080"/>
              </a:solidFill>
            </a:endParaRPr>
          </a:p>
          <a:p>
            <a:pPr indent="-342900" lvl="0" marL="457200" rtl="0" algn="just">
              <a:spcBef>
                <a:spcPts val="0"/>
              </a:spcBef>
              <a:spcAft>
                <a:spcPts val="0"/>
              </a:spcAft>
              <a:buClr>
                <a:srgbClr val="800080"/>
              </a:buClr>
              <a:buSzPts val="1800"/>
              <a:buChar char="●"/>
            </a:pPr>
            <a:r>
              <a:rPr lang="es">
                <a:solidFill>
                  <a:srgbClr val="800080"/>
                </a:solidFill>
              </a:rPr>
              <a:t>Nuevas versiones de CMM, ITIL (information technology infraestructure library)</a:t>
            </a:r>
            <a:endParaRPr>
              <a:solidFill>
                <a:srgbClr val="800080"/>
              </a:solidFill>
            </a:endParaRPr>
          </a:p>
        </p:txBody>
      </p:sp>
      <p:sp>
        <p:nvSpPr>
          <p:cNvPr id="153" name="Google Shape;153;p24"/>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Evolución histórica del desarrollo del software</a:t>
            </a:r>
            <a:endParaRPr/>
          </a:p>
        </p:txBody>
      </p:sp>
      <p:sp>
        <p:nvSpPr>
          <p:cNvPr id="159" name="Google Shape;159;p2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s"/>
              <a:t>2015. Los desarrollos se orientan a los sistemas embebidos, cloud computing y redes sociales.</a:t>
            </a:r>
            <a:endParaRPr/>
          </a:p>
          <a:p>
            <a:pPr indent="-342900" lvl="0" marL="457200" rtl="0" algn="just">
              <a:spcBef>
                <a:spcPts val="0"/>
              </a:spcBef>
              <a:spcAft>
                <a:spcPts val="0"/>
              </a:spcAft>
              <a:buClr>
                <a:srgbClr val="800080"/>
              </a:buClr>
              <a:buSzPts val="1800"/>
              <a:buChar char="●"/>
            </a:pPr>
            <a:r>
              <a:rPr lang="es">
                <a:solidFill>
                  <a:srgbClr val="800080"/>
                </a:solidFill>
              </a:rPr>
              <a:t>La necesidad era: contar con herramientas que faciliten el desarrollo y la prueba de estos sistemas y la adecuación de formas de trabajo sistemáticas que permitan llevar adelante de forma predecible los proyectos asociados.</a:t>
            </a:r>
            <a:endParaRPr>
              <a:solidFill>
                <a:srgbClr val="800080"/>
              </a:solidFill>
            </a:endParaRPr>
          </a:p>
          <a:p>
            <a:pPr indent="-342900" lvl="0" marL="457200" rtl="0" algn="just">
              <a:spcBef>
                <a:spcPts val="0"/>
              </a:spcBef>
              <a:spcAft>
                <a:spcPts val="0"/>
              </a:spcAft>
              <a:buSzPts val="1800"/>
              <a:buChar char="●"/>
            </a:pPr>
            <a:r>
              <a:rPr lang="es"/>
              <a:t>Y hoy…..?????</a:t>
            </a:r>
            <a:endParaRPr/>
          </a:p>
          <a:p>
            <a:pPr indent="-342900" lvl="0" marL="457200" rtl="0" algn="just">
              <a:spcBef>
                <a:spcPts val="0"/>
              </a:spcBef>
              <a:spcAft>
                <a:spcPts val="0"/>
              </a:spcAft>
              <a:buClr>
                <a:srgbClr val="800080"/>
              </a:buClr>
              <a:buSzPts val="1800"/>
              <a:buChar char="●"/>
            </a:pPr>
            <a:r>
              <a:rPr lang="es">
                <a:solidFill>
                  <a:srgbClr val="800080"/>
                </a:solidFill>
              </a:rPr>
              <a:t>Machine learning, data science, redes neuronales, inteligencia artificial, seguridad informática, realidad virtual, realidad aumentada...</a:t>
            </a:r>
            <a:endParaRPr>
              <a:solidFill>
                <a:srgbClr val="800080"/>
              </a:solidFill>
            </a:endParaRPr>
          </a:p>
          <a:p>
            <a:pPr indent="-342900" lvl="0" marL="457200" rtl="0" algn="just">
              <a:spcBef>
                <a:spcPts val="0"/>
              </a:spcBef>
              <a:spcAft>
                <a:spcPts val="0"/>
              </a:spcAft>
              <a:buSzPts val="1800"/>
              <a:buChar char="●"/>
            </a:pPr>
            <a:r>
              <a:rPr lang="es"/>
              <a:t>¿Cuáles son nuestras necesidades?</a:t>
            </a:r>
            <a:endParaRPr/>
          </a:p>
          <a:p>
            <a:pPr indent="-342900" lvl="0" marL="457200" rtl="0" algn="just">
              <a:spcBef>
                <a:spcPts val="0"/>
              </a:spcBef>
              <a:spcAft>
                <a:spcPts val="0"/>
              </a:spcAft>
              <a:buSzPts val="1800"/>
              <a:buChar char="●"/>
            </a:pPr>
            <a:r>
              <a:rPr lang="es"/>
              <a:t>La ÉTICA. los sesgos de las personas, etc</a:t>
            </a:r>
            <a:endParaRPr/>
          </a:p>
        </p:txBody>
      </p:sp>
      <p:sp>
        <p:nvSpPr>
          <p:cNvPr id="160" name="Google Shape;160;p25"/>
          <p:cNvSpPr txBox="1"/>
          <p:nvPr/>
        </p:nvSpPr>
        <p:spPr>
          <a:xfrm>
            <a:off x="155650" y="4584575"/>
            <a:ext cx="350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Fuente: Pantaleo, G. y Rinaudo, L. (2015). Ingeniería de Software, Ciudad Autónoma de Buenos Aires Argentina, Alfaomega. Cap 1.</a:t>
            </a:r>
            <a:endParaRPr sz="800">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Proceso de Desarrollo</a:t>
            </a:r>
            <a:endParaRPr/>
          </a:p>
        </p:txBody>
      </p:sp>
      <p:sp>
        <p:nvSpPr>
          <p:cNvPr id="166" name="Google Shape;166;p26"/>
          <p:cNvSpPr txBox="1"/>
          <p:nvPr>
            <p:ph idx="1" type="body"/>
          </p:nvPr>
        </p:nvSpPr>
        <p:spPr>
          <a:xfrm>
            <a:off x="311700" y="1304875"/>
            <a:ext cx="8520600" cy="650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
              <a:t>¿A qué nos referimos cuando decimos </a:t>
            </a:r>
            <a:r>
              <a:rPr i="1" lang="es"/>
              <a:t>“proceso de desarrollo”</a:t>
            </a:r>
            <a:r>
              <a:rPr lang="es"/>
              <a:t>?</a:t>
            </a:r>
            <a:endParaRPr/>
          </a:p>
        </p:txBody>
      </p:sp>
      <p:sp>
        <p:nvSpPr>
          <p:cNvPr id="167" name="Google Shape;167;p26"/>
          <p:cNvSpPr/>
          <p:nvPr/>
        </p:nvSpPr>
        <p:spPr>
          <a:xfrm>
            <a:off x="2682858" y="2972409"/>
            <a:ext cx="836700" cy="507300"/>
          </a:xfrm>
          <a:prstGeom prst="rightArrow">
            <a:avLst>
              <a:gd fmla="val 50000" name="adj1"/>
              <a:gd fmla="val 50000" name="adj2"/>
            </a:avLst>
          </a:prstGeom>
          <a:solidFill>
            <a:srgbClr val="DBF5F9"/>
          </a:solidFill>
          <a:ln cap="flat" cmpd="sng" w="9525">
            <a:solidFill>
              <a:srgbClr val="800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6"/>
          <p:cNvSpPr/>
          <p:nvPr/>
        </p:nvSpPr>
        <p:spPr>
          <a:xfrm>
            <a:off x="5502486" y="2972409"/>
            <a:ext cx="836700" cy="507300"/>
          </a:xfrm>
          <a:prstGeom prst="rightArrow">
            <a:avLst>
              <a:gd fmla="val 50000" name="adj1"/>
              <a:gd fmla="val 50000" name="adj2"/>
            </a:avLst>
          </a:prstGeom>
          <a:solidFill>
            <a:srgbClr val="DBF5F9"/>
          </a:solidFill>
          <a:ln cap="flat" cmpd="sng" w="9525">
            <a:solidFill>
              <a:srgbClr val="800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6"/>
          <p:cNvSpPr/>
          <p:nvPr/>
        </p:nvSpPr>
        <p:spPr>
          <a:xfrm>
            <a:off x="6579276" y="3851650"/>
            <a:ext cx="1586700" cy="34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500">
                <a:latin typeface="Century Gothic"/>
                <a:ea typeface="Century Gothic"/>
                <a:cs typeface="Century Gothic"/>
                <a:sym typeface="Century Gothic"/>
              </a:rPr>
              <a:t>Software</a:t>
            </a:r>
            <a:endParaRPr sz="1100">
              <a:solidFill>
                <a:srgbClr val="666666"/>
              </a:solidFill>
            </a:endParaRPr>
          </a:p>
        </p:txBody>
      </p:sp>
      <p:sp>
        <p:nvSpPr>
          <p:cNvPr id="170" name="Google Shape;170;p26"/>
          <p:cNvSpPr/>
          <p:nvPr/>
        </p:nvSpPr>
        <p:spPr>
          <a:xfrm>
            <a:off x="974772" y="3851650"/>
            <a:ext cx="2472600" cy="58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500">
                <a:latin typeface="Century Gothic"/>
                <a:ea typeface="Century Gothic"/>
                <a:cs typeface="Century Gothic"/>
                <a:sym typeface="Century Gothic"/>
              </a:rPr>
              <a:t>Deseos, necesidades, especificaciones</a:t>
            </a:r>
            <a:endParaRPr sz="1100">
              <a:solidFill>
                <a:srgbClr val="666666"/>
              </a:solidFill>
            </a:endParaRPr>
          </a:p>
        </p:txBody>
      </p:sp>
      <p:pic>
        <p:nvPicPr>
          <p:cNvPr id="171" name="Google Shape;171;p26"/>
          <p:cNvPicPr preferRelativeResize="0"/>
          <p:nvPr/>
        </p:nvPicPr>
        <p:blipFill>
          <a:blip r:embed="rId3">
            <a:alphaModFix/>
          </a:blip>
          <a:stretch>
            <a:fillRect/>
          </a:stretch>
        </p:blipFill>
        <p:spPr>
          <a:xfrm>
            <a:off x="974775" y="2241424"/>
            <a:ext cx="7191201" cy="1564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Proceso de Desarrollo</a:t>
            </a:r>
            <a:endParaRPr/>
          </a:p>
        </p:txBody>
      </p:sp>
      <p:sp>
        <p:nvSpPr>
          <p:cNvPr id="177" name="Google Shape;177;p2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Normalmente, lo que se hace es lo siguiente: </a:t>
            </a:r>
            <a:endParaRPr/>
          </a:p>
          <a:p>
            <a:pPr indent="0" lvl="0" marL="0" rtl="0" algn="just">
              <a:spcBef>
                <a:spcPts val="1200"/>
              </a:spcBef>
              <a:spcAft>
                <a:spcPts val="0"/>
              </a:spcAft>
              <a:buNone/>
            </a:pPr>
            <a:r>
              <a:rPr lang="es"/>
              <a:t>Vamos desarrollar un sistema de facturación (es decir, vamos hacer la </a:t>
            </a:r>
            <a:r>
              <a:rPr b="1" lang="es">
                <a:solidFill>
                  <a:srgbClr val="800080"/>
                </a:solidFill>
              </a:rPr>
              <a:t>ESPECIFICACIÓN</a:t>
            </a:r>
            <a:r>
              <a:rPr lang="es"/>
              <a:t>) en lenguaje JAVA y como BD MySQL (vamos hacer el </a:t>
            </a:r>
            <a:r>
              <a:rPr b="1" lang="es">
                <a:solidFill>
                  <a:srgbClr val="800080"/>
                </a:solidFill>
              </a:rPr>
              <a:t>DISEÑO</a:t>
            </a:r>
            <a:r>
              <a:rPr lang="es"/>
              <a:t>) y se codifica la aplicación (vamos hacer la </a:t>
            </a:r>
            <a:r>
              <a:rPr b="1" lang="es">
                <a:solidFill>
                  <a:srgbClr val="800080"/>
                </a:solidFill>
              </a:rPr>
              <a:t>IMPLEMENTACIÓN</a:t>
            </a:r>
            <a:r>
              <a:rPr lang="es"/>
              <a:t>)</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e Ingeniería del SW</a:t>
            </a:r>
            <a:endParaRPr/>
          </a:p>
        </p:txBody>
      </p:sp>
      <p:sp>
        <p:nvSpPr>
          <p:cNvPr id="183" name="Google Shape;183;p28"/>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s"/>
              <a:t>¿Cómo nos encontramos? Complicados...</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s"/>
              <a:t>Necesitamos:</a:t>
            </a:r>
            <a:endParaRPr/>
          </a:p>
          <a:p>
            <a:pPr indent="-342900" lvl="0" marL="457200" rtl="0" algn="just">
              <a:spcBef>
                <a:spcPts val="1200"/>
              </a:spcBef>
              <a:spcAft>
                <a:spcPts val="0"/>
              </a:spcAft>
              <a:buSzPts val="1800"/>
              <a:buChar char="●"/>
            </a:pPr>
            <a:r>
              <a:rPr b="1" lang="es">
                <a:solidFill>
                  <a:srgbClr val="800080"/>
                </a:solidFill>
              </a:rPr>
              <a:t>Técnicas</a:t>
            </a:r>
            <a:r>
              <a:rPr lang="es"/>
              <a:t> de desarrollo para </a:t>
            </a:r>
            <a:r>
              <a:rPr b="1" lang="es">
                <a:solidFill>
                  <a:srgbClr val="0F6FC6"/>
                </a:solidFill>
              </a:rPr>
              <a:t>reducir la complejidad</a:t>
            </a:r>
            <a:r>
              <a:rPr lang="es"/>
              <a:t> de un sistema software.</a:t>
            </a:r>
            <a:endParaRPr/>
          </a:p>
          <a:p>
            <a:pPr indent="-342900" lvl="0" marL="457200" rtl="0" algn="just">
              <a:spcBef>
                <a:spcPts val="0"/>
              </a:spcBef>
              <a:spcAft>
                <a:spcPts val="0"/>
              </a:spcAft>
              <a:buSzPts val="1800"/>
              <a:buChar char="●"/>
            </a:pPr>
            <a:r>
              <a:rPr b="1" lang="es">
                <a:solidFill>
                  <a:srgbClr val="800080"/>
                </a:solidFill>
              </a:rPr>
              <a:t>Métodos y conceptos</a:t>
            </a:r>
            <a:r>
              <a:rPr lang="es"/>
              <a:t> que permitan al productor y al cliente </a:t>
            </a:r>
            <a:r>
              <a:rPr b="1" lang="es">
                <a:solidFill>
                  <a:srgbClr val="0F6FC6"/>
                </a:solidFill>
              </a:rPr>
              <a:t>explotar la naturaleza del sistema software</a:t>
            </a:r>
            <a:r>
              <a:rPr lang="es"/>
              <a:t> lo antes posible.</a:t>
            </a:r>
            <a:endParaRPr/>
          </a:p>
          <a:p>
            <a:pPr indent="-342900" lvl="0" marL="457200" rtl="0" algn="just">
              <a:spcBef>
                <a:spcPts val="0"/>
              </a:spcBef>
              <a:spcAft>
                <a:spcPts val="0"/>
              </a:spcAft>
              <a:buSzPts val="1800"/>
              <a:buChar char="●"/>
            </a:pPr>
            <a:r>
              <a:rPr b="1" lang="es">
                <a:solidFill>
                  <a:srgbClr val="800080"/>
                </a:solidFill>
              </a:rPr>
              <a:t>Técnicas</a:t>
            </a:r>
            <a:r>
              <a:rPr lang="es"/>
              <a:t> para </a:t>
            </a:r>
            <a:r>
              <a:rPr b="1" lang="es">
                <a:solidFill>
                  <a:srgbClr val="0F6FC6"/>
                </a:solidFill>
              </a:rPr>
              <a:t>reducir los efectos de las modificaciones</a:t>
            </a:r>
            <a:r>
              <a:rPr lang="es"/>
              <a:t> durante el desarrollo y la explotación.</a:t>
            </a:r>
            <a:endParaRPr/>
          </a:p>
        </p:txBody>
      </p:sp>
      <p:pic>
        <p:nvPicPr>
          <p:cNvPr id="184" name="Google Shape;184;p28"/>
          <p:cNvPicPr preferRelativeResize="0"/>
          <p:nvPr/>
        </p:nvPicPr>
        <p:blipFill>
          <a:blip r:embed="rId3">
            <a:alphaModFix/>
          </a:blip>
          <a:stretch>
            <a:fillRect/>
          </a:stretch>
        </p:blipFill>
        <p:spPr>
          <a:xfrm>
            <a:off x="5574200" y="1304875"/>
            <a:ext cx="572699" cy="572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e Ingeniería del SW</a:t>
            </a:r>
            <a:endParaRPr/>
          </a:p>
        </p:txBody>
      </p:sp>
      <p:sp>
        <p:nvSpPr>
          <p:cNvPr id="190" name="Google Shape;190;p29"/>
          <p:cNvSpPr txBox="1"/>
          <p:nvPr>
            <p:ph idx="1" type="body"/>
          </p:nvPr>
        </p:nvSpPr>
        <p:spPr>
          <a:xfrm>
            <a:off x="311700" y="1304875"/>
            <a:ext cx="8520600" cy="1594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¿Qué hace un Ingeniero?</a:t>
            </a:r>
            <a:endParaRPr/>
          </a:p>
          <a:p>
            <a:pPr indent="0" lvl="0" marL="0" rtl="0" algn="just">
              <a:spcBef>
                <a:spcPts val="1200"/>
              </a:spcBef>
              <a:spcAft>
                <a:spcPts val="1200"/>
              </a:spcAft>
              <a:buNone/>
            </a:pPr>
            <a:r>
              <a:rPr lang="es"/>
              <a:t>Construir artefactos dentro de unas limitaciones de coste, utilizando el conocimiento y las teorías de la ciencia sobre la cual se basa el artefacto.</a:t>
            </a:r>
            <a:endParaRPr/>
          </a:p>
        </p:txBody>
      </p:sp>
      <p:pic>
        <p:nvPicPr>
          <p:cNvPr id="191" name="Google Shape;191;p29"/>
          <p:cNvPicPr preferRelativeResize="0"/>
          <p:nvPr/>
        </p:nvPicPr>
        <p:blipFill rotWithShape="1">
          <a:blip r:embed="rId3">
            <a:alphaModFix/>
          </a:blip>
          <a:srcRect b="28035" l="0" r="0" t="21488"/>
          <a:stretch/>
        </p:blipFill>
        <p:spPr>
          <a:xfrm>
            <a:off x="1973725" y="3033825"/>
            <a:ext cx="1919025" cy="968650"/>
          </a:xfrm>
          <a:prstGeom prst="rect">
            <a:avLst/>
          </a:prstGeom>
          <a:noFill/>
          <a:ln>
            <a:noFill/>
          </a:ln>
        </p:spPr>
      </p:pic>
      <p:pic>
        <p:nvPicPr>
          <p:cNvPr id="192" name="Google Shape;192;p29"/>
          <p:cNvPicPr preferRelativeResize="0"/>
          <p:nvPr/>
        </p:nvPicPr>
        <p:blipFill>
          <a:blip r:embed="rId4">
            <a:alphaModFix/>
          </a:blip>
          <a:stretch>
            <a:fillRect/>
          </a:stretch>
        </p:blipFill>
        <p:spPr>
          <a:xfrm>
            <a:off x="5780300" y="2807213"/>
            <a:ext cx="1421875" cy="1421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Ingeniería del SW</a:t>
            </a:r>
            <a:endParaRPr/>
          </a:p>
        </p:txBody>
      </p:sp>
      <p:sp>
        <p:nvSpPr>
          <p:cNvPr id="198" name="Google Shape;198;p30"/>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i="1" lang="es"/>
              <a:t>Es la disciplina tecnológica y de gestión que concierne a la producción y mantenimiento sistemático de productos software que son desarrollados y modificados a tiempo y dentro de los costes estimados. </a:t>
            </a:r>
            <a:endParaRPr i="1"/>
          </a:p>
          <a:p>
            <a:pPr indent="0" lvl="0" marL="0" rtl="0" algn="just">
              <a:spcBef>
                <a:spcPts val="1000"/>
              </a:spcBef>
              <a:spcAft>
                <a:spcPts val="0"/>
              </a:spcAft>
              <a:buNone/>
            </a:pPr>
            <a:r>
              <a:rPr b="1" lang="es" sz="1500"/>
              <a:t>Fairley R. (1985). Software Engineering Concepts. NY, USA. McGraw-Hill.</a:t>
            </a:r>
            <a:endParaRPr b="1" sz="1500"/>
          </a:p>
          <a:p>
            <a:pPr indent="0" lvl="0" marL="0" rtl="0" algn="just">
              <a:spcBef>
                <a:spcPts val="1200"/>
              </a:spcBef>
              <a:spcAft>
                <a:spcPts val="0"/>
              </a:spcAft>
              <a:buNone/>
            </a:pPr>
            <a:r>
              <a:t/>
            </a:r>
            <a:endParaRPr/>
          </a:p>
          <a:p>
            <a:pPr indent="0" lvl="0" marL="0" rtl="0" algn="just">
              <a:spcBef>
                <a:spcPts val="1200"/>
              </a:spcBef>
              <a:spcAft>
                <a:spcPts val="0"/>
              </a:spcAft>
              <a:buNone/>
            </a:pPr>
            <a:r>
              <a:rPr lang="es"/>
              <a:t>Tener en cuenta que la gestión son actividades que están fuera del dominio de la programación tradicional.</a:t>
            </a:r>
            <a:endParaRPr/>
          </a:p>
          <a:p>
            <a:pPr indent="0" lvl="0" marL="0" rtl="0" algn="just">
              <a:spcBef>
                <a:spcPts val="1200"/>
              </a:spcBef>
              <a:spcAft>
                <a:spcPts val="1200"/>
              </a:spcAft>
              <a:buNone/>
            </a:pPr>
            <a:r>
              <a:rPr lang="es" sz="1200"/>
              <a:t>ver </a:t>
            </a:r>
            <a:r>
              <a:rPr lang="es" sz="1200" u="sng">
                <a:solidFill>
                  <a:schemeClr val="hlink"/>
                </a:solidFill>
                <a:hlinkClick r:id="rId3"/>
              </a:rPr>
              <a:t>https://repositorio.grial.eu/bitstream/grial/1228/1/07-rep.pdf</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Ingeniería del SW</a:t>
            </a:r>
            <a:endParaRPr/>
          </a:p>
        </p:txBody>
      </p:sp>
      <p:sp>
        <p:nvSpPr>
          <p:cNvPr id="204" name="Google Shape;204;p31"/>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i="1" lang="es"/>
              <a:t>Software Engineering: The practical application of scientific knowledge in the design and construction of computer programs and the associated documentation required to develop, operate, and maintain them. </a:t>
            </a:r>
            <a:endParaRPr i="1"/>
          </a:p>
          <a:p>
            <a:pPr indent="0" lvl="0" marL="0" rtl="0" algn="just">
              <a:spcBef>
                <a:spcPts val="1200"/>
              </a:spcBef>
              <a:spcAft>
                <a:spcPts val="0"/>
              </a:spcAft>
              <a:buNone/>
            </a:pPr>
            <a:r>
              <a:rPr i="1" lang="es"/>
              <a:t>Ingeniería de software: La aplicación práctica del conocimiento científico en el diseño y construcción de programas de computadora y la documentación asociada requerida para desarrollarlos, operarlos y mantenerlos.</a:t>
            </a:r>
            <a:endParaRPr i="1"/>
          </a:p>
          <a:p>
            <a:pPr indent="0" lvl="0" marL="0" rtl="0" algn="just">
              <a:spcBef>
                <a:spcPts val="1200"/>
              </a:spcBef>
              <a:spcAft>
                <a:spcPts val="1200"/>
              </a:spcAft>
              <a:buNone/>
            </a:pPr>
            <a:r>
              <a:rPr b="1" lang="es" sz="1500"/>
              <a:t>B. W. Boehm, "Software Engineering," IEEE Transactions on Computers, vol. C-25, no. 12, pp. 1226-1241, 1976. doi: 10.1109/TC.1976.1674590</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Ingeniería del SW</a:t>
            </a:r>
            <a:endParaRPr/>
          </a:p>
        </p:txBody>
      </p:sp>
      <p:sp>
        <p:nvSpPr>
          <p:cNvPr id="210" name="Google Shape;210;p32"/>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a:t>(1) The application of a systematic, disciplined, quantifiable approach to the development, operation, and maintenance of software; that is, the application of engineering to software.</a:t>
            </a:r>
            <a:endParaRPr/>
          </a:p>
          <a:p>
            <a:pPr indent="0" lvl="0" marL="0" rtl="0" algn="just">
              <a:spcBef>
                <a:spcPts val="1200"/>
              </a:spcBef>
              <a:spcAft>
                <a:spcPts val="0"/>
              </a:spcAft>
              <a:buNone/>
            </a:pPr>
            <a:r>
              <a:rPr lang="es"/>
              <a:t>(2) The study of approaches as in (1).</a:t>
            </a:r>
            <a:endParaRPr/>
          </a:p>
          <a:p>
            <a:pPr indent="0" lvl="0" marL="0" rtl="0" algn="just">
              <a:spcBef>
                <a:spcPts val="1200"/>
              </a:spcBef>
              <a:spcAft>
                <a:spcPts val="0"/>
              </a:spcAft>
              <a:buNone/>
            </a:pPr>
            <a:r>
              <a:rPr lang="es"/>
              <a:t>(1) La aplicación de un enfoque sistemático, disciplinado y cuantificable para el desarrollo, operación y mantenimiento de software; es decir, la aplicación de la ingeniería al software.</a:t>
            </a:r>
            <a:endParaRPr/>
          </a:p>
          <a:p>
            <a:pPr indent="0" lvl="0" marL="0" rtl="0" algn="just">
              <a:spcBef>
                <a:spcPts val="1200"/>
              </a:spcBef>
              <a:spcAft>
                <a:spcPts val="0"/>
              </a:spcAft>
              <a:buNone/>
            </a:pPr>
            <a:r>
              <a:rPr lang="es"/>
              <a:t>(2) El estudio de enfoques como en (1).</a:t>
            </a:r>
            <a:endParaRPr/>
          </a:p>
          <a:p>
            <a:pPr indent="0" lvl="0" marL="0" rtl="0" algn="just">
              <a:spcBef>
                <a:spcPts val="1200"/>
              </a:spcBef>
              <a:spcAft>
                <a:spcPts val="1200"/>
              </a:spcAft>
              <a:buNone/>
            </a:pPr>
            <a:r>
              <a:rPr b="1" lang="es" sz="1500"/>
              <a:t>IEEE, IEEE Standard Glossary of Software Engineering Terminology (IEEE Std 610.12-1990). USA: IEEE, 1990. doi: 10.1109/IEEESTD.1990.101064. (p. 67).</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Ingeniería del SW</a:t>
            </a:r>
            <a:endParaRPr/>
          </a:p>
        </p:txBody>
      </p:sp>
      <p:sp>
        <p:nvSpPr>
          <p:cNvPr id="216" name="Google Shape;216;p33"/>
          <p:cNvSpPr txBox="1"/>
          <p:nvPr>
            <p:ph idx="1" type="body"/>
          </p:nvPr>
        </p:nvSpPr>
        <p:spPr>
          <a:xfrm>
            <a:off x="311700" y="13048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0"/>
              </a:spcAft>
              <a:buNone/>
            </a:pPr>
            <a:r>
              <a:rPr lang="es"/>
              <a:t>(1) The systematic application of scientific and technological knowledge, methods, and experience to the design, implementation, testing, and documentation of software.</a:t>
            </a:r>
            <a:endParaRPr/>
          </a:p>
          <a:p>
            <a:pPr indent="0" lvl="0" marL="0" rtl="0" algn="just">
              <a:spcBef>
                <a:spcPts val="1200"/>
              </a:spcBef>
              <a:spcAft>
                <a:spcPts val="0"/>
              </a:spcAft>
              <a:buNone/>
            </a:pPr>
            <a:r>
              <a:rPr lang="es"/>
              <a:t>(2) The application of a systematic, disciplined, quantifiable approach to the development, operation, and maintenance of software; that is, the application of engineering to software.</a:t>
            </a:r>
            <a:endParaRPr/>
          </a:p>
          <a:p>
            <a:pPr indent="0" lvl="0" marL="0" rtl="0" algn="just">
              <a:spcBef>
                <a:spcPts val="1200"/>
              </a:spcBef>
              <a:spcAft>
                <a:spcPts val="0"/>
              </a:spcAft>
              <a:buNone/>
            </a:pPr>
            <a:r>
              <a:rPr lang="es"/>
              <a:t>(1) La aplicación sistemática de conocimientos, métodos y experiencia científicos y tecnológicos al diseño, implementación, prueba y documentación de software.</a:t>
            </a:r>
            <a:endParaRPr/>
          </a:p>
          <a:p>
            <a:pPr indent="0" lvl="0" marL="0" rtl="0" algn="just">
              <a:spcBef>
                <a:spcPts val="1200"/>
              </a:spcBef>
              <a:spcAft>
                <a:spcPts val="0"/>
              </a:spcAft>
              <a:buNone/>
            </a:pPr>
            <a:r>
              <a:rPr lang="es"/>
              <a:t>(2) La aplicación de un enfoque sistemático, disciplinado y cuantificable para el desarrollo, operación y mantenimiento de software; es decir, la aplicación de la ingeniería al software.</a:t>
            </a:r>
            <a:endParaRPr/>
          </a:p>
          <a:p>
            <a:pPr indent="0" lvl="0" marL="0" rtl="0" algn="just">
              <a:spcBef>
                <a:spcPts val="1200"/>
              </a:spcBef>
              <a:spcAft>
                <a:spcPts val="1200"/>
              </a:spcAft>
              <a:buNone/>
            </a:pPr>
            <a:r>
              <a:rPr b="1" lang="es" sz="1500"/>
              <a:t>ISO/IEC/IEEE, Systems and software engineering - Vocabulary (ISO/IEC/IEEE 24765:2010(E)). USA: IEEE, 2010. doi: 10.1109/IEEESTD.2010.5733835. (p. 331).</a:t>
            </a:r>
            <a:endParaRPr b="1"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Ingeniería del SW</a:t>
            </a:r>
            <a:endParaRPr/>
          </a:p>
        </p:txBody>
      </p:sp>
      <p:sp>
        <p:nvSpPr>
          <p:cNvPr id="222" name="Google Shape;222;p3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Software engineering encompasses a process, a collection of methods (practice) and an array of tools that allow professionals to build high quality computer software. </a:t>
            </a:r>
            <a:endParaRPr/>
          </a:p>
          <a:p>
            <a:pPr indent="0" lvl="0" marL="0" rtl="0" algn="just">
              <a:spcBef>
                <a:spcPts val="1200"/>
              </a:spcBef>
              <a:spcAft>
                <a:spcPts val="0"/>
              </a:spcAft>
              <a:buNone/>
            </a:pPr>
            <a:r>
              <a:rPr lang="es"/>
              <a:t>La ingeniería de software abarca un proceso, una colección de métodos (práctica) y una variedad de herramientas que permiten a los profesionales construir software de computadora de alta calidad.</a:t>
            </a:r>
            <a:endParaRPr/>
          </a:p>
          <a:p>
            <a:pPr indent="0" lvl="0" marL="0" rtl="0" algn="just">
              <a:spcBef>
                <a:spcPts val="1200"/>
              </a:spcBef>
              <a:spcAft>
                <a:spcPts val="1200"/>
              </a:spcAft>
              <a:buNone/>
            </a:pPr>
            <a:r>
              <a:rPr b="1" lang="es" sz="1500"/>
              <a:t>R. S. Pressman y B. R. Maxim, Software Engineering: A practitioner's approach, 8th ed. New York, NY, USA: McGraw-Hill Education, 2015.(p. 14).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del SW</a:t>
            </a:r>
            <a:endParaRPr/>
          </a:p>
        </p:txBody>
      </p:sp>
      <p:sp>
        <p:nvSpPr>
          <p:cNvPr id="228" name="Google Shape;228;p3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Características (Van Vliet 1993)</a:t>
            </a:r>
            <a:endParaRPr/>
          </a:p>
          <a:p>
            <a:pPr indent="-342900" lvl="0" marL="457200" rtl="0" algn="l">
              <a:spcBef>
                <a:spcPts val="1200"/>
              </a:spcBef>
              <a:spcAft>
                <a:spcPts val="0"/>
              </a:spcAft>
              <a:buSzPts val="1800"/>
              <a:buChar char="●"/>
            </a:pPr>
            <a:r>
              <a:rPr lang="es"/>
              <a:t>Construcción de programas grandes</a:t>
            </a:r>
            <a:endParaRPr/>
          </a:p>
          <a:p>
            <a:pPr indent="-342900" lvl="0" marL="457200" rtl="0" algn="l">
              <a:spcBef>
                <a:spcPts val="0"/>
              </a:spcBef>
              <a:spcAft>
                <a:spcPts val="0"/>
              </a:spcAft>
              <a:buSzPts val="1800"/>
              <a:buChar char="●"/>
            </a:pPr>
            <a:r>
              <a:rPr lang="es"/>
              <a:t>Controlar la complejidad</a:t>
            </a:r>
            <a:endParaRPr/>
          </a:p>
          <a:p>
            <a:pPr indent="-342900" lvl="0" marL="457200" rtl="0" algn="l">
              <a:spcBef>
                <a:spcPts val="0"/>
              </a:spcBef>
              <a:spcAft>
                <a:spcPts val="0"/>
              </a:spcAft>
              <a:buSzPts val="1800"/>
              <a:buChar char="●"/>
            </a:pPr>
            <a:r>
              <a:rPr lang="es"/>
              <a:t>Cooperación entre las personas implicadas</a:t>
            </a:r>
            <a:endParaRPr/>
          </a:p>
          <a:p>
            <a:pPr indent="-342900" lvl="0" marL="457200" rtl="0" algn="l">
              <a:spcBef>
                <a:spcPts val="0"/>
              </a:spcBef>
              <a:spcAft>
                <a:spcPts val="0"/>
              </a:spcAft>
              <a:buSzPts val="1800"/>
              <a:buChar char="●"/>
            </a:pPr>
            <a:r>
              <a:rPr lang="es"/>
              <a:t>Evolución del software</a:t>
            </a:r>
            <a:endParaRPr/>
          </a:p>
          <a:p>
            <a:pPr indent="-342900" lvl="0" marL="457200" rtl="0" algn="l">
              <a:spcBef>
                <a:spcPts val="0"/>
              </a:spcBef>
              <a:spcAft>
                <a:spcPts val="0"/>
              </a:spcAft>
              <a:buSzPts val="1800"/>
              <a:buChar char="●"/>
            </a:pPr>
            <a:r>
              <a:rPr lang="es"/>
              <a:t>Eficiencia en el desarrollo</a:t>
            </a:r>
            <a:endParaRPr/>
          </a:p>
          <a:p>
            <a:pPr indent="-342900" lvl="0" marL="457200" rtl="0" algn="l">
              <a:spcBef>
                <a:spcPts val="0"/>
              </a:spcBef>
              <a:spcAft>
                <a:spcPts val="0"/>
              </a:spcAft>
              <a:buSzPts val="1800"/>
              <a:buChar char="●"/>
            </a:pPr>
            <a:r>
              <a:rPr lang="es"/>
              <a:t>Soporte real a los usuarios</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del SW</a:t>
            </a:r>
            <a:endParaRPr/>
          </a:p>
        </p:txBody>
      </p:sp>
      <p:sp>
        <p:nvSpPr>
          <p:cNvPr id="234" name="Google Shape;234;p36"/>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Técnicas básicas usadas en las ingenierías</a:t>
            </a:r>
            <a:endParaRPr/>
          </a:p>
          <a:p>
            <a:pPr indent="-342900" lvl="0" marL="457200" rtl="0" algn="l">
              <a:spcBef>
                <a:spcPts val="1200"/>
              </a:spcBef>
              <a:spcAft>
                <a:spcPts val="0"/>
              </a:spcAft>
              <a:buSzPts val="1800"/>
              <a:buChar char="●"/>
            </a:pPr>
            <a:r>
              <a:rPr lang="es"/>
              <a:t>Históricamente se han utilizado técnicas como:</a:t>
            </a:r>
            <a:endParaRPr b="1">
              <a:solidFill>
                <a:srgbClr val="800080"/>
              </a:solidFill>
            </a:endParaRPr>
          </a:p>
          <a:p>
            <a:pPr indent="-317500" lvl="1" marL="914400" rtl="0" algn="l">
              <a:spcBef>
                <a:spcPts val="0"/>
              </a:spcBef>
              <a:spcAft>
                <a:spcPts val="0"/>
              </a:spcAft>
              <a:buClr>
                <a:srgbClr val="800080"/>
              </a:buClr>
              <a:buSzPts val="1400"/>
              <a:buChar char="○"/>
            </a:pPr>
            <a:r>
              <a:rPr b="1" lang="es">
                <a:solidFill>
                  <a:srgbClr val="800080"/>
                </a:solidFill>
              </a:rPr>
              <a:t>El modelado</a:t>
            </a:r>
            <a:endParaRPr b="1">
              <a:solidFill>
                <a:srgbClr val="800080"/>
              </a:solidFill>
            </a:endParaRPr>
          </a:p>
          <a:p>
            <a:pPr indent="-317500" lvl="1" marL="914400" rtl="0" algn="l">
              <a:spcBef>
                <a:spcPts val="0"/>
              </a:spcBef>
              <a:spcAft>
                <a:spcPts val="0"/>
              </a:spcAft>
              <a:buClr>
                <a:srgbClr val="800080"/>
              </a:buClr>
              <a:buSzPts val="1400"/>
              <a:buChar char="○"/>
            </a:pPr>
            <a:r>
              <a:rPr b="1" lang="es">
                <a:solidFill>
                  <a:srgbClr val="800080"/>
                </a:solidFill>
              </a:rPr>
              <a:t>División del Producto</a:t>
            </a:r>
            <a:endParaRPr b="1">
              <a:solidFill>
                <a:srgbClr val="800080"/>
              </a:solidFill>
            </a:endParaRPr>
          </a:p>
          <a:p>
            <a:pPr indent="-317500" lvl="1" marL="914400" rtl="0" algn="l">
              <a:spcBef>
                <a:spcPts val="0"/>
              </a:spcBef>
              <a:spcAft>
                <a:spcPts val="0"/>
              </a:spcAft>
              <a:buClr>
                <a:srgbClr val="800080"/>
              </a:buClr>
              <a:buSzPts val="1400"/>
              <a:buChar char="○"/>
            </a:pPr>
            <a:r>
              <a:rPr b="1" lang="es">
                <a:solidFill>
                  <a:srgbClr val="800080"/>
                </a:solidFill>
              </a:rPr>
              <a:t>División del Proceso</a:t>
            </a:r>
            <a:endParaRPr b="1">
              <a:solidFill>
                <a:srgbClr val="800080"/>
              </a:solidFill>
            </a:endParaRPr>
          </a:p>
          <a:p>
            <a:pPr indent="-342900" lvl="0" marL="457200" rtl="0" algn="l">
              <a:spcBef>
                <a:spcPts val="0"/>
              </a:spcBef>
              <a:spcAft>
                <a:spcPts val="0"/>
              </a:spcAft>
              <a:buSzPts val="1800"/>
              <a:buChar char="●"/>
            </a:pPr>
            <a:r>
              <a:rPr lang="es"/>
              <a:t>En principio se deberían utilizar estas técnicas, también en informática.</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del SW</a:t>
            </a:r>
            <a:endParaRPr/>
          </a:p>
        </p:txBody>
      </p:sp>
      <p:sp>
        <p:nvSpPr>
          <p:cNvPr id="240" name="Google Shape;240;p3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Modelado</a:t>
            </a:r>
            <a:endParaRPr b="1"/>
          </a:p>
          <a:p>
            <a:pPr indent="0" lvl="0" marL="0" rtl="0" algn="just">
              <a:spcBef>
                <a:spcPts val="1200"/>
              </a:spcBef>
              <a:spcAft>
                <a:spcPts val="0"/>
              </a:spcAft>
              <a:buNone/>
            </a:pPr>
            <a:r>
              <a:rPr lang="es"/>
              <a:t>Simplificación del objeto en el mundo real, pero que es suficientemente realista como para dar una idea de lo que ocurrirá en la realidad y usarse como base del desarrollo.</a:t>
            </a:r>
            <a:endParaRPr/>
          </a:p>
          <a:p>
            <a:pPr indent="0" lvl="0" marL="0" rtl="0" algn="l">
              <a:spcBef>
                <a:spcPts val="1200"/>
              </a:spcBef>
              <a:spcAft>
                <a:spcPts val="1200"/>
              </a:spcAft>
              <a:buNone/>
            </a:pPr>
            <a:r>
              <a:t/>
            </a:r>
            <a:endParaRPr/>
          </a:p>
        </p:txBody>
      </p:sp>
      <p:pic>
        <p:nvPicPr>
          <p:cNvPr id="241" name="Google Shape;241;p37"/>
          <p:cNvPicPr preferRelativeResize="0"/>
          <p:nvPr/>
        </p:nvPicPr>
        <p:blipFill>
          <a:blip r:embed="rId3">
            <a:alphaModFix/>
          </a:blip>
          <a:stretch>
            <a:fillRect/>
          </a:stretch>
        </p:blipFill>
        <p:spPr>
          <a:xfrm>
            <a:off x="4221475" y="2960400"/>
            <a:ext cx="2179325" cy="1634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del SW</a:t>
            </a:r>
            <a:endParaRPr/>
          </a:p>
        </p:txBody>
      </p:sp>
      <p:sp>
        <p:nvSpPr>
          <p:cNvPr id="247" name="Google Shape;247;p38"/>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División del Producto</a:t>
            </a:r>
            <a:endParaRPr b="1"/>
          </a:p>
          <a:p>
            <a:pPr indent="0" lvl="0" marL="0" rtl="0" algn="just">
              <a:spcBef>
                <a:spcPts val="1200"/>
              </a:spcBef>
              <a:spcAft>
                <a:spcPts val="0"/>
              </a:spcAft>
              <a:buNone/>
            </a:pPr>
            <a:r>
              <a:rPr lang="es"/>
              <a:t>Se fracciona el producto de modo que cada fragmento lo puede realizar un miembro del grupo de desarrollo.</a:t>
            </a:r>
            <a:endParaRPr/>
          </a:p>
          <a:p>
            <a:pPr indent="0" lvl="0" marL="0" rtl="0" algn="l">
              <a:spcBef>
                <a:spcPts val="1200"/>
              </a:spcBef>
              <a:spcAft>
                <a:spcPts val="1200"/>
              </a:spcAft>
              <a:buNone/>
            </a:pPr>
            <a:r>
              <a:t/>
            </a:r>
            <a:endParaRPr/>
          </a:p>
        </p:txBody>
      </p:sp>
      <p:pic>
        <p:nvPicPr>
          <p:cNvPr id="248" name="Google Shape;248;p38"/>
          <p:cNvPicPr preferRelativeResize="0"/>
          <p:nvPr/>
        </p:nvPicPr>
        <p:blipFill>
          <a:blip r:embed="rId3">
            <a:alphaModFix/>
          </a:blip>
          <a:stretch>
            <a:fillRect/>
          </a:stretch>
        </p:blipFill>
        <p:spPr>
          <a:xfrm>
            <a:off x="3431836" y="3048000"/>
            <a:ext cx="2280324" cy="15316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del SW</a:t>
            </a:r>
            <a:endParaRPr/>
          </a:p>
        </p:txBody>
      </p:sp>
      <p:sp>
        <p:nvSpPr>
          <p:cNvPr id="254" name="Google Shape;254;p39"/>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División del Proceso</a:t>
            </a:r>
            <a:endParaRPr b="1"/>
          </a:p>
          <a:p>
            <a:pPr indent="0" lvl="0" marL="0" rtl="0" algn="just">
              <a:spcBef>
                <a:spcPts val="1200"/>
              </a:spcBef>
              <a:spcAft>
                <a:spcPts val="0"/>
              </a:spcAft>
              <a:buNone/>
            </a:pPr>
            <a:r>
              <a:rPr lang="es"/>
              <a:t>Implica dividir el desarrollo del artefacto por fases. Normalmente se habla de especificación, diseño y fabricación.</a:t>
            </a:r>
            <a:endParaRPr/>
          </a:p>
          <a:p>
            <a:pPr indent="0" lvl="0" marL="0" rtl="0" algn="just">
              <a:spcBef>
                <a:spcPts val="1200"/>
              </a:spcBef>
              <a:spcAft>
                <a:spcPts val="0"/>
              </a:spcAft>
              <a:buNone/>
            </a:pPr>
            <a:r>
              <a:rPr lang="es"/>
              <a:t>          </a:t>
            </a:r>
            <a:r>
              <a:rPr b="1" lang="es">
                <a:solidFill>
                  <a:srgbClr val="800080"/>
                </a:solidFill>
              </a:rPr>
              <a:t>¿Qué? 		¿Cómo? 	     Realización 		Prueba</a:t>
            </a:r>
            <a:endParaRPr b="1">
              <a:solidFill>
                <a:srgbClr val="800080"/>
              </a:solidFill>
            </a:endParaRPr>
          </a:p>
          <a:p>
            <a:pPr indent="0" lvl="0" marL="0" rtl="0" algn="l">
              <a:spcBef>
                <a:spcPts val="1200"/>
              </a:spcBef>
              <a:spcAft>
                <a:spcPts val="1200"/>
              </a:spcAft>
              <a:buNone/>
            </a:pPr>
            <a:r>
              <a:t/>
            </a:r>
            <a:endParaRPr/>
          </a:p>
        </p:txBody>
      </p:sp>
      <p:pic>
        <p:nvPicPr>
          <p:cNvPr id="255" name="Google Shape;255;p39"/>
          <p:cNvPicPr preferRelativeResize="0"/>
          <p:nvPr/>
        </p:nvPicPr>
        <p:blipFill>
          <a:blip r:embed="rId3">
            <a:alphaModFix/>
          </a:blip>
          <a:stretch>
            <a:fillRect/>
          </a:stretch>
        </p:blipFill>
        <p:spPr>
          <a:xfrm>
            <a:off x="841225" y="3061875"/>
            <a:ext cx="6686550" cy="1238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Ingeniería del SW</a:t>
            </a:r>
            <a:endParaRPr/>
          </a:p>
        </p:txBody>
      </p:sp>
      <p:sp>
        <p:nvSpPr>
          <p:cNvPr id="261" name="Google Shape;261;p40"/>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Ciclo de Vida del Software</a:t>
            </a:r>
            <a:endParaRPr b="1"/>
          </a:p>
          <a:p>
            <a:pPr indent="0" lvl="0" marL="0" rtl="0" algn="just">
              <a:spcBef>
                <a:spcPts val="1200"/>
              </a:spcBef>
              <a:spcAft>
                <a:spcPts val="0"/>
              </a:spcAft>
              <a:buNone/>
            </a:pPr>
            <a:r>
              <a:rPr lang="es"/>
              <a:t>Consiste en determinar:</a:t>
            </a:r>
            <a:endParaRPr/>
          </a:p>
          <a:p>
            <a:pPr indent="-342900" lvl="0" marL="457200" rtl="0" algn="just">
              <a:spcBef>
                <a:spcPts val="1200"/>
              </a:spcBef>
              <a:spcAft>
                <a:spcPts val="0"/>
              </a:spcAft>
              <a:buSzPts val="1800"/>
              <a:buChar char="●"/>
            </a:pPr>
            <a:r>
              <a:rPr lang="es"/>
              <a:t>las fases productivas de un proyecto,</a:t>
            </a:r>
            <a:endParaRPr/>
          </a:p>
          <a:p>
            <a:pPr indent="-342900" lvl="0" marL="457200" rtl="0" algn="just">
              <a:spcBef>
                <a:spcPts val="0"/>
              </a:spcBef>
              <a:spcAft>
                <a:spcPts val="0"/>
              </a:spcAft>
              <a:buSzPts val="1800"/>
              <a:buChar char="●"/>
            </a:pPr>
            <a:r>
              <a:rPr lang="es"/>
              <a:t>los objetivos de cada fase productiva, y</a:t>
            </a:r>
            <a:endParaRPr/>
          </a:p>
          <a:p>
            <a:pPr indent="-342900" lvl="0" marL="457200" rtl="0" algn="just">
              <a:spcBef>
                <a:spcPts val="0"/>
              </a:spcBef>
              <a:spcAft>
                <a:spcPts val="0"/>
              </a:spcAft>
              <a:buSzPts val="1800"/>
              <a:buChar char="●"/>
            </a:pPr>
            <a:r>
              <a:rPr lang="es"/>
              <a:t>los productos obtenidos en cada una de estas fases así como sus características</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Lectura</a:t>
            </a:r>
            <a:endParaRPr/>
          </a:p>
        </p:txBody>
      </p:sp>
      <p:sp>
        <p:nvSpPr>
          <p:cNvPr id="267" name="Google Shape;267;p41"/>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Sommerville, I. (2011). Ingeniería del software. Pearson educación. Ed. 9. </a:t>
            </a:r>
            <a:endParaRPr/>
          </a:p>
          <a:p>
            <a:pPr indent="-317500" lvl="1" marL="914400" rtl="0" algn="l">
              <a:spcBef>
                <a:spcPts val="0"/>
              </a:spcBef>
              <a:spcAft>
                <a:spcPts val="0"/>
              </a:spcAft>
              <a:buSzPts val="1400"/>
              <a:buChar char="○"/>
            </a:pPr>
            <a:r>
              <a:rPr lang="es"/>
              <a:t>Cap 1: Introducción</a:t>
            </a:r>
            <a:endParaRPr/>
          </a:p>
          <a:p>
            <a:pPr indent="-342900" lvl="0" marL="457200" rtl="0" algn="l">
              <a:spcBef>
                <a:spcPts val="0"/>
              </a:spcBef>
              <a:spcAft>
                <a:spcPts val="0"/>
              </a:spcAft>
              <a:buSzPts val="1800"/>
              <a:buChar char="●"/>
            </a:pPr>
            <a:r>
              <a:rPr lang="es"/>
              <a:t>Pressman, R. (2010). Ingeniería del Software Un Enfoque Práctico. 7ma ed. University of Connecticut. Ed. 7. </a:t>
            </a:r>
            <a:endParaRPr/>
          </a:p>
          <a:p>
            <a:pPr indent="-317500" lvl="1" marL="914400" rtl="0" algn="l">
              <a:spcBef>
                <a:spcPts val="0"/>
              </a:spcBef>
              <a:spcAft>
                <a:spcPts val="0"/>
              </a:spcAft>
              <a:buSzPts val="1400"/>
              <a:buChar char="○"/>
            </a:pPr>
            <a:r>
              <a:rPr lang="es"/>
              <a:t>Cap 1: El software y la ingeniería de software</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DBF5F9"/>
      </a:lt2>
      <a:accent1>
        <a:srgbClr val="0F6FC6"/>
      </a:accent1>
      <a:accent2>
        <a:srgbClr val="212121"/>
      </a:accent2>
      <a:accent3>
        <a:srgbClr val="78909C"/>
      </a:accent3>
      <a:accent4>
        <a:srgbClr val="FF0066"/>
      </a:accent4>
      <a:accent5>
        <a:srgbClr val="7030A0"/>
      </a:accent5>
      <a:accent6>
        <a:srgbClr val="DBF5F9"/>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