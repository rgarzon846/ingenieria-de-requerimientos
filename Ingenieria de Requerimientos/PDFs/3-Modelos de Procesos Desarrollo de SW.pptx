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5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Recomendaciones para armar el ppt.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Fecha de revisión. En la hoja 1 colocar la fecha en que se realizó la última modificación del ppt.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En la hoja 2. Listar los objetivos o las competencias que deseamos que desarrolle el estudiante.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El tema a tratar debe ser autocontenido. Es por ello que se debe agregar lecturas recomendadas.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Colocar entre 3 a 5 ejemplos.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Colocar entre 1 a 3 actividades similares a los ejemplos para reforzar lo </a:t>
            </a:r>
            <a:r>
              <a:rPr lang="es" sz="1500"/>
              <a:t>recién</a:t>
            </a:r>
            <a:r>
              <a:rPr lang="es" sz="1500"/>
              <a:t> visto.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Cuando se cierre el tema o un subtema, hacer una placa con los puntos </a:t>
            </a:r>
            <a:r>
              <a:rPr lang="es" sz="1500"/>
              <a:t>más</a:t>
            </a:r>
            <a:r>
              <a:rPr lang="es" sz="1500"/>
              <a:t> importantes de ese tema o subtema visto. (lista de contenidos)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Bibliografía. La que se utilizó para hacer el ppt y la que se recomienda leer.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ceeea625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ceeea625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890c6ea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890c6ea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890c6ea8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890c6ea8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890c6ea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890c6ea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890c6ea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890c6ea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890c6ea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0890c6ea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611db7d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611db7d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611db7d9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611db7d9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611db7d9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611db7d9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611db7d9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611db7d9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611db7d9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611db7d9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611db7d9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611db7d9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1611db7d9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1611db7d9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611db7d9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1611db7d9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611db7d9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611db7d9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611db7d9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611db7d9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611db7d9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1611db7d9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611db7d9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611db7d9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611db7d9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1611db7d9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11db7d9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1611db7d9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611db7d9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611db7d9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11db7d9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611db7d9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d123bced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d123bce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800"/>
              <a:buFont typeface="Century Gothic"/>
              <a:buNone/>
              <a:defRPr sz="2800">
                <a:solidFill>
                  <a:srgbClr val="0F6FC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Gothic"/>
              <a:buChar char="●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●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●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63925" y="81275"/>
            <a:ext cx="815074" cy="4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7021700" y="4911900"/>
            <a:ext cx="217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Ing. María Alejandra Boggio - Ing. Sofía Pérez </a:t>
            </a:r>
            <a:endParaRPr sz="70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270850" y="76200"/>
            <a:ext cx="782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Carrera:</a:t>
            </a:r>
            <a:r>
              <a:rPr b="1"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Ingeniería en Informática			</a:t>
            </a:r>
            <a:r>
              <a:rPr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Cátedra:</a:t>
            </a:r>
            <a:r>
              <a:rPr b="1"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Ingeniería de Software I</a:t>
            </a:r>
            <a:endParaRPr b="1" sz="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" name="Google Shape;11;p1"/>
          <p:cNvCxnSpPr/>
          <p:nvPr/>
        </p:nvCxnSpPr>
        <p:spPr>
          <a:xfrm flipH="1" rot="10800000">
            <a:off x="270850" y="369950"/>
            <a:ext cx="782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procesos de software</a:t>
            </a:r>
            <a:endParaRPr/>
          </a:p>
        </p:txBody>
      </p:sp>
      <p:sp>
        <p:nvSpPr>
          <p:cNvPr id="47" name="Google Shape;47;p13"/>
          <p:cNvSpPr txBox="1"/>
          <p:nvPr/>
        </p:nvSpPr>
        <p:spPr>
          <a:xfrm>
            <a:off x="0" y="4804800"/>
            <a:ext cx="227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entury Gothic"/>
                <a:ea typeface="Century Gothic"/>
                <a:cs typeface="Century Gothic"/>
                <a:sym typeface="Century Gothic"/>
              </a:rPr>
              <a:t>Fecha de revisión: </a:t>
            </a:r>
            <a:endParaRPr sz="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tendría que hacer? </a:t>
            </a:r>
            <a:r>
              <a:rPr lang="es"/>
              <a:t>Sí</a:t>
            </a:r>
            <a:r>
              <a:rPr lang="es"/>
              <a:t> quiero…</a:t>
            </a:r>
            <a:endParaRPr/>
          </a:p>
        </p:txBody>
      </p:sp>
      <p:pic>
        <p:nvPicPr>
          <p:cNvPr id="53" name="Google Shape;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525" y="2278350"/>
            <a:ext cx="2269350" cy="22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/>
          <p:nvPr/>
        </p:nvSpPr>
        <p:spPr>
          <a:xfrm rot="53540">
            <a:off x="765384" y="1306712"/>
            <a:ext cx="2735432" cy="1395767"/>
          </a:xfrm>
          <a:prstGeom prst="cloudCallout">
            <a:avLst>
              <a:gd fmla="val 51787" name="adj1"/>
              <a:gd fmla="val 4932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Riego automático</a:t>
            </a:r>
            <a:r>
              <a:rPr lang="e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i="0" lang="es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</a:t>
            </a:r>
            <a:r>
              <a:rPr lang="e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i="0" lang="es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</a:t>
            </a:r>
            <a:r>
              <a:rPr lang="es">
                <a:latin typeface="Century Gothic"/>
                <a:ea typeface="Century Gothic"/>
                <a:cs typeface="Century Gothic"/>
                <a:sym typeface="Century Gothic"/>
              </a:rPr>
              <a:t>plantas </a:t>
            </a:r>
            <a:r>
              <a:rPr i="0" lang="es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 patio</a:t>
            </a:r>
            <a:endParaRPr i="0" u="none" cap="none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5976000" y="2218680"/>
            <a:ext cx="2950200" cy="1595400"/>
          </a:xfrm>
          <a:prstGeom prst="cloudCallout">
            <a:avLst>
              <a:gd fmla="val -75106" name="adj1"/>
              <a:gd fmla="val 1651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entury Gothic"/>
                <a:ea typeface="Century Gothic"/>
                <a:cs typeface="Century Gothic"/>
                <a:sym typeface="Century Gothic"/>
              </a:rPr>
              <a:t>Cómo distribuir bienes de consumo a la población vulnerable 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15325" y="3433130"/>
            <a:ext cx="3094200" cy="1595400"/>
          </a:xfrm>
          <a:prstGeom prst="cloudCallout">
            <a:avLst>
              <a:gd fmla="val 62982" name="adj1"/>
              <a:gd fmla="val -4732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" sz="1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Conocer en tiempo</a:t>
            </a:r>
            <a:r>
              <a:rPr lang="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i="0" lang="es" sz="1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el </a:t>
            </a:r>
            <a:r>
              <a:rPr lang="es" sz="1500">
                <a:latin typeface="Century Gothic"/>
                <a:ea typeface="Century Gothic"/>
                <a:cs typeface="Century Gothic"/>
                <a:sym typeface="Century Gothic"/>
              </a:rPr>
              <a:t>estado</a:t>
            </a:r>
            <a:r>
              <a:rPr i="0" lang="es" sz="1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</a:t>
            </a:r>
            <a:r>
              <a:rPr lang="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i="0" lang="es" sz="1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situación</a:t>
            </a:r>
            <a:r>
              <a:rPr lang="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i="0" lang="es" sz="15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la pandemia</a:t>
            </a:r>
            <a:endParaRPr i="0" sz="1500" u="none" cap="none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proceso o paradigma de proceso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una representación simplificada de un proceso de software, es decir que tiene información parcial, no es completa.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Actividades</a:t>
            </a:r>
            <a:endParaRPr/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5"/>
                </a:solidFill>
              </a:rPr>
              <a:t>Especificación del software: </a:t>
            </a:r>
            <a:r>
              <a:rPr lang="es"/>
              <a:t>Tienen que definirse tanto la funcionalidad del sw como las restricciones de su operación.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5"/>
                </a:solidFill>
              </a:rPr>
              <a:t>Diseño e implementación del software:</a:t>
            </a:r>
            <a:r>
              <a:rPr lang="es"/>
              <a:t> Debe desarrollarse el sw para cumplir con las especificaciones.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5"/>
                </a:solidFill>
              </a:rPr>
              <a:t>Validación del software:</a:t>
            </a:r>
            <a:r>
              <a:rPr lang="es"/>
              <a:t> hay que validar el sw para asegurarse de que cumple lo que el cliente quiere.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accent5"/>
                </a:solidFill>
              </a:rPr>
              <a:t>Evolución del software:</a:t>
            </a:r>
            <a:r>
              <a:rPr lang="es"/>
              <a:t> el sw tiene que evolucionar para satisfacer las necesidades cambiantes del cliente.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modelos</a:t>
            </a:r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225" y="1485577"/>
            <a:ext cx="4492100" cy="255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modelos</a:t>
            </a:r>
            <a:endParaRPr/>
          </a:p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Cascada.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Desarrollo incremental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Ingeniería de software orientada a la reutilización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Desarrollo evolutivo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Construcción de prototipo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Espiral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Ciclo de vida clásico o en cascada </a:t>
            </a:r>
            <a:endParaRPr/>
          </a:p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182100" y="1251300"/>
            <a:ext cx="1819500" cy="69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Definición de Requerimientos</a:t>
            </a:r>
            <a:endParaRPr sz="1500"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867300" y="2022475"/>
            <a:ext cx="1911900" cy="69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Diseño del sistema y </a:t>
            </a:r>
            <a:r>
              <a:rPr lang="es" sz="1500"/>
              <a:t>del</a:t>
            </a:r>
            <a:r>
              <a:rPr lang="es" sz="1500"/>
              <a:t> SW</a:t>
            </a:r>
            <a:endParaRPr sz="1500"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1710900" y="2793646"/>
            <a:ext cx="2249100" cy="69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Implementación y prueba de unidad</a:t>
            </a:r>
            <a:endParaRPr sz="1500"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2583300" y="3619725"/>
            <a:ext cx="2088000" cy="7713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Integración y prueba del sistema</a:t>
            </a:r>
            <a:endParaRPr sz="1500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657600" y="4464225"/>
            <a:ext cx="2088000" cy="69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Operación y mantenimiento</a:t>
            </a:r>
            <a:endParaRPr sz="1500"/>
          </a:p>
        </p:txBody>
      </p:sp>
      <p:pic>
        <p:nvPicPr>
          <p:cNvPr id="91" name="Google Shape;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1200" y="1428088"/>
            <a:ext cx="3614400" cy="2136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9"/>
          <p:cNvCxnSpPr>
            <a:stCxn id="86" idx="1"/>
            <a:endCxn id="87" idx="1"/>
          </p:cNvCxnSpPr>
          <p:nvPr/>
        </p:nvCxnSpPr>
        <p:spPr>
          <a:xfrm>
            <a:off x="182100" y="1596300"/>
            <a:ext cx="685200" cy="771300"/>
          </a:xfrm>
          <a:prstGeom prst="bentConnector3">
            <a:avLst>
              <a:gd fmla="val -34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" name="Google Shape;93;p19"/>
          <p:cNvCxnSpPr>
            <a:stCxn id="87" idx="1"/>
            <a:endCxn id="88" idx="1"/>
          </p:cNvCxnSpPr>
          <p:nvPr/>
        </p:nvCxnSpPr>
        <p:spPr>
          <a:xfrm>
            <a:off x="867300" y="2367475"/>
            <a:ext cx="843600" cy="771300"/>
          </a:xfrm>
          <a:prstGeom prst="bentConnector3">
            <a:avLst>
              <a:gd fmla="val -282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" name="Google Shape;94;p19"/>
          <p:cNvCxnSpPr>
            <a:stCxn id="88" idx="1"/>
            <a:endCxn id="89" idx="1"/>
          </p:cNvCxnSpPr>
          <p:nvPr/>
        </p:nvCxnSpPr>
        <p:spPr>
          <a:xfrm>
            <a:off x="1710900" y="3138646"/>
            <a:ext cx="872400" cy="866700"/>
          </a:xfrm>
          <a:prstGeom prst="bentConnector3">
            <a:avLst>
              <a:gd fmla="val -272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" name="Google Shape;95;p19"/>
          <p:cNvCxnSpPr>
            <a:stCxn id="89" idx="1"/>
            <a:endCxn id="90" idx="1"/>
          </p:cNvCxnSpPr>
          <p:nvPr/>
        </p:nvCxnSpPr>
        <p:spPr>
          <a:xfrm>
            <a:off x="2583300" y="4005375"/>
            <a:ext cx="1074300" cy="804000"/>
          </a:xfrm>
          <a:prstGeom prst="bentConnector3">
            <a:avLst>
              <a:gd fmla="val -221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Ciclo de vida clásico o en cascada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Son fases separadas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 proceso dirigido por un plan de actividades antes de comenzar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fase tiene un documento, un entregable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Hasta que no esté lista una fase no se pasa a la siguiente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fase reciben retroalimentación y pueden cambiar los requerimientos por lo cual cambian los documentos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Estos documentos permiten tener un proceso visible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Problemas</a:t>
            </a:r>
            <a:endParaRPr u="sng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Mucho rediseño, rehacer y lleva tiempo y un costo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Dificultad para responder a requerimientos cambiantes. Por eso, es mejor cuando los requerimientos son bien definidos y acotados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de incremental</a:t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609618" y="3021580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Requerimientos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1586509" y="3382706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2563400" y="3712574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539963" y="4011518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581826" y="4341386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Prueba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2" name="Google Shape;112;p21"/>
          <p:cNvCxnSpPr/>
          <p:nvPr/>
        </p:nvCxnSpPr>
        <p:spPr>
          <a:xfrm>
            <a:off x="1232932" y="3254183"/>
            <a:ext cx="351300" cy="2427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" name="Google Shape;113;p21"/>
          <p:cNvCxnSpPr/>
          <p:nvPr/>
        </p:nvCxnSpPr>
        <p:spPr>
          <a:xfrm>
            <a:off x="2209987" y="3615476"/>
            <a:ext cx="3513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21"/>
          <p:cNvCxnSpPr/>
          <p:nvPr/>
        </p:nvCxnSpPr>
        <p:spPr>
          <a:xfrm>
            <a:off x="3186385" y="3945178"/>
            <a:ext cx="351300" cy="180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" name="Google Shape;115;p21"/>
          <p:cNvCxnSpPr/>
          <p:nvPr/>
        </p:nvCxnSpPr>
        <p:spPr>
          <a:xfrm>
            <a:off x="4163440" y="4244288"/>
            <a:ext cx="4164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6" name="Google Shape;116;p21"/>
          <p:cNvSpPr/>
          <p:nvPr/>
        </p:nvSpPr>
        <p:spPr>
          <a:xfrm>
            <a:off x="1967487" y="2361842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Requerimientos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2944378" y="2722969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3920940" y="3052837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897831" y="3351448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5939695" y="3681317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Prueba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1" name="Google Shape;121;p21"/>
          <p:cNvCxnSpPr/>
          <p:nvPr/>
        </p:nvCxnSpPr>
        <p:spPr>
          <a:xfrm>
            <a:off x="2590800" y="2594446"/>
            <a:ext cx="351300" cy="2427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2" name="Google Shape;122;p21"/>
          <p:cNvCxnSpPr/>
          <p:nvPr/>
        </p:nvCxnSpPr>
        <p:spPr>
          <a:xfrm>
            <a:off x="3567527" y="2955739"/>
            <a:ext cx="3513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3" name="Google Shape;123;p21"/>
          <p:cNvCxnSpPr/>
          <p:nvPr/>
        </p:nvCxnSpPr>
        <p:spPr>
          <a:xfrm>
            <a:off x="4544254" y="3285441"/>
            <a:ext cx="351300" cy="180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4" name="Google Shape;124;p21"/>
          <p:cNvCxnSpPr/>
          <p:nvPr/>
        </p:nvCxnSpPr>
        <p:spPr>
          <a:xfrm>
            <a:off x="5521309" y="3584218"/>
            <a:ext cx="4164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" name="Google Shape;125;p21"/>
          <p:cNvSpPr/>
          <p:nvPr/>
        </p:nvSpPr>
        <p:spPr>
          <a:xfrm>
            <a:off x="3009351" y="1469002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Requerimientos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986241" y="1830129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4962804" y="2159997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5939695" y="2458940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6981559" y="2788809"/>
            <a:ext cx="1245000" cy="23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Prueba</a:t>
            </a:r>
            <a:endParaRPr sz="1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>
            <a:off x="3632664" y="1701606"/>
            <a:ext cx="351300" cy="2427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21"/>
          <p:cNvCxnSpPr/>
          <p:nvPr/>
        </p:nvCxnSpPr>
        <p:spPr>
          <a:xfrm>
            <a:off x="4609391" y="2062899"/>
            <a:ext cx="3513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2" name="Google Shape;132;p21"/>
          <p:cNvCxnSpPr/>
          <p:nvPr/>
        </p:nvCxnSpPr>
        <p:spPr>
          <a:xfrm>
            <a:off x="5586118" y="2392601"/>
            <a:ext cx="351300" cy="180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3" name="Google Shape;133;p21"/>
          <p:cNvCxnSpPr/>
          <p:nvPr/>
        </p:nvCxnSpPr>
        <p:spPr>
          <a:xfrm>
            <a:off x="6563172" y="2691711"/>
            <a:ext cx="416400" cy="2118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" name="Google Shape;134;p21"/>
          <p:cNvSpPr/>
          <p:nvPr/>
        </p:nvSpPr>
        <p:spPr>
          <a:xfrm rot="-5400000">
            <a:off x="-1210381" y="2965198"/>
            <a:ext cx="3527496" cy="1630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135" name="Google Shape;135;p21"/>
          <p:cNvSpPr/>
          <p:nvPr/>
        </p:nvSpPr>
        <p:spPr>
          <a:xfrm flipH="1" rot="10800000">
            <a:off x="543989" y="4673268"/>
            <a:ext cx="7681932" cy="6382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136" name="Google Shape;136;p21"/>
          <p:cNvSpPr/>
          <p:nvPr/>
        </p:nvSpPr>
        <p:spPr>
          <a:xfrm rot="-5400000">
            <a:off x="-1007125" y="2549991"/>
            <a:ext cx="2843400" cy="3909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trike="noStrike">
                <a:solidFill>
                  <a:srgbClr val="FF38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Funcionalidad del software +</a:t>
            </a:r>
            <a:endParaRPr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3019205" y="4754375"/>
            <a:ext cx="3748800" cy="310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trike="noStrike">
                <a:solidFill>
                  <a:srgbClr val="FF38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Tiempo del proyecto+</a:t>
            </a:r>
            <a:endParaRPr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674919" y="3945344"/>
            <a:ext cx="1430400" cy="3393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1° Incremento</a:t>
            </a:r>
            <a:endParaRPr sz="1300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658184" y="2284363"/>
            <a:ext cx="1382100" cy="3393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300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2° </a:t>
            </a:r>
            <a:r>
              <a:rPr lang="es" sz="1300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Incremento</a:t>
            </a:r>
            <a:endParaRPr sz="1300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634747" y="1371904"/>
            <a:ext cx="1382100" cy="3393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3° Incremento</a:t>
            </a:r>
            <a:endParaRPr sz="1300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de incremental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agregan pequeños incrementos, se suman funcionalidades de a poco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diseña una implementación inicial y se le muestra al usuario y se busca recibir un feedback para mejorar las diferentes versiones siguientes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Todas las actividades están entrelazadas y de esta manera obtengo una retroalimentación rápida.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de incremental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Ventajas</a:t>
            </a:r>
            <a:endParaRPr u="sng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Resulta más barato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fácil de realizar los cambios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Primero se hacen las funciones importantes y urgentes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Cómo se detecta temprano los problemas, evitamos el retrabajo.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basa en un plan, que da prioridades para los incrementos importantes. Es más ágil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 de incremental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u="sng"/>
              <a:t>Problema</a:t>
            </a:r>
            <a:endParaRPr u="sng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Proceso no visible, ya que hay menos documentación de cada versión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Estructura del sistema tiende a degradarse en la medida que se suman incrementos. (arquitectura no estable)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Ingeniería de software orientada a la reutilización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 b="11385" l="2671" r="30381" t="10209"/>
          <a:stretch/>
        </p:blipFill>
        <p:spPr>
          <a:xfrm>
            <a:off x="532800" y="2199925"/>
            <a:ext cx="2270323" cy="149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 rotWithShape="1">
          <a:blip r:embed="rId4">
            <a:alphaModFix/>
          </a:blip>
          <a:srcRect b="5798" l="0" r="23307" t="11605"/>
          <a:stretch/>
        </p:blipFill>
        <p:spPr>
          <a:xfrm>
            <a:off x="4572000" y="1474150"/>
            <a:ext cx="2622072" cy="158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5">
            <a:alphaModFix/>
          </a:blip>
          <a:srcRect b="19783" l="11320" r="13864" t="12813"/>
          <a:stretch/>
        </p:blipFill>
        <p:spPr>
          <a:xfrm>
            <a:off x="4448000" y="3157100"/>
            <a:ext cx="2800301" cy="14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 rot="-1391372">
            <a:off x="3146163" y="1831668"/>
            <a:ext cx="1294194" cy="934202"/>
          </a:xfrm>
          <a:custGeom>
            <a:rect b="b" l="l" r="r" t="t"/>
            <a:pathLst>
              <a:path extrusionOk="0" h="2602" w="3602">
                <a:moveTo>
                  <a:pt x="0" y="779"/>
                </a:moveTo>
                <a:lnTo>
                  <a:pt x="2030" y="775"/>
                </a:lnTo>
                <a:lnTo>
                  <a:pt x="2028" y="0"/>
                </a:lnTo>
                <a:lnTo>
                  <a:pt x="3601" y="1298"/>
                </a:lnTo>
                <a:lnTo>
                  <a:pt x="2033" y="2601"/>
                </a:lnTo>
                <a:lnTo>
                  <a:pt x="2032" y="1823"/>
                </a:lnTo>
                <a:lnTo>
                  <a:pt x="2" y="1826"/>
                </a:lnTo>
                <a:lnTo>
                  <a:pt x="0" y="779"/>
                </a:lnTo>
              </a:path>
            </a:pathLst>
          </a:custGeom>
          <a:solidFill>
            <a:srgbClr val="FFFFD7"/>
          </a:solidFill>
          <a:ln cap="sq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25"/>
          <p:cNvSpPr/>
          <p:nvPr/>
        </p:nvSpPr>
        <p:spPr>
          <a:xfrm rot="1889269">
            <a:off x="3040467" y="3147109"/>
            <a:ext cx="1294194" cy="934200"/>
          </a:xfrm>
          <a:custGeom>
            <a:rect b="b" l="l" r="r" t="t"/>
            <a:pathLst>
              <a:path extrusionOk="0" h="2602" w="3601">
                <a:moveTo>
                  <a:pt x="0" y="776"/>
                </a:moveTo>
                <a:lnTo>
                  <a:pt x="2030" y="775"/>
                </a:lnTo>
                <a:lnTo>
                  <a:pt x="2030" y="0"/>
                </a:lnTo>
                <a:lnTo>
                  <a:pt x="3600" y="1300"/>
                </a:lnTo>
                <a:lnTo>
                  <a:pt x="2030" y="2601"/>
                </a:lnTo>
                <a:lnTo>
                  <a:pt x="2030" y="1824"/>
                </a:lnTo>
                <a:lnTo>
                  <a:pt x="0" y="1824"/>
                </a:lnTo>
                <a:lnTo>
                  <a:pt x="0" y="776"/>
                </a:lnTo>
              </a:path>
            </a:pathLst>
          </a:custGeom>
          <a:solidFill>
            <a:srgbClr val="FFFFD7"/>
          </a:solidFill>
          <a:ln cap="sq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Ingeniería de software orientada a la reutilización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generan componentes de software que pueden ser reutilizados. Es fundamental la etapa de integración de dichos componentes con el resto del sistema.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Las etapas cambian un poco:</a:t>
            </a:r>
            <a:endParaRPr u="sng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Especificar requerimientos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Análisis de componentes que tengo (y puedo modificar un poco)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Modificaciones en requerimientos de los componentes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Diseño del sistema con reutilización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Desarrollo e integración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Ingeniería de software orientada a la reutilización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usa más en: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Brindar servicios web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Librerías y paquetes.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Software independiente que se configura para un entorno particular.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/>
          <p:nvPr/>
        </p:nvSpPr>
        <p:spPr>
          <a:xfrm>
            <a:off x="2995200" y="1170120"/>
            <a:ext cx="3022500" cy="3754500"/>
          </a:xfrm>
          <a:prstGeom prst="rect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Evolutivo</a:t>
            </a: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763550" y="2413549"/>
            <a:ext cx="18702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Bosquejo de la Descripción</a:t>
            </a:r>
            <a:endParaRPr sz="15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3715560" y="168600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Especificación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3715560" y="269400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3643200" y="370236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Validación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28"/>
          <p:cNvCxnSpPr/>
          <p:nvPr/>
        </p:nvCxnSpPr>
        <p:spPr>
          <a:xfrm>
            <a:off x="4291200" y="2189640"/>
            <a:ext cx="0" cy="5043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2" name="Google Shape;192;p28"/>
          <p:cNvCxnSpPr/>
          <p:nvPr/>
        </p:nvCxnSpPr>
        <p:spPr>
          <a:xfrm rot="10800000">
            <a:off x="4867200" y="2189700"/>
            <a:ext cx="0" cy="5043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3" name="Google Shape;193;p28"/>
          <p:cNvCxnSpPr/>
          <p:nvPr/>
        </p:nvCxnSpPr>
        <p:spPr>
          <a:xfrm>
            <a:off x="4291200" y="3197640"/>
            <a:ext cx="0" cy="5046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4" name="Google Shape;194;p28"/>
          <p:cNvCxnSpPr/>
          <p:nvPr/>
        </p:nvCxnSpPr>
        <p:spPr>
          <a:xfrm rot="10800000">
            <a:off x="4939200" y="3197760"/>
            <a:ext cx="0" cy="5046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5" name="Google Shape;195;p28"/>
          <p:cNvSpPr/>
          <p:nvPr/>
        </p:nvSpPr>
        <p:spPr>
          <a:xfrm>
            <a:off x="6307200" y="168600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Versión inicial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6307560" y="269400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6451560" y="247836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Versión intermedias</a:t>
            </a:r>
            <a:endParaRPr sz="15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6307560" y="3702000"/>
            <a:ext cx="1870200" cy="50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Versión final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8"/>
          <p:cNvCxnSpPr/>
          <p:nvPr/>
        </p:nvCxnSpPr>
        <p:spPr>
          <a:xfrm>
            <a:off x="5587200" y="1830360"/>
            <a:ext cx="720000" cy="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28"/>
          <p:cNvCxnSpPr/>
          <p:nvPr/>
        </p:nvCxnSpPr>
        <p:spPr>
          <a:xfrm rot="10800000">
            <a:off x="5587200" y="2046000"/>
            <a:ext cx="720000" cy="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28"/>
          <p:cNvCxnSpPr/>
          <p:nvPr/>
        </p:nvCxnSpPr>
        <p:spPr>
          <a:xfrm flipH="1" rot="10800000">
            <a:off x="5587200" y="2694000"/>
            <a:ext cx="864300" cy="2160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28"/>
          <p:cNvCxnSpPr/>
          <p:nvPr/>
        </p:nvCxnSpPr>
        <p:spPr>
          <a:xfrm flipH="1">
            <a:off x="5587260" y="2838000"/>
            <a:ext cx="864300" cy="2160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3" name="Google Shape;203;p28"/>
          <p:cNvCxnSpPr/>
          <p:nvPr/>
        </p:nvCxnSpPr>
        <p:spPr>
          <a:xfrm flipH="1" rot="10800000">
            <a:off x="5514840" y="3846000"/>
            <a:ext cx="792600" cy="720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4" name="Google Shape;204;p28"/>
          <p:cNvCxnSpPr/>
          <p:nvPr/>
        </p:nvCxnSpPr>
        <p:spPr>
          <a:xfrm flipH="1">
            <a:off x="5514960" y="4062000"/>
            <a:ext cx="792600" cy="720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5" name="Google Shape;205;p28"/>
          <p:cNvCxnSpPr/>
          <p:nvPr/>
        </p:nvCxnSpPr>
        <p:spPr>
          <a:xfrm>
            <a:off x="2635200" y="2838000"/>
            <a:ext cx="1080300" cy="144000"/>
          </a:xfrm>
          <a:prstGeom prst="straightConnector1">
            <a:avLst/>
          </a:prstGeom>
          <a:noFill/>
          <a:ln cap="flat" cmpd="sng" w="9525">
            <a:solidFill>
              <a:srgbClr val="FF388C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Evolutivo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la historia se distinguen: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Proceso de desarrollo (creativo)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Proceso de evolución de software . Incluye el mantenimiento.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Evolución es un proceso más continuo donde cambian las necesidades, los requerimientos.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Evolutivo</a:t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Ejemplos de tipos de cambios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Tecnologías, hardware nuevo.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Tienen un costo, ya que hay que rehacer, es retrabajo.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Soluciones posibles: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Tratar de evitar el cambio, anticipar esos cambios. Para ello genero un prototipo para ir mostrando al cliente y refinar los requerimientos.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Tolerar el cambio, con pequeños incrementos.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 prototipo</a:t>
            </a:r>
            <a:endParaRPr/>
          </a:p>
        </p:txBody>
      </p:sp>
      <p:pic>
        <p:nvPicPr>
          <p:cNvPr id="223" name="Google Shape;2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9325" y="1799997"/>
            <a:ext cx="3667525" cy="27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 prototipo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una versión inicial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 desarrollo iterativo del prototipo, muestra lo esencial (para poder bajar los costos)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Contribuye a anticipar cambios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realizan las interfaces de usuario, para que sea más entendible al usuario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eligen las funcionalidades más importantes del sistema, otras se dejan de lado los requerimientos no funcionales.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usuario puede revisar si el sistema apoya el desarrollo del negocio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puede redefinir requerimientos, completarlos, ser más precisos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Validar los requerimientos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 prototipo</a:t>
            </a:r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Desventajas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que el prototipo se hace rápido por la cual es poco documentado y para el mantenimiento a largo plazo no es bueno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Degrada la estructura del sistema, lo cual hace difícil de mantener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flexibilizan los estándares de calidad.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Espiral</a:t>
            </a:r>
            <a:endParaRPr/>
          </a:p>
        </p:txBody>
      </p:sp>
      <p:pic>
        <p:nvPicPr>
          <p:cNvPr id="241" name="Google Shape;241;p34"/>
          <p:cNvPicPr preferRelativeResize="0"/>
          <p:nvPr/>
        </p:nvPicPr>
        <p:blipFill rotWithShape="1">
          <a:blip r:embed="rId3">
            <a:alphaModFix/>
          </a:blip>
          <a:srcRect b="0" l="0" r="10714" t="20153"/>
          <a:stretch/>
        </p:blipFill>
        <p:spPr>
          <a:xfrm>
            <a:off x="2286275" y="978575"/>
            <a:ext cx="4340926" cy="367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4"/>
          <p:cNvSpPr/>
          <p:nvPr/>
        </p:nvSpPr>
        <p:spPr>
          <a:xfrm>
            <a:off x="230400" y="1108800"/>
            <a:ext cx="1771200" cy="1627200"/>
          </a:xfrm>
          <a:prstGeom prst="wedgeRoundRectCallout">
            <a:avLst>
              <a:gd fmla="val 83333" name="adj1"/>
              <a:gd fmla="val 15354" name="adj2"/>
              <a:gd fmla="val 16667" name="adj3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cada ciclo se establece objetivos, restricciones, identifican riesgos, arman un plan</a:t>
            </a:r>
            <a:endParaRPr sz="13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230400" y="3586884"/>
            <a:ext cx="1947600" cy="1375200"/>
          </a:xfrm>
          <a:prstGeom prst="wedgeRoundRectCallout">
            <a:avLst>
              <a:gd fmla="val 75297" name="adj1"/>
              <a:gd fmla="val -39304" name="adj2"/>
              <a:gd fmla="val 16667" name="adj3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Planeación: se revisa el estado actual y se decide si se sigue o no en otro ciclo</a:t>
            </a:r>
            <a:endParaRPr sz="13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7225700" y="765625"/>
            <a:ext cx="1528200" cy="1443600"/>
          </a:xfrm>
          <a:prstGeom prst="wedgeRoundRectCallout">
            <a:avLst>
              <a:gd fmla="val -94017" name="adj1"/>
              <a:gd fmla="val 21440" name="adj2"/>
              <a:gd fmla="val 16667" name="adj3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Evaluar y reducir los riesgos. Si es alto, se hace un prototipo</a:t>
            </a:r>
            <a:endParaRPr sz="13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7225700" y="3145275"/>
            <a:ext cx="1849500" cy="1627200"/>
          </a:xfrm>
          <a:prstGeom prst="wedgeRoundRectCallout">
            <a:avLst>
              <a:gd fmla="val -82360" name="adj1"/>
              <a:gd fmla="val -44214" name="adj2"/>
              <a:gd fmla="val 16667" name="adj3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y validación. Se elige el Modelo de desarrollo (prototipo, interfaz de usuario, cascada)</a:t>
            </a:r>
            <a:endParaRPr sz="13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Espiral</a:t>
            </a:r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de software dirigido por el riesgo. Cada ciclo (círculo) es una fase del proceso.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1º </a:t>
            </a:r>
            <a:r>
              <a:rPr lang="es"/>
              <a:t>ciclo: estudia la factibilidad del sistema. Establece objetivos.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2º </a:t>
            </a:r>
            <a:r>
              <a:rPr lang="es"/>
              <a:t>ciclo: definición de requerimientos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3º </a:t>
            </a:r>
            <a:r>
              <a:rPr lang="es"/>
              <a:t>ciclo: diseño del sistema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Espiral combina: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Evitar el cambio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Tolerancia al cambio. Son resultado de riesgos.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Incluye actividades, gestión de riesgos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Lectura</a:t>
            </a:r>
            <a:endParaRPr/>
          </a:p>
        </p:txBody>
      </p:sp>
      <p:sp>
        <p:nvSpPr>
          <p:cNvPr id="257" name="Google Shape;257;p36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Sommerville, I. (2011). Ingeniería del software. Pearson educación. Ed. 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Cap 2: Procesos de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Pressman, R. (2010). Ingeniería del Software Un Enfoque Práctico. 7ma ed. University of Connecticut. Ed. 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Cap 2: Modelos del proceso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DBF5F9"/>
      </a:lt2>
      <a:accent1>
        <a:srgbClr val="0F6FC6"/>
      </a:accent1>
      <a:accent2>
        <a:srgbClr val="212121"/>
      </a:accent2>
      <a:accent3>
        <a:srgbClr val="78909C"/>
      </a:accent3>
      <a:accent4>
        <a:srgbClr val="FF0066"/>
      </a:accent4>
      <a:accent5>
        <a:srgbClr val="7030A0"/>
      </a:accent5>
      <a:accent6>
        <a:srgbClr val="DBF5F9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