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Lst>
  <p:sldSz cy="5143500" cx="9144000"/>
  <p:notesSz cx="6858000" cy="9144000"/>
  <p:embeddedFontLst>
    <p:embeddedFont>
      <p:font typeface="Century Gothic"/>
      <p:regular r:id="rId22"/>
      <p:bold r:id="rId23"/>
      <p:italic r:id="rId24"/>
      <p:boldItalic r:id="rId2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font" Target="fonts/CenturyGothic-regular.fntdata"/><Relationship Id="rId21" Type="http://schemas.openxmlformats.org/officeDocument/2006/relationships/slide" Target="slides/slide16.xml"/><Relationship Id="rId24" Type="http://schemas.openxmlformats.org/officeDocument/2006/relationships/font" Target="fonts/CenturyGothic-italic.fntdata"/><Relationship Id="rId23" Type="http://schemas.openxmlformats.org/officeDocument/2006/relationships/font" Target="fonts/CenturyGothic-bold.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5" Type="http://schemas.openxmlformats.org/officeDocument/2006/relationships/font" Target="fonts/CenturyGothic-boldItalic.fnt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 name="Shape 42"/>
        <p:cNvGrpSpPr/>
        <p:nvPr/>
      </p:nvGrpSpPr>
      <p:grpSpPr>
        <a:xfrm>
          <a:off x="0" y="0"/>
          <a:ext cx="0" cy="0"/>
          <a:chOff x="0" y="0"/>
          <a:chExt cx="0" cy="0"/>
        </a:xfrm>
      </p:grpSpPr>
      <p:sp>
        <p:nvSpPr>
          <p:cNvPr id="43" name="Google Shape;43;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44" name="Google Shape;44;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s" sz="1500"/>
              <a:t>Recomendaciones para armar el ppt. </a:t>
            </a:r>
            <a:endParaRPr sz="1500"/>
          </a:p>
          <a:p>
            <a:pPr indent="-323850" lvl="0" marL="457200" rtl="0" algn="l">
              <a:spcBef>
                <a:spcPts val="0"/>
              </a:spcBef>
              <a:spcAft>
                <a:spcPts val="0"/>
              </a:spcAft>
              <a:buSzPts val="1500"/>
              <a:buChar char="-"/>
            </a:pPr>
            <a:r>
              <a:rPr lang="es" sz="1500"/>
              <a:t>Fecha de revisión. En la hoja 1 colocar la fecha en que se realizó la última modificación del ppt.</a:t>
            </a:r>
            <a:endParaRPr sz="1500"/>
          </a:p>
          <a:p>
            <a:pPr indent="-323850" lvl="0" marL="457200" rtl="0" algn="l">
              <a:spcBef>
                <a:spcPts val="0"/>
              </a:spcBef>
              <a:spcAft>
                <a:spcPts val="0"/>
              </a:spcAft>
              <a:buSzPts val="1500"/>
              <a:buChar char="-"/>
            </a:pPr>
            <a:r>
              <a:rPr lang="es" sz="1500"/>
              <a:t>En la hoja 2. Listar los objetivos o las competencias que deseamos que desarrolle el estudiante. </a:t>
            </a:r>
            <a:endParaRPr sz="1500"/>
          </a:p>
          <a:p>
            <a:pPr indent="-323850" lvl="0" marL="457200" rtl="0" algn="l">
              <a:spcBef>
                <a:spcPts val="0"/>
              </a:spcBef>
              <a:spcAft>
                <a:spcPts val="0"/>
              </a:spcAft>
              <a:buSzPts val="1500"/>
              <a:buChar char="-"/>
            </a:pPr>
            <a:r>
              <a:rPr lang="es" sz="1500"/>
              <a:t>El tema a tratar debe ser autocontenido. Es por ello que se debe agregar lecturas recomendadas.</a:t>
            </a:r>
            <a:endParaRPr sz="1500"/>
          </a:p>
          <a:p>
            <a:pPr indent="-323850" lvl="0" marL="457200" rtl="0" algn="l">
              <a:spcBef>
                <a:spcPts val="0"/>
              </a:spcBef>
              <a:spcAft>
                <a:spcPts val="0"/>
              </a:spcAft>
              <a:buSzPts val="1500"/>
              <a:buChar char="-"/>
            </a:pPr>
            <a:r>
              <a:rPr lang="es" sz="1500"/>
              <a:t>Colocar entre 3 a 5 ejemplos.</a:t>
            </a:r>
            <a:endParaRPr sz="1500"/>
          </a:p>
          <a:p>
            <a:pPr indent="-323850" lvl="0" marL="457200" rtl="0" algn="l">
              <a:spcBef>
                <a:spcPts val="0"/>
              </a:spcBef>
              <a:spcAft>
                <a:spcPts val="0"/>
              </a:spcAft>
              <a:buSzPts val="1500"/>
              <a:buChar char="-"/>
            </a:pPr>
            <a:r>
              <a:rPr lang="es" sz="1500"/>
              <a:t>Colocar entre 1 a 3 actividades similares a los ejemplos para reforzar lo </a:t>
            </a:r>
            <a:r>
              <a:rPr lang="es" sz="1500"/>
              <a:t>recién</a:t>
            </a:r>
            <a:r>
              <a:rPr lang="es" sz="1500"/>
              <a:t> visto.</a:t>
            </a:r>
            <a:endParaRPr sz="1500"/>
          </a:p>
          <a:p>
            <a:pPr indent="-323850" lvl="0" marL="457200" rtl="0" algn="l">
              <a:spcBef>
                <a:spcPts val="0"/>
              </a:spcBef>
              <a:spcAft>
                <a:spcPts val="0"/>
              </a:spcAft>
              <a:buSzPts val="1500"/>
              <a:buChar char="-"/>
            </a:pPr>
            <a:r>
              <a:rPr lang="es" sz="1500"/>
              <a:t>Cuando se cierre el tema o un subtema, hacer una placa con los puntos </a:t>
            </a:r>
            <a:r>
              <a:rPr lang="es" sz="1500"/>
              <a:t>más</a:t>
            </a:r>
            <a:r>
              <a:rPr lang="es" sz="1500"/>
              <a:t> importantes de ese tema o subtema visto. (lista de contenidos)</a:t>
            </a:r>
            <a:endParaRPr sz="1500"/>
          </a:p>
          <a:p>
            <a:pPr indent="-323850" lvl="0" marL="457200" rtl="0" algn="l">
              <a:spcBef>
                <a:spcPts val="0"/>
              </a:spcBef>
              <a:spcAft>
                <a:spcPts val="0"/>
              </a:spcAft>
              <a:buSzPts val="1500"/>
              <a:buChar char="-"/>
            </a:pPr>
            <a:r>
              <a:rPr lang="es" sz="1500"/>
              <a:t>Bibliografía. La que se utilizó para hacer el ppt y la que se recomienda leer.</a:t>
            </a:r>
            <a:endParaRPr sz="1500"/>
          </a:p>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 name="Shape 49"/>
        <p:cNvGrpSpPr/>
        <p:nvPr/>
      </p:nvGrpSpPr>
      <p:grpSpPr>
        <a:xfrm>
          <a:off x="0" y="0"/>
          <a:ext cx="0" cy="0"/>
          <a:chOff x="0" y="0"/>
          <a:chExt cx="0" cy="0"/>
        </a:xfrm>
      </p:grpSpPr>
      <p:sp>
        <p:nvSpPr>
          <p:cNvPr id="50" name="Google Shape;50;gceeea625d4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 name="Google Shape;51;gceeea625d4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117f487f4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 name="Google Shape;57;g117f487f4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117f487f49a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117f487f49a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 name="Shape 67"/>
        <p:cNvGrpSpPr/>
        <p:nvPr/>
      </p:nvGrpSpPr>
      <p:grpSpPr>
        <a:xfrm>
          <a:off x="0" y="0"/>
          <a:ext cx="0" cy="0"/>
          <a:chOff x="0" y="0"/>
          <a:chExt cx="0" cy="0"/>
        </a:xfrm>
      </p:grpSpPr>
      <p:sp>
        <p:nvSpPr>
          <p:cNvPr id="68" name="Google Shape;68;g117f487f49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 name="Google Shape;69;g117f487f49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117f487f49a_0_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117f487f49a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 name="Shape 79"/>
        <p:cNvGrpSpPr/>
        <p:nvPr/>
      </p:nvGrpSpPr>
      <p:grpSpPr>
        <a:xfrm>
          <a:off x="0" y="0"/>
          <a:ext cx="0" cy="0"/>
          <a:chOff x="0" y="0"/>
          <a:chExt cx="0" cy="0"/>
        </a:xfrm>
      </p:grpSpPr>
      <p:sp>
        <p:nvSpPr>
          <p:cNvPr id="80" name="Google Shape;80;g117f487f49a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1" name="Google Shape;81;g117f487f49a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117f487f49a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117f487f49a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g117f487f49a_0_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3" name="Google Shape;93;g117f487f49a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117f487f49a_0_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117f487f49a_0_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117f487f49a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117f487f49a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117f487f49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 name="Google Shape;111;g117f487f49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117f487f49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117f487f49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g117f487f49a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 name="Google Shape;123;g117f487f49a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g117f487f49a_0_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9" name="Google Shape;129;g117f487f49a_0_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21725da85e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21725da85e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 name="Shape 12"/>
        <p:cNvGrpSpPr/>
        <p:nvPr/>
      </p:nvGrpSpPr>
      <p:grpSpPr>
        <a:xfrm>
          <a:off x="0" y="0"/>
          <a:ext cx="0" cy="0"/>
          <a:chOff x="0" y="0"/>
          <a:chExt cx="0" cy="0"/>
        </a:xfrm>
      </p:grpSpPr>
      <p:sp>
        <p:nvSpPr>
          <p:cNvPr id="13" name="Google Shape;13;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4" name="Google Shape;14;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5" name="Shape 15"/>
        <p:cNvGrpSpPr/>
        <p:nvPr/>
      </p:nvGrpSpPr>
      <p:grpSpPr>
        <a:xfrm>
          <a:off x="0" y="0"/>
          <a:ext cx="0" cy="0"/>
          <a:chOff x="0" y="0"/>
          <a:chExt cx="0" cy="0"/>
        </a:xfrm>
      </p:grpSpPr>
      <p:sp>
        <p:nvSpPr>
          <p:cNvPr id="16" name="Google Shape;16;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p4"/>
          <p:cNvSpPr txBox="1"/>
          <p:nvPr>
            <p:ph type="title"/>
          </p:nvPr>
        </p:nvSpPr>
        <p:spPr>
          <a:xfrm>
            <a:off x="311700" y="5974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Clr>
                <a:schemeClr val="accent1"/>
              </a:buClr>
              <a:buSzPts val="2800"/>
              <a:buNone/>
              <a:defRPr>
                <a:solidFill>
                  <a:schemeClr val="accent1"/>
                </a:solidFill>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9" name="Google Shape;19;p4"/>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5974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4" name="Shape 24"/>
        <p:cNvGrpSpPr/>
        <p:nvPr/>
      </p:nvGrpSpPr>
      <p:grpSpPr>
        <a:xfrm>
          <a:off x="0" y="0"/>
          <a:ext cx="0" cy="0"/>
          <a:chOff x="0" y="0"/>
          <a:chExt cx="0" cy="0"/>
        </a:xfrm>
      </p:grpSpPr>
      <p:sp>
        <p:nvSpPr>
          <p:cNvPr id="25" name="Google Shape;25;p6"/>
          <p:cNvSpPr txBox="1"/>
          <p:nvPr>
            <p:ph type="title"/>
          </p:nvPr>
        </p:nvSpPr>
        <p:spPr>
          <a:xfrm>
            <a:off x="311700" y="5974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6" name="Shape 26"/>
        <p:cNvGrpSpPr/>
        <p:nvPr/>
      </p:nvGrpSpPr>
      <p:grpSpPr>
        <a:xfrm>
          <a:off x="0" y="0"/>
          <a:ext cx="0" cy="0"/>
          <a:chOff x="0" y="0"/>
          <a:chExt cx="0" cy="0"/>
        </a:xfrm>
      </p:grpSpPr>
      <p:sp>
        <p:nvSpPr>
          <p:cNvPr id="27" name="Google Shape;27;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28" name="Google Shape;28;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29" name="Shape 29"/>
        <p:cNvGrpSpPr/>
        <p:nvPr/>
      </p:nvGrpSpPr>
      <p:grpSpPr>
        <a:xfrm>
          <a:off x="0" y="0"/>
          <a:ext cx="0" cy="0"/>
          <a:chOff x="0" y="0"/>
          <a:chExt cx="0" cy="0"/>
        </a:xfrm>
      </p:grpSpPr>
      <p:sp>
        <p:nvSpPr>
          <p:cNvPr id="30" name="Google Shape;30;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1" name="Shape 31"/>
        <p:cNvGrpSpPr/>
        <p:nvPr/>
      </p:nvGrpSpPr>
      <p:grpSpPr>
        <a:xfrm>
          <a:off x="0" y="0"/>
          <a:ext cx="0" cy="0"/>
          <a:chOff x="0" y="0"/>
          <a:chExt cx="0" cy="0"/>
        </a:xfrm>
      </p:grpSpPr>
      <p:sp>
        <p:nvSpPr>
          <p:cNvPr id="32" name="Google Shape;32;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4" name="Google Shape;34;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5" name="Google Shape;35;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36" name="Shape 36"/>
        <p:cNvGrpSpPr/>
        <p:nvPr/>
      </p:nvGrpSpPr>
      <p:grpSpPr>
        <a:xfrm>
          <a:off x="0" y="0"/>
          <a:ext cx="0" cy="0"/>
          <a:chOff x="0" y="0"/>
          <a:chExt cx="0" cy="0"/>
        </a:xfrm>
      </p:grpSpPr>
      <p:sp>
        <p:nvSpPr>
          <p:cNvPr id="37" name="Google Shape;37;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38" name="Shape 38"/>
        <p:cNvGrpSpPr/>
        <p:nvPr/>
      </p:nvGrpSpPr>
      <p:grpSpPr>
        <a:xfrm>
          <a:off x="0" y="0"/>
          <a:ext cx="0" cy="0"/>
          <a:chOff x="0" y="0"/>
          <a:chExt cx="0" cy="0"/>
        </a:xfrm>
      </p:grpSpPr>
      <p:sp>
        <p:nvSpPr>
          <p:cNvPr id="39" name="Google Shape;39;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0" name="Google Shape;40;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1" name="Shape 41"/>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theme" Target="../theme/theme2.xml"/><Relationship Id="rId12" Type="http://schemas.openxmlformats.org/officeDocument/2006/relationships/slideLayout" Target="../slideLayouts/slideLayout11.xml"/><Relationship Id="rId1" Type="http://schemas.openxmlformats.org/officeDocument/2006/relationships/image" Target="../media/image1.pn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5974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rgbClr val="0F6FC6"/>
              </a:buClr>
              <a:buSzPts val="2800"/>
              <a:buFont typeface="Century Gothic"/>
              <a:buNone/>
              <a:defRPr sz="2800">
                <a:solidFill>
                  <a:srgbClr val="0F6FC6"/>
                </a:solidFill>
                <a:latin typeface="Century Gothic"/>
                <a:ea typeface="Century Gothic"/>
                <a:cs typeface="Century Gothic"/>
                <a:sym typeface="Century Gothic"/>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3048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Font typeface="Century Gothic"/>
              <a:buChar char="●"/>
              <a:defRPr sz="1800">
                <a:solidFill>
                  <a:schemeClr val="dk2"/>
                </a:solidFill>
                <a:latin typeface="Century Gothic"/>
                <a:ea typeface="Century Gothic"/>
                <a:cs typeface="Century Gothic"/>
                <a:sym typeface="Century Gothic"/>
              </a:defRPr>
            </a:lvl1pPr>
            <a:lvl2pPr indent="-317500" lvl="1" marL="9144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2pPr>
            <a:lvl3pPr indent="-317500" lvl="2" marL="13716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3pPr>
            <a:lvl4pPr indent="-317500" lvl="3" marL="18288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4pPr>
            <a:lvl5pPr indent="-317500" lvl="4" marL="22860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5pPr>
            <a:lvl6pPr indent="-317500" lvl="5" marL="27432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6pPr>
            <a:lvl7pPr indent="-317500" lvl="6" marL="32004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7pPr>
            <a:lvl8pPr indent="-317500" lvl="7" marL="36576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8pPr>
            <a:lvl9pPr indent="-317500" lvl="8" marL="4114800">
              <a:lnSpc>
                <a:spcPct val="115000"/>
              </a:lnSpc>
              <a:spcBef>
                <a:spcPts val="0"/>
              </a:spcBef>
              <a:spcAft>
                <a:spcPts val="0"/>
              </a:spcAft>
              <a:buClr>
                <a:schemeClr val="dk2"/>
              </a:buClr>
              <a:buSzPts val="1400"/>
              <a:buFont typeface="Century Gothic"/>
              <a:buChar char="■"/>
              <a:defRPr>
                <a:solidFill>
                  <a:schemeClr val="dk2"/>
                </a:solidFill>
                <a:latin typeface="Century Gothic"/>
                <a:ea typeface="Century Gothic"/>
                <a:cs typeface="Century Gothic"/>
                <a:sym typeface="Century Gothic"/>
              </a:defRPr>
            </a:lvl9pPr>
          </a:lstStyle>
          <a:p/>
        </p:txBody>
      </p:sp>
      <p:pic>
        <p:nvPicPr>
          <p:cNvPr id="8" name="Google Shape;8;p1"/>
          <p:cNvPicPr preferRelativeResize="0"/>
          <p:nvPr/>
        </p:nvPicPr>
        <p:blipFill>
          <a:blip r:embed="rId1">
            <a:alphaModFix/>
          </a:blip>
          <a:stretch>
            <a:fillRect/>
          </a:stretch>
        </p:blipFill>
        <p:spPr>
          <a:xfrm>
            <a:off x="8263925" y="81275"/>
            <a:ext cx="815074" cy="420200"/>
          </a:xfrm>
          <a:prstGeom prst="rect">
            <a:avLst/>
          </a:prstGeom>
          <a:noFill/>
          <a:ln>
            <a:noFill/>
          </a:ln>
        </p:spPr>
      </p:pic>
      <p:sp>
        <p:nvSpPr>
          <p:cNvPr id="9" name="Google Shape;9;p1"/>
          <p:cNvSpPr txBox="1"/>
          <p:nvPr/>
        </p:nvSpPr>
        <p:spPr>
          <a:xfrm>
            <a:off x="7021700" y="4911900"/>
            <a:ext cx="2171400" cy="292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700">
                <a:solidFill>
                  <a:srgbClr val="666666"/>
                </a:solidFill>
                <a:latin typeface="Century Gothic"/>
                <a:ea typeface="Century Gothic"/>
                <a:cs typeface="Century Gothic"/>
                <a:sym typeface="Century Gothic"/>
              </a:rPr>
              <a:t>Ing. María Alejandra Boggio - Ing. Sofía Pérez </a:t>
            </a:r>
            <a:endParaRPr sz="700">
              <a:solidFill>
                <a:srgbClr val="666666"/>
              </a:solidFill>
              <a:latin typeface="Century Gothic"/>
              <a:ea typeface="Century Gothic"/>
              <a:cs typeface="Century Gothic"/>
              <a:sym typeface="Century Gothic"/>
            </a:endParaRPr>
          </a:p>
        </p:txBody>
      </p:sp>
      <p:sp>
        <p:nvSpPr>
          <p:cNvPr id="10" name="Google Shape;10;p1"/>
          <p:cNvSpPr txBox="1"/>
          <p:nvPr/>
        </p:nvSpPr>
        <p:spPr>
          <a:xfrm>
            <a:off x="270850" y="76200"/>
            <a:ext cx="7826400" cy="307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s" sz="800">
                <a:solidFill>
                  <a:schemeClr val="dk2"/>
                </a:solidFill>
                <a:latin typeface="Century Gothic"/>
                <a:ea typeface="Century Gothic"/>
                <a:cs typeface="Century Gothic"/>
                <a:sym typeface="Century Gothic"/>
              </a:rPr>
              <a:t>Carrera:</a:t>
            </a:r>
            <a:r>
              <a:rPr b="1" lang="es" sz="800">
                <a:solidFill>
                  <a:schemeClr val="dk2"/>
                </a:solidFill>
                <a:latin typeface="Century Gothic"/>
                <a:ea typeface="Century Gothic"/>
                <a:cs typeface="Century Gothic"/>
                <a:sym typeface="Century Gothic"/>
              </a:rPr>
              <a:t> Ingeniería en Informática			</a:t>
            </a:r>
            <a:r>
              <a:rPr lang="es" sz="800">
                <a:solidFill>
                  <a:schemeClr val="dk2"/>
                </a:solidFill>
                <a:latin typeface="Century Gothic"/>
                <a:ea typeface="Century Gothic"/>
                <a:cs typeface="Century Gothic"/>
                <a:sym typeface="Century Gothic"/>
              </a:rPr>
              <a:t>Cátedra:</a:t>
            </a:r>
            <a:r>
              <a:rPr b="1" lang="es" sz="800">
                <a:solidFill>
                  <a:schemeClr val="dk2"/>
                </a:solidFill>
                <a:latin typeface="Century Gothic"/>
                <a:ea typeface="Century Gothic"/>
                <a:cs typeface="Century Gothic"/>
                <a:sym typeface="Century Gothic"/>
              </a:rPr>
              <a:t> Ingeniería de Software I</a:t>
            </a:r>
            <a:endParaRPr b="1" sz="800">
              <a:solidFill>
                <a:schemeClr val="dk2"/>
              </a:solidFill>
              <a:latin typeface="Century Gothic"/>
              <a:ea typeface="Century Gothic"/>
              <a:cs typeface="Century Gothic"/>
              <a:sym typeface="Century Gothic"/>
            </a:endParaRPr>
          </a:p>
        </p:txBody>
      </p:sp>
      <p:cxnSp>
        <p:nvCxnSpPr>
          <p:cNvPr id="11" name="Google Shape;11;p1"/>
          <p:cNvCxnSpPr/>
          <p:nvPr/>
        </p:nvCxnSpPr>
        <p:spPr>
          <a:xfrm flipH="1" rot="10800000">
            <a:off x="270850" y="369950"/>
            <a:ext cx="7826400" cy="2700"/>
          </a:xfrm>
          <a:prstGeom prst="straightConnector1">
            <a:avLst/>
          </a:prstGeom>
          <a:noFill/>
          <a:ln cap="flat" cmpd="sng" w="9525">
            <a:solidFill>
              <a:schemeClr val="dk2"/>
            </a:solidFill>
            <a:prstDash val="dot"/>
            <a:round/>
            <a:headEnd len="med" w="med" type="none"/>
            <a:tailEnd len="med" w="med" type="none"/>
          </a:ln>
        </p:spPr>
      </p:cxn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 name="Shape 45"/>
        <p:cNvGrpSpPr/>
        <p:nvPr/>
      </p:nvGrpSpPr>
      <p:grpSpPr>
        <a:xfrm>
          <a:off x="0" y="0"/>
          <a:ext cx="0" cy="0"/>
          <a:chOff x="0" y="0"/>
          <a:chExt cx="0" cy="0"/>
        </a:xfrm>
      </p:grpSpPr>
      <p:sp>
        <p:nvSpPr>
          <p:cNvPr id="46" name="Google Shape;46;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Paradigmas</a:t>
            </a:r>
            <a:endParaRPr/>
          </a:p>
        </p:txBody>
      </p:sp>
      <p:sp>
        <p:nvSpPr>
          <p:cNvPr id="47" name="Google Shape;47;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s"/>
              <a:t>Enfoque de abordaje del problema y diseño de la solución</a:t>
            </a:r>
            <a:endParaRPr/>
          </a:p>
        </p:txBody>
      </p:sp>
      <p:sp>
        <p:nvSpPr>
          <p:cNvPr id="48" name="Google Shape;48;p13"/>
          <p:cNvSpPr txBox="1"/>
          <p:nvPr/>
        </p:nvSpPr>
        <p:spPr>
          <a:xfrm>
            <a:off x="0" y="4804800"/>
            <a:ext cx="22725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s" sz="800">
                <a:latin typeface="Century Gothic"/>
                <a:ea typeface="Century Gothic"/>
                <a:cs typeface="Century Gothic"/>
                <a:sym typeface="Century Gothic"/>
              </a:rPr>
              <a:t>Fecha de revisión: </a:t>
            </a:r>
            <a:endParaRPr sz="800">
              <a:latin typeface="Century Gothic"/>
              <a:ea typeface="Century Gothic"/>
              <a:cs typeface="Century Gothic"/>
              <a:sym typeface="Century Gothic"/>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 name="Shape 52"/>
        <p:cNvGrpSpPr/>
        <p:nvPr/>
      </p:nvGrpSpPr>
      <p:grpSpPr>
        <a:xfrm>
          <a:off x="0" y="0"/>
          <a:ext cx="0" cy="0"/>
          <a:chOff x="0" y="0"/>
          <a:chExt cx="0" cy="0"/>
        </a:xfrm>
      </p:grpSpPr>
      <p:sp>
        <p:nvSpPr>
          <p:cNvPr id="53" name="Google Shape;53;p14"/>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Programación Imperativa</a:t>
            </a:r>
            <a:endParaRPr/>
          </a:p>
        </p:txBody>
      </p:sp>
      <p:sp>
        <p:nvSpPr>
          <p:cNvPr id="54" name="Google Shape;54;p14"/>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t>Secuencia de sentencias ordenadas</a:t>
            </a:r>
            <a:endParaRPr/>
          </a:p>
          <a:p>
            <a:pPr indent="-342900" lvl="0" marL="457200" rtl="0" algn="l">
              <a:spcBef>
                <a:spcPts val="0"/>
              </a:spcBef>
              <a:spcAft>
                <a:spcPts val="0"/>
              </a:spcAft>
              <a:buSzPts val="1800"/>
              <a:buChar char="●"/>
            </a:pPr>
            <a:r>
              <a:rPr lang="es"/>
              <a:t>Se invocan procedimientos</a:t>
            </a:r>
            <a:endParaRPr/>
          </a:p>
          <a:p>
            <a:pPr indent="-342900" lvl="0" marL="457200" rtl="0" algn="l">
              <a:spcBef>
                <a:spcPts val="0"/>
              </a:spcBef>
              <a:spcAft>
                <a:spcPts val="0"/>
              </a:spcAft>
              <a:buSzPts val="1800"/>
              <a:buChar char="●"/>
            </a:pPr>
            <a:r>
              <a:rPr lang="es"/>
              <a:t>Se basa (enfoca) en funcionalidades</a:t>
            </a:r>
            <a:endParaRPr/>
          </a:p>
          <a:p>
            <a:pPr indent="-342900" lvl="0" marL="457200" rtl="0" algn="l">
              <a:spcBef>
                <a:spcPts val="0"/>
              </a:spcBef>
              <a:spcAft>
                <a:spcPts val="0"/>
              </a:spcAft>
              <a:buSzPts val="1800"/>
              <a:buChar char="●"/>
            </a:pPr>
            <a:r>
              <a:rPr lang="es"/>
              <a:t>Hay variables</a:t>
            </a:r>
            <a:endParaRPr/>
          </a:p>
          <a:p>
            <a:pPr indent="-342900" lvl="0" marL="457200" rtl="0" algn="l">
              <a:spcBef>
                <a:spcPts val="0"/>
              </a:spcBef>
              <a:spcAft>
                <a:spcPts val="0"/>
              </a:spcAft>
              <a:buSzPts val="1800"/>
              <a:buChar char="●"/>
            </a:pPr>
            <a:r>
              <a:rPr lang="es"/>
              <a:t>Conjunto de funciones cada vez más simples</a:t>
            </a:r>
            <a:endParaRPr/>
          </a:p>
          <a:p>
            <a:pPr indent="-342900" lvl="0" marL="457200" rtl="0" algn="l">
              <a:spcBef>
                <a:spcPts val="0"/>
              </a:spcBef>
              <a:spcAft>
                <a:spcPts val="0"/>
              </a:spcAft>
              <a:buSzPts val="1800"/>
              <a:buChar char="●"/>
            </a:pPr>
            <a:r>
              <a:rPr lang="es"/>
              <a:t>No hay encapsulamiento</a:t>
            </a:r>
            <a:endParaRPr/>
          </a:p>
          <a:p>
            <a:pPr indent="-342900" lvl="0" marL="457200" rtl="0" algn="l">
              <a:spcBef>
                <a:spcPts val="0"/>
              </a:spcBef>
              <a:spcAft>
                <a:spcPts val="0"/>
              </a:spcAft>
              <a:buSzPts val="1800"/>
              <a:buChar char="●"/>
            </a:pPr>
            <a:r>
              <a:rPr lang="es"/>
              <a:t>Prevalece la cascada para desarrollar</a:t>
            </a:r>
            <a:endParaRPr/>
          </a:p>
          <a:p>
            <a:pPr indent="-342900" lvl="0" marL="457200" rtl="0" algn="l">
              <a:spcBef>
                <a:spcPts val="0"/>
              </a:spcBef>
              <a:spcAft>
                <a:spcPts val="0"/>
              </a:spcAft>
              <a:buSzPts val="1800"/>
              <a:buChar char="●"/>
            </a:pPr>
            <a:r>
              <a:rPr lang="es"/>
              <a:t>Se llamó Desarrollo estructurado</a:t>
            </a:r>
            <a:endParaRPr/>
          </a:p>
          <a:p>
            <a:pPr indent="-342900" lvl="0" marL="457200" rtl="0" algn="l">
              <a:spcBef>
                <a:spcPts val="0"/>
              </a:spcBef>
              <a:spcAft>
                <a:spcPts val="0"/>
              </a:spcAft>
              <a:buSzPts val="1800"/>
              <a:buChar char="●"/>
            </a:pPr>
            <a:r>
              <a:rPr lang="es"/>
              <a:t>C</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p15"/>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Programación Funcional</a:t>
            </a:r>
            <a:endParaRPr/>
          </a:p>
        </p:txBody>
      </p:sp>
      <p:sp>
        <p:nvSpPr>
          <p:cNvPr id="60" name="Google Shape;60;p15"/>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s"/>
              <a:t>Se basa en el uso de funciones aritméticas</a:t>
            </a:r>
            <a:endParaRPr/>
          </a:p>
          <a:p>
            <a:pPr indent="-342900" lvl="0" marL="457200" rtl="0" algn="just">
              <a:spcBef>
                <a:spcPts val="0"/>
              </a:spcBef>
              <a:spcAft>
                <a:spcPts val="0"/>
              </a:spcAft>
              <a:buSzPts val="1800"/>
              <a:buChar char="●"/>
            </a:pPr>
            <a:r>
              <a:rPr lang="es"/>
              <a:t>Los datos primitivos son las funciones</a:t>
            </a:r>
            <a:endParaRPr/>
          </a:p>
          <a:p>
            <a:pPr indent="-342900" lvl="0" marL="457200" rtl="0" algn="just">
              <a:spcBef>
                <a:spcPts val="0"/>
              </a:spcBef>
              <a:spcAft>
                <a:spcPts val="0"/>
              </a:spcAft>
              <a:buSzPts val="1800"/>
              <a:buChar char="●"/>
            </a:pPr>
            <a:r>
              <a:rPr lang="es"/>
              <a:t>Los programas son un conjunto de funciones matemáticas</a:t>
            </a:r>
            <a:endParaRPr/>
          </a:p>
          <a:p>
            <a:pPr indent="-342900" lvl="0" marL="457200" rtl="0" algn="just">
              <a:spcBef>
                <a:spcPts val="0"/>
              </a:spcBef>
              <a:spcAft>
                <a:spcPts val="0"/>
              </a:spcAft>
              <a:buSzPts val="1800"/>
              <a:buChar char="●"/>
            </a:pPr>
            <a:r>
              <a:rPr lang="es"/>
              <a:t>No hay secuencia</a:t>
            </a:r>
            <a:endParaRPr/>
          </a:p>
          <a:p>
            <a:pPr indent="-342900" lvl="0" marL="457200" rtl="0" algn="just">
              <a:spcBef>
                <a:spcPts val="0"/>
              </a:spcBef>
              <a:spcAft>
                <a:spcPts val="0"/>
              </a:spcAft>
              <a:buSzPts val="1800"/>
              <a:buChar char="●"/>
            </a:pPr>
            <a:r>
              <a:rPr lang="es"/>
              <a:t>No hay iteración</a:t>
            </a:r>
            <a:endParaRPr/>
          </a:p>
          <a:p>
            <a:pPr indent="-342900" lvl="0" marL="457200" rtl="0" algn="just">
              <a:spcBef>
                <a:spcPts val="0"/>
              </a:spcBef>
              <a:spcAft>
                <a:spcPts val="0"/>
              </a:spcAft>
              <a:buSzPts val="1800"/>
              <a:buChar char="●"/>
            </a:pPr>
            <a:r>
              <a:rPr lang="es"/>
              <a:t>No hay asignación a variables</a:t>
            </a:r>
            <a:endParaRPr/>
          </a:p>
          <a:p>
            <a:pPr indent="-342900" lvl="0" marL="457200" rtl="0" algn="just">
              <a:spcBef>
                <a:spcPts val="0"/>
              </a:spcBef>
              <a:spcAft>
                <a:spcPts val="0"/>
              </a:spcAft>
              <a:buSzPts val="1800"/>
              <a:buChar char="●"/>
            </a:pPr>
            <a:r>
              <a:rPr lang="es"/>
              <a:t>Se usa la recursividad</a:t>
            </a:r>
            <a:endParaRPr/>
          </a:p>
          <a:p>
            <a:pPr indent="-342900" lvl="0" marL="457200" rtl="0" algn="just">
              <a:spcBef>
                <a:spcPts val="0"/>
              </a:spcBef>
              <a:spcAft>
                <a:spcPts val="0"/>
              </a:spcAft>
              <a:buSzPts val="1800"/>
              <a:buChar char="●"/>
            </a:pPr>
            <a:r>
              <a:rPr lang="es"/>
              <a:t>Programación declarativa (se oculta la implementación)</a:t>
            </a:r>
            <a:endParaRPr/>
          </a:p>
          <a:p>
            <a:pPr indent="-342900" lvl="0" marL="457200" rtl="0" algn="just">
              <a:spcBef>
                <a:spcPts val="0"/>
              </a:spcBef>
              <a:spcAft>
                <a:spcPts val="0"/>
              </a:spcAft>
              <a:buSzPts val="1800"/>
              <a:buChar char="●"/>
            </a:pPr>
            <a:r>
              <a:rPr lang="es"/>
              <a:t>Python, Ruby</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6"/>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Programación Lógica</a:t>
            </a:r>
            <a:endParaRPr/>
          </a:p>
        </p:txBody>
      </p:sp>
      <p:sp>
        <p:nvSpPr>
          <p:cNvPr id="66" name="Google Shape;66;p16"/>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s"/>
              <a:t>El programa es un conjunto de axiomas o reglas</a:t>
            </a:r>
            <a:endParaRPr/>
          </a:p>
          <a:p>
            <a:pPr indent="-342900" lvl="0" marL="457200" rtl="0" algn="just">
              <a:spcBef>
                <a:spcPts val="0"/>
              </a:spcBef>
              <a:spcAft>
                <a:spcPts val="0"/>
              </a:spcAft>
              <a:buSzPts val="1800"/>
              <a:buChar char="●"/>
            </a:pPr>
            <a:r>
              <a:rPr lang="es"/>
              <a:t>Términos y reglas que vienen de la lógica</a:t>
            </a:r>
            <a:endParaRPr/>
          </a:p>
          <a:p>
            <a:pPr indent="-342900" lvl="0" marL="457200" rtl="0" algn="just">
              <a:spcBef>
                <a:spcPts val="0"/>
              </a:spcBef>
              <a:spcAft>
                <a:spcPts val="0"/>
              </a:spcAft>
              <a:buSzPts val="1800"/>
              <a:buChar char="●"/>
            </a:pPr>
            <a:r>
              <a:rPr lang="es"/>
              <a:t>Componentes: Hechos, reglas y consultas</a:t>
            </a:r>
            <a:endParaRPr/>
          </a:p>
          <a:p>
            <a:pPr indent="-342900" lvl="0" marL="457200" rtl="0" algn="just">
              <a:spcBef>
                <a:spcPts val="0"/>
              </a:spcBef>
              <a:spcAft>
                <a:spcPts val="0"/>
              </a:spcAft>
              <a:buSzPts val="1800"/>
              <a:buChar char="●"/>
            </a:pPr>
            <a:r>
              <a:rPr lang="es"/>
              <a:t>Se usa en inteligencia artificial, reconocimiento de lenguaje natural</a:t>
            </a:r>
            <a:endParaRPr/>
          </a:p>
          <a:p>
            <a:pPr indent="-342900" lvl="0" marL="457200" rtl="0" algn="just">
              <a:spcBef>
                <a:spcPts val="0"/>
              </a:spcBef>
              <a:spcAft>
                <a:spcPts val="0"/>
              </a:spcAft>
              <a:buSzPts val="1800"/>
              <a:buChar char="●"/>
            </a:pPr>
            <a:r>
              <a:rPr lang="es"/>
              <a:t>Prolog</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 name="Shape 70"/>
        <p:cNvGrpSpPr/>
        <p:nvPr/>
      </p:nvGrpSpPr>
      <p:grpSpPr>
        <a:xfrm>
          <a:off x="0" y="0"/>
          <a:ext cx="0" cy="0"/>
          <a:chOff x="0" y="0"/>
          <a:chExt cx="0" cy="0"/>
        </a:xfrm>
      </p:grpSpPr>
      <p:sp>
        <p:nvSpPr>
          <p:cNvPr id="71" name="Google Shape;71;p17"/>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Programación Orientada a Objetos</a:t>
            </a:r>
            <a:endParaRPr/>
          </a:p>
        </p:txBody>
      </p:sp>
      <p:sp>
        <p:nvSpPr>
          <p:cNvPr id="72" name="Google Shape;72;p17"/>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s"/>
              <a:t>El programa es un conjunto de axiomas o reglas</a:t>
            </a:r>
            <a:endParaRPr/>
          </a:p>
          <a:p>
            <a:pPr indent="-342900" lvl="0" marL="457200" rtl="0" algn="just">
              <a:spcBef>
                <a:spcPts val="0"/>
              </a:spcBef>
              <a:spcAft>
                <a:spcPts val="0"/>
              </a:spcAft>
              <a:buSzPts val="1800"/>
              <a:buChar char="●"/>
            </a:pPr>
            <a:r>
              <a:rPr lang="es"/>
              <a:t>Términos y reglas que vienen de la lógica</a:t>
            </a:r>
            <a:endParaRPr/>
          </a:p>
          <a:p>
            <a:pPr indent="-342900" lvl="0" marL="457200" rtl="0" algn="just">
              <a:spcBef>
                <a:spcPts val="0"/>
              </a:spcBef>
              <a:spcAft>
                <a:spcPts val="0"/>
              </a:spcAft>
              <a:buSzPts val="1800"/>
              <a:buChar char="●"/>
            </a:pPr>
            <a:r>
              <a:rPr lang="es"/>
              <a:t>Componentes: Hechos, reglas y consultas</a:t>
            </a:r>
            <a:endParaRPr/>
          </a:p>
          <a:p>
            <a:pPr indent="-342900" lvl="0" marL="457200" rtl="0" algn="just">
              <a:spcBef>
                <a:spcPts val="0"/>
              </a:spcBef>
              <a:spcAft>
                <a:spcPts val="0"/>
              </a:spcAft>
              <a:buSzPts val="1800"/>
              <a:buChar char="●"/>
            </a:pPr>
            <a:r>
              <a:rPr lang="es"/>
              <a:t>Se usa en inteligencia artificial, reconocimiento de lenguaje natural</a:t>
            </a:r>
            <a:endParaRPr/>
          </a:p>
          <a:p>
            <a:pPr indent="-342900" lvl="0" marL="457200" rtl="0" algn="just">
              <a:spcBef>
                <a:spcPts val="0"/>
              </a:spcBef>
              <a:spcAft>
                <a:spcPts val="0"/>
              </a:spcAft>
              <a:buSzPts val="1800"/>
              <a:buChar char="●"/>
            </a:pPr>
            <a:r>
              <a:rPr lang="es"/>
              <a:t>Prolog Descomposición del problema en conceptos del dominio</a:t>
            </a:r>
            <a:endParaRPr/>
          </a:p>
          <a:p>
            <a:pPr indent="-342900" lvl="0" marL="457200" rtl="0" algn="just">
              <a:spcBef>
                <a:spcPts val="0"/>
              </a:spcBef>
              <a:spcAft>
                <a:spcPts val="0"/>
              </a:spcAft>
              <a:buSzPts val="1800"/>
              <a:buChar char="●"/>
            </a:pPr>
            <a:r>
              <a:rPr lang="es"/>
              <a:t>El mecanismo fundamental es la abstracción</a:t>
            </a:r>
            <a:endParaRPr/>
          </a:p>
          <a:p>
            <a:pPr indent="-342900" lvl="0" marL="457200" rtl="0" algn="just">
              <a:spcBef>
                <a:spcPts val="0"/>
              </a:spcBef>
              <a:spcAft>
                <a:spcPts val="0"/>
              </a:spcAft>
              <a:buSzPts val="1800"/>
              <a:buChar char="●"/>
            </a:pPr>
            <a:r>
              <a:rPr lang="es"/>
              <a:t>Uso masivo (por su similitud con la realidad)</a:t>
            </a:r>
            <a:endParaRPr/>
          </a:p>
          <a:p>
            <a:pPr indent="-342900" lvl="0" marL="457200" rtl="0" algn="just">
              <a:spcBef>
                <a:spcPts val="0"/>
              </a:spcBef>
              <a:spcAft>
                <a:spcPts val="0"/>
              </a:spcAft>
              <a:buSzPts val="1800"/>
              <a:buChar char="●"/>
            </a:pPr>
            <a:r>
              <a:rPr lang="es"/>
              <a:t>Clases, objetos, herencias, métodos, </a:t>
            </a:r>
            <a:endParaRPr/>
          </a:p>
          <a:p>
            <a:pPr indent="-342900" lvl="0" marL="457200" rtl="0" algn="just">
              <a:spcBef>
                <a:spcPts val="0"/>
              </a:spcBef>
              <a:spcAft>
                <a:spcPts val="0"/>
              </a:spcAft>
              <a:buSzPts val="1800"/>
              <a:buChar char="●"/>
            </a:pPr>
            <a:r>
              <a:rPr lang="es"/>
              <a:t>Desarrollos iterativos e incrementales</a:t>
            </a:r>
            <a:endParaRPr/>
          </a:p>
          <a:p>
            <a:pPr indent="-342900" lvl="0" marL="457200" rtl="0" algn="just">
              <a:spcBef>
                <a:spcPts val="0"/>
              </a:spcBef>
              <a:spcAft>
                <a:spcPts val="0"/>
              </a:spcAft>
              <a:buSzPts val="1800"/>
              <a:buChar char="●"/>
            </a:pPr>
            <a:r>
              <a:rPr lang="es"/>
              <a:t>Java, Smalltalk</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8"/>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Programación Orientada a Aspectos</a:t>
            </a:r>
            <a:endParaRPr/>
          </a:p>
        </p:txBody>
      </p:sp>
      <p:sp>
        <p:nvSpPr>
          <p:cNvPr id="78" name="Google Shape;78;p18"/>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s"/>
              <a:t>Se basa en los aspectos (concerns)</a:t>
            </a:r>
            <a:endParaRPr/>
          </a:p>
          <a:p>
            <a:pPr indent="-342900" lvl="0" marL="457200" rtl="0" algn="just">
              <a:spcBef>
                <a:spcPts val="0"/>
              </a:spcBef>
              <a:spcAft>
                <a:spcPts val="0"/>
              </a:spcAft>
              <a:buSzPts val="1800"/>
              <a:buChar char="●"/>
            </a:pPr>
            <a:r>
              <a:rPr lang="es"/>
              <a:t>Separa y encapsula conceptos de una aplicación que implementa servicios</a:t>
            </a:r>
            <a:endParaRPr/>
          </a:p>
          <a:p>
            <a:pPr indent="-342900" lvl="0" marL="457200" rtl="0" algn="just">
              <a:spcBef>
                <a:spcPts val="0"/>
              </a:spcBef>
              <a:spcAft>
                <a:spcPts val="0"/>
              </a:spcAft>
              <a:buSzPts val="1800"/>
              <a:buChar char="●"/>
            </a:pPr>
            <a:r>
              <a:rPr lang="es"/>
              <a:t>Aspecto es una funcionalidad transversal al código que se implementa de forma separada</a:t>
            </a:r>
            <a:endParaRPr/>
          </a:p>
          <a:p>
            <a:pPr indent="-342900" lvl="0" marL="457200" rtl="0" algn="just">
              <a:spcBef>
                <a:spcPts val="0"/>
              </a:spcBef>
              <a:spcAft>
                <a:spcPts val="0"/>
              </a:spcAft>
              <a:buSzPts val="1800"/>
              <a:buChar char="●"/>
            </a:pPr>
            <a:r>
              <a:rPr lang="es"/>
              <a:t>Ejemplos: logging, seguridad, impresión, trackeo</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 name="Shape 82"/>
        <p:cNvGrpSpPr/>
        <p:nvPr/>
      </p:nvGrpSpPr>
      <p:grpSpPr>
        <a:xfrm>
          <a:off x="0" y="0"/>
          <a:ext cx="0" cy="0"/>
          <a:chOff x="0" y="0"/>
          <a:chExt cx="0" cy="0"/>
        </a:xfrm>
      </p:grpSpPr>
      <p:sp>
        <p:nvSpPr>
          <p:cNvPr id="83" name="Google Shape;83;p19"/>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Programación Orientada a Eventos</a:t>
            </a:r>
            <a:endParaRPr/>
          </a:p>
        </p:txBody>
      </p:sp>
      <p:sp>
        <p:nvSpPr>
          <p:cNvPr id="84" name="Google Shape;84;p19"/>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s"/>
              <a:t>Todo en el sistema se determina por los sucesos generados por el usuario (eventos externos) o por sucesos generados por el mismo sistema (eventos internos).</a:t>
            </a:r>
            <a:endParaRPr/>
          </a:p>
          <a:p>
            <a:pPr indent="-342900" lvl="0" marL="457200" rtl="0" algn="just">
              <a:spcBef>
                <a:spcPts val="0"/>
              </a:spcBef>
              <a:spcAft>
                <a:spcPts val="0"/>
              </a:spcAft>
              <a:buSzPts val="1800"/>
              <a:buChar char="●"/>
            </a:pPr>
            <a:r>
              <a:rPr lang="es"/>
              <a:t>Por ejemplo una aplicación que procesa documentos</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0"/>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Programación Genérica</a:t>
            </a:r>
            <a:endParaRPr/>
          </a:p>
        </p:txBody>
      </p:sp>
      <p:sp>
        <p:nvSpPr>
          <p:cNvPr id="90" name="Google Shape;90;p20"/>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s"/>
              <a:t>Separa datos de los algoritmos. </a:t>
            </a:r>
            <a:endParaRPr/>
          </a:p>
          <a:p>
            <a:pPr indent="-342900" lvl="0" marL="457200" rtl="0" algn="just">
              <a:spcBef>
                <a:spcPts val="0"/>
              </a:spcBef>
              <a:spcAft>
                <a:spcPts val="0"/>
              </a:spcAft>
              <a:buSzPts val="1800"/>
              <a:buChar char="●"/>
            </a:pPr>
            <a:r>
              <a:rPr lang="es"/>
              <a:t>Usa contenedores, iteradores y algoritmos.</a:t>
            </a:r>
            <a:endParaRPr/>
          </a:p>
          <a:p>
            <a:pPr indent="-317500" lvl="1" marL="914400" rtl="0" algn="just">
              <a:spcBef>
                <a:spcPts val="0"/>
              </a:spcBef>
              <a:spcAft>
                <a:spcPts val="0"/>
              </a:spcAft>
              <a:buSzPts val="1400"/>
              <a:buChar char="○"/>
            </a:pPr>
            <a:r>
              <a:rPr lang="es"/>
              <a:t>Los contenedores contienen los datos. Ej vectores, lista, cola</a:t>
            </a:r>
            <a:endParaRPr/>
          </a:p>
          <a:p>
            <a:pPr indent="-317500" lvl="1" marL="914400" rtl="0" algn="just">
              <a:spcBef>
                <a:spcPts val="0"/>
              </a:spcBef>
              <a:spcAft>
                <a:spcPts val="0"/>
              </a:spcAft>
              <a:buSzPts val="1400"/>
              <a:buChar char="○"/>
            </a:pPr>
            <a:r>
              <a:rPr lang="es"/>
              <a:t>Los iteradores son el nexo entre los datos y los algoritmos. </a:t>
            </a:r>
            <a:endParaRPr/>
          </a:p>
          <a:p>
            <a:pPr indent="-317500" lvl="1" marL="914400" rtl="0" algn="just">
              <a:spcBef>
                <a:spcPts val="0"/>
              </a:spcBef>
              <a:spcAft>
                <a:spcPts val="0"/>
              </a:spcAft>
              <a:buSzPts val="1400"/>
              <a:buChar char="○"/>
            </a:pPr>
            <a:r>
              <a:rPr lang="es"/>
              <a:t>Los algoritmos permiten el acceso a los datos. Ej. algoritmo que funciona para varios tipos de datos.</a:t>
            </a:r>
            <a:endParaRPr/>
          </a:p>
          <a:p>
            <a:pPr indent="-342900" lvl="0" marL="457200" rtl="0" algn="just">
              <a:spcBef>
                <a:spcPts val="0"/>
              </a:spcBef>
              <a:spcAft>
                <a:spcPts val="0"/>
              </a:spcAft>
              <a:buSzPts val="1800"/>
              <a:buChar char="●"/>
            </a:pPr>
            <a:r>
              <a:rPr lang="es"/>
              <a:t>Se diferencia de la POO ya que las clases no siempre está relacionadas, no todos los componentes son clases (algunos algoritmos son implementados por funciones), las interfaces no siempre reflejan todas las operaciones posibles de realizar sobre un componente.  </a:t>
            </a:r>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21"/>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Modelo de Múltiple Paradigma</a:t>
            </a:r>
            <a:endParaRPr/>
          </a:p>
        </p:txBody>
      </p:sp>
      <p:sp>
        <p:nvSpPr>
          <p:cNvPr id="96" name="Google Shape;96;p21"/>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s"/>
              <a:t>El enfoque no siempre debe estar alineado a un único paradigma</a:t>
            </a:r>
            <a:endParaRPr/>
          </a:p>
          <a:p>
            <a:pPr indent="-342900" lvl="0" marL="457200" rtl="0" algn="just">
              <a:spcBef>
                <a:spcPts val="0"/>
              </a:spcBef>
              <a:spcAft>
                <a:spcPts val="0"/>
              </a:spcAft>
              <a:buSzPts val="1800"/>
              <a:buChar char="●"/>
            </a:pPr>
            <a:r>
              <a:rPr lang="es"/>
              <a:t>Propone enfocar el desarrollo de cada módulo según el paradigma que mejor se adapte</a:t>
            </a:r>
            <a:endParaRPr/>
          </a:p>
          <a:p>
            <a:pPr indent="-342900" lvl="0" marL="457200" rtl="0" algn="just">
              <a:spcBef>
                <a:spcPts val="0"/>
              </a:spcBef>
              <a:spcAft>
                <a:spcPts val="0"/>
              </a:spcAft>
              <a:buSzPts val="1800"/>
              <a:buChar char="●"/>
            </a:pPr>
            <a:r>
              <a:rPr lang="es"/>
              <a:t>Como siempre: No hay un único y mejor paradigma para TODO</a:t>
            </a:r>
            <a:endParaRPr/>
          </a:p>
          <a:p>
            <a:pPr indent="-342900" lvl="0" marL="457200" rtl="0" algn="just">
              <a:spcBef>
                <a:spcPts val="0"/>
              </a:spcBef>
              <a:spcAft>
                <a:spcPts val="0"/>
              </a:spcAft>
              <a:buSzPts val="1800"/>
              <a:buChar char="●"/>
            </a:pPr>
            <a:r>
              <a:rPr lang="es"/>
              <a:t>Ej.: Scala (se utiliza cuando hay concurrencia y big data)</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2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s"/>
              <a:t>Lenguajes de Programación</a:t>
            </a:r>
            <a:endParaRPr/>
          </a:p>
        </p:txBody>
      </p:sp>
      <p:sp>
        <p:nvSpPr>
          <p:cNvPr id="102" name="Google Shape;102;p2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fontScale="85000" lnSpcReduction="20000"/>
          </a:bodyPr>
          <a:lstStyle/>
          <a:p>
            <a:pPr indent="0" lvl="0" marL="0" rtl="0" algn="ctr">
              <a:spcBef>
                <a:spcPts val="0"/>
              </a:spcBef>
              <a:spcAft>
                <a:spcPts val="0"/>
              </a:spcAft>
              <a:buNone/>
            </a:pPr>
            <a:r>
              <a:rPr lang="es"/>
              <a:t>Responden a paradigmas</a:t>
            </a:r>
            <a:endParaRPr/>
          </a:p>
          <a:p>
            <a:pPr indent="0" lvl="0" marL="0" rtl="0" algn="ctr">
              <a:spcBef>
                <a:spcPts val="0"/>
              </a:spcBef>
              <a:spcAft>
                <a:spcPts val="0"/>
              </a:spcAft>
              <a:buNone/>
            </a:pPr>
            <a:r>
              <a:rPr lang="es"/>
              <a:t>Criterios para clasificarlos</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3"/>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Validación de Tipos</a:t>
            </a:r>
            <a:endParaRPr/>
          </a:p>
        </p:txBody>
      </p:sp>
      <p:sp>
        <p:nvSpPr>
          <p:cNvPr id="108" name="Google Shape;108;p23"/>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lang="es"/>
              <a:t>Las revisiones de la semántica de los lenguajes pueden ser estáticas o dinámicas.</a:t>
            </a:r>
            <a:endParaRPr/>
          </a:p>
          <a:p>
            <a:pPr indent="-342900" lvl="0" marL="457200" rtl="0" algn="just">
              <a:spcBef>
                <a:spcPts val="0"/>
              </a:spcBef>
              <a:spcAft>
                <a:spcPts val="0"/>
              </a:spcAft>
              <a:buSzPts val="1800"/>
              <a:buChar char="●"/>
            </a:pPr>
            <a:r>
              <a:rPr lang="es"/>
              <a:t>Un lenguaje tiene tipos si la especificación de cada operación define tipos de datos para los cuales la operación es aplicable. </a:t>
            </a:r>
            <a:endParaRPr/>
          </a:p>
          <a:p>
            <a:pPr indent="-342900" lvl="0" marL="457200" rtl="0" algn="just">
              <a:spcBef>
                <a:spcPts val="0"/>
              </a:spcBef>
              <a:spcAft>
                <a:spcPts val="0"/>
              </a:spcAft>
              <a:buSzPts val="1800"/>
              <a:buChar char="●"/>
            </a:pPr>
            <a:r>
              <a:rPr lang="es"/>
              <a:t>A veces las operaciones inválidas son detectadas por el compilador (validación estática) y son rechazados por el compilador.</a:t>
            </a:r>
            <a:endParaRPr/>
          </a:p>
          <a:p>
            <a:pPr indent="-342900" lvl="0" marL="457200" rtl="0" algn="just">
              <a:spcBef>
                <a:spcPts val="0"/>
              </a:spcBef>
              <a:spcAft>
                <a:spcPts val="0"/>
              </a:spcAft>
              <a:buSzPts val="1800"/>
              <a:buChar char="●"/>
            </a:pPr>
            <a:r>
              <a:rPr lang="es"/>
              <a:t>A veces las operaciones inválidas son detectadas cuando el programa se ejecuta (validación dinámica).</a:t>
            </a:r>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p24"/>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Propósito</a:t>
            </a:r>
            <a:endParaRPr/>
          </a:p>
        </p:txBody>
      </p:sp>
      <p:sp>
        <p:nvSpPr>
          <p:cNvPr id="114" name="Google Shape;114;p24"/>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b="1" lang="es"/>
              <a:t>Lenguajes de propósito general:</a:t>
            </a:r>
            <a:r>
              <a:rPr lang="es"/>
              <a:t> aquellos concebidos como herramientas no especializadas de desarrollo.</a:t>
            </a:r>
            <a:endParaRPr/>
          </a:p>
          <a:p>
            <a:pPr indent="-342900" lvl="0" marL="457200" rtl="0" algn="just">
              <a:spcBef>
                <a:spcPts val="0"/>
              </a:spcBef>
              <a:spcAft>
                <a:spcPts val="0"/>
              </a:spcAft>
              <a:buSzPts val="1800"/>
              <a:buChar char="●"/>
            </a:pPr>
            <a:r>
              <a:rPr b="1" lang="es"/>
              <a:t>Lenguajes dedicados o específicos:</a:t>
            </a:r>
            <a:r>
              <a:rPr lang="es"/>
              <a:t> aquellos que se crean para desarrollar sistemas especializados.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5"/>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Implementación</a:t>
            </a:r>
            <a:endParaRPr/>
          </a:p>
        </p:txBody>
      </p:sp>
      <p:sp>
        <p:nvSpPr>
          <p:cNvPr id="120" name="Google Shape;120;p25"/>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just">
              <a:spcBef>
                <a:spcPts val="0"/>
              </a:spcBef>
              <a:spcAft>
                <a:spcPts val="0"/>
              </a:spcAft>
              <a:buNone/>
            </a:pPr>
            <a:r>
              <a:rPr lang="es"/>
              <a:t>Se refiere a la transición entre el código que escribe el desarrollador y el código que ejecuta la máquina.</a:t>
            </a:r>
            <a:endParaRPr/>
          </a:p>
          <a:p>
            <a:pPr indent="-342900" lvl="0" marL="457200" rtl="0" algn="just">
              <a:spcBef>
                <a:spcPts val="1200"/>
              </a:spcBef>
              <a:spcAft>
                <a:spcPts val="0"/>
              </a:spcAft>
              <a:buSzPts val="1800"/>
              <a:buChar char="●"/>
            </a:pPr>
            <a:r>
              <a:rPr b="1" lang="es"/>
              <a:t>Lenguajes compilados:</a:t>
            </a:r>
            <a:r>
              <a:rPr lang="es"/>
              <a:t> un compilador genera código binario, una variante es generar código intermedio y otro proceso lo ejecuta.</a:t>
            </a:r>
            <a:endParaRPr/>
          </a:p>
          <a:p>
            <a:pPr indent="-342900" lvl="0" marL="457200" rtl="0" algn="just">
              <a:spcBef>
                <a:spcPts val="0"/>
              </a:spcBef>
              <a:spcAft>
                <a:spcPts val="0"/>
              </a:spcAft>
              <a:buSzPts val="1800"/>
              <a:buChar char="●"/>
            </a:pPr>
            <a:r>
              <a:rPr b="1" lang="es"/>
              <a:t>Lenguajes Interpretados:</a:t>
            </a:r>
            <a:r>
              <a:rPr lang="es"/>
              <a:t> no se compilan, sino que al ejecutarse un proceso asociado al contexto de ejecución lo interpreta y ejecuta.</a:t>
            </a:r>
            <a:endParaRPr/>
          </a:p>
          <a:p>
            <a:pPr indent="0" lvl="0" marL="0" rtl="0" algn="l">
              <a:spcBef>
                <a:spcPts val="1200"/>
              </a:spcBef>
              <a:spcAft>
                <a:spcPts val="1200"/>
              </a:spcAft>
              <a:buNone/>
            </a:pPr>
            <a:r>
              <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26"/>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Estilo</a:t>
            </a:r>
            <a:endParaRPr/>
          </a:p>
        </p:txBody>
      </p:sp>
      <p:sp>
        <p:nvSpPr>
          <p:cNvPr id="126" name="Google Shape;126;p26"/>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342900" lvl="0" marL="457200" rtl="0" algn="just">
              <a:spcBef>
                <a:spcPts val="0"/>
              </a:spcBef>
              <a:spcAft>
                <a:spcPts val="0"/>
              </a:spcAft>
              <a:buSzPts val="1800"/>
              <a:buChar char="●"/>
            </a:pPr>
            <a:r>
              <a:rPr b="1" lang="es"/>
              <a:t>Lenguajes imperativos: </a:t>
            </a:r>
            <a:r>
              <a:rPr lang="es"/>
              <a:t>las sentencias definen qué se hace y cómo se hace</a:t>
            </a:r>
            <a:endParaRPr/>
          </a:p>
          <a:p>
            <a:pPr indent="-342900" lvl="0" marL="457200" rtl="0" algn="just">
              <a:spcBef>
                <a:spcPts val="0"/>
              </a:spcBef>
              <a:spcAft>
                <a:spcPts val="0"/>
              </a:spcAft>
              <a:buSzPts val="1800"/>
              <a:buChar char="●"/>
            </a:pPr>
            <a:r>
              <a:rPr b="1" lang="es"/>
              <a:t>Lenguajes Declarativos:</a:t>
            </a:r>
            <a:r>
              <a:rPr lang="es"/>
              <a:t> se enuncia qué se hace, la implementación queda oculta</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27"/>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Paradigma</a:t>
            </a:r>
            <a:endParaRPr/>
          </a:p>
        </p:txBody>
      </p:sp>
      <p:sp>
        <p:nvSpPr>
          <p:cNvPr id="132" name="Google Shape;132;p27"/>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s"/>
              <a:t>Los lenguajes evolucionaron junto a los enfoques de los paradigmas.</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8"/>
          <p:cNvSpPr txBox="1"/>
          <p:nvPr>
            <p:ph type="title"/>
          </p:nvPr>
        </p:nvSpPr>
        <p:spPr>
          <a:xfrm>
            <a:off x="311700" y="5974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s"/>
              <a:t>Lectura</a:t>
            </a:r>
            <a:endParaRPr/>
          </a:p>
        </p:txBody>
      </p:sp>
      <p:sp>
        <p:nvSpPr>
          <p:cNvPr id="138" name="Google Shape;138;p28"/>
          <p:cNvSpPr txBox="1"/>
          <p:nvPr>
            <p:ph idx="1" type="body"/>
          </p:nvPr>
        </p:nvSpPr>
        <p:spPr>
          <a:xfrm>
            <a:off x="311700" y="1304875"/>
            <a:ext cx="8520600" cy="3416400"/>
          </a:xfrm>
          <a:prstGeom prst="rect">
            <a:avLst/>
          </a:prstGeom>
        </p:spPr>
        <p:txBody>
          <a:bodyPr anchorCtr="0" anchor="t" bIns="91425" lIns="91425" spcFirstLastPara="1" rIns="91425" wrap="square" tIns="91425">
            <a:normAutofit/>
          </a:bodyPr>
          <a:lstStyle/>
          <a:p>
            <a:pPr indent="-342900" lvl="0" marL="457200" rtl="0" algn="l">
              <a:spcBef>
                <a:spcPts val="0"/>
              </a:spcBef>
              <a:spcAft>
                <a:spcPts val="0"/>
              </a:spcAft>
              <a:buSzPts val="1800"/>
              <a:buChar char="●"/>
            </a:pPr>
            <a:r>
              <a:rPr lang="es"/>
              <a:t>Pantaleo, G. &amp; Rinaudo L. (2015). Ingeniería de Software. Alfaomega. Ed 1</a:t>
            </a:r>
            <a:endParaRPr/>
          </a:p>
          <a:p>
            <a:pPr indent="-317500" lvl="1" marL="914400" rtl="0" algn="l">
              <a:spcBef>
                <a:spcPts val="0"/>
              </a:spcBef>
              <a:spcAft>
                <a:spcPts val="0"/>
              </a:spcAft>
              <a:buSzPts val="1400"/>
              <a:buChar char="○"/>
            </a:pPr>
            <a:r>
              <a:rPr lang="es"/>
              <a:t>Cap 3: Paradigmas y Lenguajes de programación</a:t>
            </a:r>
            <a:endParaRPr/>
          </a:p>
          <a:p>
            <a:pPr indent="-342900" lvl="0" marL="457200" rtl="0" algn="l">
              <a:spcBef>
                <a:spcPts val="0"/>
              </a:spcBef>
              <a:spcAft>
                <a:spcPts val="0"/>
              </a:spcAft>
              <a:buSzPts val="1800"/>
              <a:buChar char="●"/>
            </a:pPr>
            <a:r>
              <a:rPr lang="es"/>
              <a:t>Augusto, S. P. (2012). Algoritmos a fondo con implementaciones en C y Java. AlfaOmega, Buenos Aires. Ed. 1</a:t>
            </a:r>
            <a:endParaRPr/>
          </a:p>
          <a:p>
            <a:pPr indent="-317500" lvl="1" marL="914400" rtl="0" algn="l">
              <a:spcBef>
                <a:spcPts val="0"/>
              </a:spcBef>
              <a:spcAft>
                <a:spcPts val="0"/>
              </a:spcAft>
              <a:buSzPts val="1400"/>
              <a:buChar char="○"/>
            </a:pPr>
            <a:r>
              <a:rPr lang="es"/>
              <a:t>Cap 14: Programación orientada a objetos   </a:t>
            </a:r>
            <a:endParaRPr/>
          </a:p>
          <a:p>
            <a:pPr indent="0" lvl="0" marL="0" rtl="0" algn="l">
              <a:spcBef>
                <a:spcPts val="1200"/>
              </a:spcBef>
              <a:spcAft>
                <a:spcPts val="0"/>
              </a:spcAft>
              <a:buNone/>
            </a:pPr>
            <a:r>
              <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DBF5F9"/>
      </a:lt2>
      <a:accent1>
        <a:srgbClr val="0F6FC6"/>
      </a:accent1>
      <a:accent2>
        <a:srgbClr val="212121"/>
      </a:accent2>
      <a:accent3>
        <a:srgbClr val="78909C"/>
      </a:accent3>
      <a:accent4>
        <a:srgbClr val="FF0066"/>
      </a:accent4>
      <a:accent5>
        <a:srgbClr val="7030A0"/>
      </a:accent5>
      <a:accent6>
        <a:srgbClr val="DBF5F9"/>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